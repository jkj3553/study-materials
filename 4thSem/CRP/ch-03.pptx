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y="6858000" cx="9144000"/>
  <p:notesSz cx="6858000" cy="9144000"/>
  <p:embeddedFontLst>
    <p:embeddedFont>
      <p:font typeface="Tahoma"/>
      <p:regular r:id="rId85"/>
      <p:bold r:id="rId86"/>
    </p:embeddedFont>
    <p:embeddedFont>
      <p:font typeface="Lustria"/>
      <p:regular r:id="rId87"/>
    </p:embeddedFont>
    <p:embeddedFont>
      <p:font typeface="Century Gothic"/>
      <p:regular r:id="rId88"/>
      <p:bold r:id="rId89"/>
      <p:italic r:id="rId90"/>
      <p:boldItalic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2" roundtripDataSignature="AMtx7mgFiCGKM0Ep8/ZN6sVE5YPAaxRj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font" Target="fonts/Tahoma-bold.fntdata"/><Relationship Id="rId41" Type="http://schemas.openxmlformats.org/officeDocument/2006/relationships/slide" Target="slides/slide35.xml"/><Relationship Id="rId85" Type="http://schemas.openxmlformats.org/officeDocument/2006/relationships/font" Target="fonts/Tahoma-regular.fntdata"/><Relationship Id="rId44" Type="http://schemas.openxmlformats.org/officeDocument/2006/relationships/slide" Target="slides/slide38.xml"/><Relationship Id="rId88" Type="http://schemas.openxmlformats.org/officeDocument/2006/relationships/font" Target="fonts/CenturyGothic-regular.fntdata"/><Relationship Id="rId43" Type="http://schemas.openxmlformats.org/officeDocument/2006/relationships/slide" Target="slides/slide37.xml"/><Relationship Id="rId87" Type="http://schemas.openxmlformats.org/officeDocument/2006/relationships/font" Target="fonts/Lustria-regular.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CenturyGothic-bold.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CenturyGothic-boldItalic.fntdata"/><Relationship Id="rId90" Type="http://schemas.openxmlformats.org/officeDocument/2006/relationships/font" Target="fonts/CenturyGothic-italic.fntdata"/><Relationship Id="rId92" Type="http://customschemas.google.com/relationships/presentationmetadata" Target="meta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4" name="Google Shape;6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3" name="Google Shape;7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9" name="Google Shape;8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1" name="Google Shape;10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1" name="Google Shape;11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4" name="Google Shape;12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4" name="Google Shape;1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9" name="Google Shape;14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800"/>
              <a:buFont typeface="Calibri"/>
              <a:buNone/>
            </a:pPr>
            <a:fld id="{00000000-1234-1234-1234-123412341234}" type="slidenum">
              <a:rPr b="1" baseline="-25000" i="1" lang="en-US" sz="28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166" name="Google Shape;16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81" name="Google Shape;18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09" name="Google Shape;20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33" name="Google Shape;23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50" name="Google Shape;25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7" name="Google Shape;26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4" name="Google Shape;28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 The process of attempting to discover the plaintext or key is known as cryptanalysis .</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The strategy used by the cryptanalyst depends on the nature of the encryption scheme</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and the information available to the cryptanalyst.</a:t>
            </a:r>
            <a:endParaRPr/>
          </a:p>
          <a:p>
            <a:pPr indent="0" lvl="0" marL="0" rtl="0" algn="l">
              <a:lnSpc>
                <a:spcPct val="100000"/>
              </a:lnSpc>
              <a:spcBef>
                <a:spcPts val="0"/>
              </a:spcBef>
              <a:spcAft>
                <a:spcPts val="0"/>
              </a:spcAft>
              <a:buSzPts val="1800"/>
              <a:buNone/>
            </a:pPr>
            <a:r>
              <a:t/>
            </a:r>
            <a:endParaRPr>
              <a:latin typeface="Arial"/>
              <a:ea typeface="Arial"/>
              <a:cs typeface="Arial"/>
              <a:sym typeface="Arial"/>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Table 2.1 summarizes the various types of cryptanalytic attacks based on the</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amount of information known to the cryptanalyst. The most difficult problem is</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presented when all that is available is the ciphertext only . In some cases, not even</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the encryption algorithm is known, but in general, we can assume that the opponent</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 does know the algorithm used for encryption. One possible attack under these circumstances</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is the brute-force approach of trying all possible keys. If the key space</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is very large, this becomes impractical. Thus, the opponent must rely on an analysis</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of the ciphertext itself, generally applying various statistical tests to it. To use this</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approach, the opponent must have some general idea of the type of plaintext that</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is concealed, such as English or French text, an EXE file, a Java source listing, an</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accounting file, and so on.</a:t>
            </a:r>
            <a:endParaRPr/>
          </a:p>
          <a:p>
            <a:pPr indent="0" lvl="0" marL="0" rtl="0" algn="l">
              <a:lnSpc>
                <a:spcPct val="100000"/>
              </a:lnSpc>
              <a:spcBef>
                <a:spcPts val="0"/>
              </a:spcBef>
              <a:spcAft>
                <a:spcPts val="0"/>
              </a:spcAft>
              <a:buSzPts val="1800"/>
              <a:buNone/>
            </a:pPr>
            <a:r>
              <a:t/>
            </a:r>
            <a:endParaRPr>
              <a:latin typeface="Arial"/>
              <a:ea typeface="Arial"/>
              <a:cs typeface="Arial"/>
              <a:sym typeface="Arial"/>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The ciphertext-only attack is the easiest to defend against because the</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opponent has the least amount of information to work with. In many cases, however,</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the analyst has more information. The analyst may be able to capture one</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or more plaintext messages as well as their encryptions. Or the analyst may know</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that certain plaintext patterns will appear in a message. For example, a file that is</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encoded in the Postscript format always begins with the same pattern, or there may</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be a standardized header or banner to an electronic funds transfer message, and so</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on. All of these are examples of known plaintext . With this knowledge, the analyst</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may be able to deduce the key on the basis of the way in which the known plaintext</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is transformed.</a:t>
            </a:r>
            <a:endParaRPr/>
          </a:p>
          <a:p>
            <a:pPr indent="0" lvl="0" marL="0" rtl="0" algn="l">
              <a:lnSpc>
                <a:spcPct val="100000"/>
              </a:lnSpc>
              <a:spcBef>
                <a:spcPts val="0"/>
              </a:spcBef>
              <a:spcAft>
                <a:spcPts val="0"/>
              </a:spcAft>
              <a:buSzPts val="1800"/>
              <a:buNone/>
            </a:pPr>
            <a:r>
              <a:t/>
            </a:r>
            <a:endParaRPr>
              <a:latin typeface="Arial"/>
              <a:ea typeface="Arial"/>
              <a:cs typeface="Arial"/>
              <a:sym typeface="Arial"/>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Closely related to the known-plaintext attack is what might be referred to as a</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probable-word attack. If the opponent is working with the encryption of some general</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prose message, he or she may have little knowledge of what is in the message.</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However, if the opponent is after some very specific information, then parts of the</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message may be known. For example, if an entire accounting file is being transmitted,</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the opponent may know the placement of certain key words in the header of</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 the file. As another example, the source code for a program developed by a corporation</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might include a copyright statement in some standardized position.</a:t>
            </a:r>
            <a:endParaRPr/>
          </a:p>
          <a:p>
            <a:pPr indent="0" lvl="0" marL="0" rtl="0" algn="l">
              <a:lnSpc>
                <a:spcPct val="100000"/>
              </a:lnSpc>
              <a:spcBef>
                <a:spcPts val="0"/>
              </a:spcBef>
              <a:spcAft>
                <a:spcPts val="0"/>
              </a:spcAft>
              <a:buSzPts val="1800"/>
              <a:buNone/>
            </a:pPr>
            <a:r>
              <a:t/>
            </a:r>
            <a:endParaRPr>
              <a:latin typeface="Arial"/>
              <a:ea typeface="Arial"/>
              <a:cs typeface="Arial"/>
              <a:sym typeface="Arial"/>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If the analyst is able somehow to get the source system to insert into the system</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a message chosen by the analyst, then a chosen-plaintext  attack is possible. In</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general, if the analyst is able to choose the messages to encrypt, the analyst may</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deliberately pick patterns that can be expected to reveal the structure of the key.</a:t>
            </a:r>
            <a:endParaRPr/>
          </a:p>
          <a:p>
            <a:pPr indent="0" lvl="0" marL="0" rtl="0" algn="l">
              <a:lnSpc>
                <a:spcPct val="100000"/>
              </a:lnSpc>
              <a:spcBef>
                <a:spcPts val="0"/>
              </a:spcBef>
              <a:spcAft>
                <a:spcPts val="0"/>
              </a:spcAft>
              <a:buSzPts val="1800"/>
              <a:buNone/>
            </a:pPr>
            <a:r>
              <a:t/>
            </a:r>
            <a:endParaRPr>
              <a:latin typeface="Arial"/>
              <a:ea typeface="Arial"/>
              <a:cs typeface="Arial"/>
              <a:sym typeface="Arial"/>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 Table 2.1 lists two other types of attack: chosen ciphertext and chosen text.</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These are less commonly employed as cryptanalytic techniques but are nevertheless</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possible avenues of attack.</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05" name="Google Shape;30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23" name="Google Shape;32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43" name="Google Shape;34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63" name="Google Shape;36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81" name="Google Shape;38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03" name="Google Shape;40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23" name="Google Shape;42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43" name="Google Shape;44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65" name="Google Shape;46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 name="Google Shape;46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84" name="Google Shape;48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02" name="Google Shape;50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22" name="Google Shape;52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45" name="Google Shape;54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66" name="Google Shape;56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84" name="Google Shape;58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 name="Google Shape;585;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03" name="Google Shape;60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4" name="Google Shape;604;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23" name="Google Shape;62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4" name="Google Shape;62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39" name="Google Shape;63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54" name="Google Shape;65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73" name="Google Shape;67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4" name="Google Shape;674;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93" name="Google Shape;693;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4" name="Google Shape;694;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10" name="Google Shape;71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1" name="Google Shape;711;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27" name="Google Shape;72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8" name="Google Shape;728;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cf781e8b50_0_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47" name="Google Shape;747;g3cf781e8b50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8" name="Google Shape;748;g3cf781e8b50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65" name="Google Shape;76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6" name="Google Shape;766;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84" name="Google Shape;78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5" name="Google Shape;785;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01" name="Google Shape;80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2" name="Google Shape;802;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19" name="Google Shape;81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0" name="Google Shape;820;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37" name="Google Shape;837;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8" name="Google Shape;838;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57" name="Google Shape;857;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8" name="Google Shape;858;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76" name="Google Shape;87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7" name="Google Shape;877;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96" name="Google Shape;89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7" name="Google Shape;897;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20" name="Google Shape;920;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1" name="Google Shape;921;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38" name="Google Shape;938;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9" name="Google Shape;939;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56" name="Google Shape;956;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7" name="Google Shape;957;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76" name="Google Shape;976;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7" name="Google Shape;977;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5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92" name="Google Shape;99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3" name="Google Shape;993;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09" name="Google Shape;100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0" name="Google Shape;1010;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5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26" name="Google Shape;1026;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7" name="Google Shape;1027;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5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44" name="Google Shape;1044;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5" name="Google Shape;1045;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6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63" name="Google Shape;1063;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4" name="Google Shape;1064;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6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81" name="Google Shape;1081;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2" name="Google Shape;1082;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6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99" name="Google Shape;1099;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0" name="Google Shape;1100;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p6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14" name="Google Shape;1114;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5" name="Google Shape;1115;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6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35" name="Google Shape;1135;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6" name="Google Shape;1136;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6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52" name="Google Shape;1152;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3" name="Google Shape;1153;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6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70" name="Google Shape;1170;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1" name="Google Shape;1171;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6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86" name="Google Shape;1186;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7" name="Google Shape;1187;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05" name="Google Shape;1205;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6" name="Google Shape;1206;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6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23" name="Google Shape;122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4" name="Google Shape;1224;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7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41" name="Google Shape;1241;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2" name="Google Shape;1242;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7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53" name="Google Shape;1253;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4" name="Google Shape;1254;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7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71" name="Google Shape;1271;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2" name="Google Shape;1272;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p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89" name="Google Shape;1289;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0" name="Google Shape;1290;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7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08" name="Google Shape;1308;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9" name="Google Shape;1309;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p7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25" name="Google Shape;1325;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6" name="Google Shape;1326;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7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42" name="Google Shape;1342;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3" name="Google Shape;1343;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7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62" name="Google Shape;1362;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3" name="Google Shape;1363;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 name="Shape 11"/>
        <p:cNvGrpSpPr/>
        <p:nvPr/>
      </p:nvGrpSpPr>
      <p:grpSpPr>
        <a:xfrm>
          <a:off x="0" y="0"/>
          <a:ext cx="0" cy="0"/>
          <a:chOff x="0" y="0"/>
          <a:chExt cx="0" cy="0"/>
        </a:xfrm>
      </p:grpSpPr>
      <p:sp>
        <p:nvSpPr>
          <p:cNvPr id="12" name="Google Shape;12;p79"/>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13" name="Google Shape;13;p79"/>
          <p:cNvSpPr txBox="1"/>
          <p:nvPr>
            <p:ph idx="1" type="body"/>
          </p:nvPr>
        </p:nvSpPr>
        <p:spPr>
          <a:xfrm>
            <a:off x="62865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4" name="Google Shape;14;p79"/>
          <p:cNvSpPr txBox="1"/>
          <p:nvPr>
            <p:ph idx="2" type="body"/>
          </p:nvPr>
        </p:nvSpPr>
        <p:spPr>
          <a:xfrm>
            <a:off x="464820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5" name="Google Shape;15;p7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8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81"/>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0" name="Google Shape;20;p8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1" name="Google Shape;21;p8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 name="Shape 22"/>
        <p:cNvGrpSpPr/>
        <p:nvPr/>
      </p:nvGrpSpPr>
      <p:grpSpPr>
        <a:xfrm>
          <a:off x="0" y="0"/>
          <a:ext cx="0" cy="0"/>
          <a:chOff x="0" y="0"/>
          <a:chExt cx="0" cy="0"/>
        </a:xfrm>
      </p:grpSpPr>
      <p:sp>
        <p:nvSpPr>
          <p:cNvPr id="23" name="Google Shape;23;p84"/>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4" name="Google Shape;24;p84"/>
          <p:cNvSpPr txBox="1"/>
          <p:nvPr>
            <p:ph idx="1" type="body"/>
          </p:nvPr>
        </p:nvSpPr>
        <p:spPr>
          <a:xfrm rot="5400000">
            <a:off x="604044" y="389731"/>
            <a:ext cx="5811838" cy="5762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5" name="Google Shape;25;p8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 name="Shape 26"/>
        <p:cNvGrpSpPr/>
        <p:nvPr/>
      </p:nvGrpSpPr>
      <p:grpSpPr>
        <a:xfrm>
          <a:off x="0" y="0"/>
          <a:ext cx="0" cy="0"/>
          <a:chOff x="0" y="0"/>
          <a:chExt cx="0" cy="0"/>
        </a:xfrm>
      </p:grpSpPr>
      <p:sp>
        <p:nvSpPr>
          <p:cNvPr id="27" name="Google Shape;27;p85"/>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8" name="Google Shape;28;p8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9" name="Google Shape;29;p8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0" name="Shape 30"/>
        <p:cNvGrpSpPr/>
        <p:nvPr/>
      </p:nvGrpSpPr>
      <p:grpSpPr>
        <a:xfrm>
          <a:off x="0" y="0"/>
          <a:ext cx="0" cy="0"/>
          <a:chOff x="0" y="0"/>
          <a:chExt cx="0" cy="0"/>
        </a:xfrm>
      </p:grpSpPr>
      <p:sp>
        <p:nvSpPr>
          <p:cNvPr id="31" name="Google Shape;31;p86"/>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2" name="Google Shape;32;p86"/>
          <p:cNvSpPr/>
          <p:nvPr>
            <p:ph idx="2" type="pic"/>
          </p:nvPr>
        </p:nvSpPr>
        <p:spPr>
          <a:xfrm>
            <a:off x="3887788" y="987425"/>
            <a:ext cx="4629150" cy="4873625"/>
          </a:xfrm>
          <a:prstGeom prst="rect">
            <a:avLst/>
          </a:prstGeom>
          <a:noFill/>
          <a:ln>
            <a:noFill/>
          </a:ln>
        </p:spPr>
      </p:sp>
      <p:sp>
        <p:nvSpPr>
          <p:cNvPr id="33" name="Google Shape;33;p86"/>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4" name="Google Shape;34;p8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5" name="Shape 35"/>
        <p:cNvGrpSpPr/>
        <p:nvPr/>
      </p:nvGrpSpPr>
      <p:grpSpPr>
        <a:xfrm>
          <a:off x="0" y="0"/>
          <a:ext cx="0" cy="0"/>
          <a:chOff x="0" y="0"/>
          <a:chExt cx="0" cy="0"/>
        </a:xfrm>
      </p:grpSpPr>
      <p:sp>
        <p:nvSpPr>
          <p:cNvPr id="36" name="Google Shape;36;p87"/>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7" name="Google Shape;37;p87"/>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38" name="Google Shape;38;p87"/>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9" name="Google Shape;39;p8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88"/>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2" name="Google Shape;42;p8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89"/>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5" name="Google Shape;45;p89"/>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6" name="Google Shape;46;p89"/>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7" name="Google Shape;47;p89"/>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8" name="Google Shape;48;p89"/>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9" name="Google Shape;49;p8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sp>
        <p:nvSpPr>
          <p:cNvPr id="51" name="Google Shape;51;p90"/>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60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52" name="Google Shape;52;p90"/>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53" name="Google Shape;53;p9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spTree>
      <p:nvGrpSpPr>
        <p:cNvPr id="58" name="Shape 58"/>
        <p:cNvGrpSpPr/>
        <p:nvPr/>
      </p:nvGrpSpPr>
      <p:grpSpPr>
        <a:xfrm>
          <a:off x="0" y="0"/>
          <a:ext cx="0" cy="0"/>
          <a:chOff x="0" y="0"/>
          <a:chExt cx="0" cy="0"/>
        </a:xfrm>
      </p:grpSpPr>
      <p:sp>
        <p:nvSpPr>
          <p:cNvPr id="59" name="Google Shape;59;p83"/>
          <p:cNvSpPr txBox="1"/>
          <p:nvPr>
            <p:ph idx="10" type="dt"/>
          </p:nvPr>
        </p:nvSpPr>
        <p:spPr>
          <a:xfrm>
            <a:off x="0" y="0"/>
            <a:ext cx="0" cy="0"/>
          </a:xfrm>
          <a:prstGeom prst="rect">
            <a:avLst/>
          </a:prstGeom>
          <a:noFill/>
          <a:ln>
            <a:noFill/>
          </a:ln>
          <a:effectLst>
            <a:outerShdw blurRad="63500" dir="2700000" dist="38100">
              <a:srgbClr val="000000">
                <a:alpha val="39607"/>
              </a:srgbClr>
            </a:outerShdw>
          </a:effectLst>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3"/>
          <p:cNvSpPr txBox="1"/>
          <p:nvPr>
            <p:ph idx="11" type="ftr"/>
          </p:nvPr>
        </p:nvSpPr>
        <p:spPr>
          <a:xfrm>
            <a:off x="0" y="0"/>
            <a:ext cx="0" cy="0"/>
          </a:xfrm>
          <a:prstGeom prst="rect">
            <a:avLst/>
          </a:prstGeom>
          <a:noFill/>
          <a:ln>
            <a:noFill/>
          </a:ln>
          <a:effectLst>
            <a:outerShdw blurRad="63500" dir="2700000" dist="38100">
              <a:srgbClr val="000000">
                <a:alpha val="39607"/>
              </a:srgbClr>
            </a:outerShdw>
          </a:effectLst>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3"/>
          <p:cNvSpPr txBox="1"/>
          <p:nvPr>
            <p:ph idx="12" type="sldNum"/>
          </p:nvPr>
        </p:nvSpPr>
        <p:spPr>
          <a:xfrm>
            <a:off x="0" y="6400800"/>
            <a:ext cx="1905000" cy="457200"/>
          </a:xfrm>
          <a:prstGeom prst="rect">
            <a:avLst/>
          </a:prstGeom>
          <a:noFill/>
          <a:ln>
            <a:noFill/>
          </a:ln>
          <a:effectLst>
            <a:outerShdw blurRad="63500" dir="2700000" dist="38100">
              <a:srgbClr val="000000">
                <a:alpha val="39607"/>
              </a:srgbClr>
            </a:outerShdw>
          </a:effectLst>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82"/>
          <p:cNvSpPr txBox="1"/>
          <p:nvPr>
            <p:ph idx="10" type="dt"/>
          </p:nvPr>
        </p:nvSpPr>
        <p:spPr>
          <a:xfrm>
            <a:off x="0" y="0"/>
            <a:ext cx="0" cy="0"/>
          </a:xfrm>
          <a:prstGeom prst="rect">
            <a:avLst/>
          </a:prstGeom>
          <a:noFill/>
          <a:ln>
            <a:noFill/>
          </a:ln>
          <a:effectLst>
            <a:outerShdw blurRad="63500" dir="2700000" dist="38100">
              <a:srgbClr val="000000">
                <a:alpha val="39607"/>
              </a:srgbClr>
            </a:outerShdw>
          </a:effectLst>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9pPr>
          </a:lstStyle>
          <a:p/>
        </p:txBody>
      </p:sp>
      <p:sp>
        <p:nvSpPr>
          <p:cNvPr id="56" name="Google Shape;56;p82"/>
          <p:cNvSpPr txBox="1"/>
          <p:nvPr>
            <p:ph idx="11" type="ftr"/>
          </p:nvPr>
        </p:nvSpPr>
        <p:spPr>
          <a:xfrm>
            <a:off x="0" y="0"/>
            <a:ext cx="0" cy="0"/>
          </a:xfrm>
          <a:prstGeom prst="rect">
            <a:avLst/>
          </a:prstGeom>
          <a:noFill/>
          <a:ln>
            <a:noFill/>
          </a:ln>
          <a:effectLst>
            <a:outerShdw blurRad="63500" dir="2700000" dist="38100">
              <a:srgbClr val="000000">
                <a:alpha val="39607"/>
              </a:srgbClr>
            </a:outerShdw>
          </a:effectLst>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baseline="-25000" i="1" sz="2800" u="none" cap="none" strike="noStrike">
                <a:solidFill>
                  <a:schemeClr val="dk1"/>
                </a:solidFill>
                <a:latin typeface="Times New Roman"/>
                <a:ea typeface="Times New Roman"/>
                <a:cs typeface="Times New Roman"/>
                <a:sym typeface="Times New Roman"/>
              </a:defRPr>
            </a:lvl9pPr>
          </a:lstStyle>
          <a:p/>
        </p:txBody>
      </p:sp>
      <p:sp>
        <p:nvSpPr>
          <p:cNvPr id="57" name="Google Shape;57;p82"/>
          <p:cNvSpPr txBox="1"/>
          <p:nvPr>
            <p:ph idx="12" type="sldNum"/>
          </p:nvPr>
        </p:nvSpPr>
        <p:spPr>
          <a:xfrm>
            <a:off x="0" y="6400800"/>
            <a:ext cx="1905000" cy="457200"/>
          </a:xfrm>
          <a:prstGeom prst="rect">
            <a:avLst/>
          </a:prstGeom>
          <a:noFill/>
          <a:ln>
            <a:noFill/>
          </a:ln>
          <a:effectLst>
            <a:outerShdw blurRad="63500" dir="2700000" dist="38100">
              <a:srgbClr val="000000">
                <a:alpha val="39607"/>
              </a:srgbClr>
            </a:outerShdw>
          </a:effectLst>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6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1.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5.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5.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3.pn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7.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2.png"/><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1.png"/><Relationship Id="rId4"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1.png"/><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4.png"/><Relationship Id="rId4"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0.png"/><Relationship Id="rId4" Type="http://schemas.openxmlformats.org/officeDocument/2006/relationships/image" Target="../media/image52.png"/><Relationship Id="rId5"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6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8.png"/><Relationship Id="rId4" Type="http://schemas.openxmlformats.org/officeDocument/2006/relationships/image" Target="../media/image53.png"/><Relationship Id="rId5" Type="http://schemas.openxmlformats.org/officeDocument/2006/relationships/image" Target="../media/image6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7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7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73.png"/><Relationship Id="rId4" Type="http://schemas.openxmlformats.org/officeDocument/2006/relationships/image" Target="../media/image7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7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7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8" name="Google Shape;68;p1"/>
          <p:cNvSpPr txBox="1"/>
          <p:nvPr/>
        </p:nvSpPr>
        <p:spPr>
          <a:xfrm>
            <a:off x="0" y="6507162"/>
            <a:ext cx="914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Copyright © The McGraw-Hill Companies, Inc. Permission required for reproduction or display.</a:t>
            </a:r>
            <a:endParaRPr b="0" i="0" sz="1400" u="none" cap="none" strike="noStrike">
              <a:solidFill>
                <a:srgbClr val="000000"/>
              </a:solidFill>
              <a:latin typeface="Arial"/>
              <a:ea typeface="Arial"/>
              <a:cs typeface="Arial"/>
              <a:sym typeface="Arial"/>
            </a:endParaRPr>
          </a:p>
        </p:txBody>
      </p:sp>
      <p:pic>
        <p:nvPicPr>
          <p:cNvPr id="69" name="Google Shape;69;p1"/>
          <p:cNvPicPr preferRelativeResize="0"/>
          <p:nvPr>
            <p:ph idx="1" type="body"/>
          </p:nvPr>
        </p:nvPicPr>
        <p:blipFill rotWithShape="1">
          <a:blip r:embed="rId3">
            <a:alphaModFix/>
          </a:blip>
          <a:srcRect b="0" l="0" r="0" t="0"/>
          <a:stretch/>
        </p:blipFill>
        <p:spPr>
          <a:xfrm>
            <a:off x="381000" y="0"/>
            <a:ext cx="8763000" cy="1050925"/>
          </a:xfrm>
          <a:prstGeom prst="rect">
            <a:avLst/>
          </a:prstGeom>
          <a:noFill/>
          <a:ln>
            <a:noFill/>
          </a:ln>
        </p:spPr>
      </p:pic>
      <p:sp>
        <p:nvSpPr>
          <p:cNvPr id="70" name="Google Shape;70;p1"/>
          <p:cNvSpPr txBox="1"/>
          <p:nvPr/>
        </p:nvSpPr>
        <p:spPr>
          <a:xfrm>
            <a:off x="914400" y="2514600"/>
            <a:ext cx="7391400" cy="24066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4400"/>
              <a:buFont typeface="Arial"/>
              <a:buNone/>
            </a:pPr>
            <a:r>
              <a:rPr b="1" i="0" lang="en-US" sz="4400" u="none" cap="none" strike="noStrike">
                <a:solidFill>
                  <a:schemeClr val="dk2"/>
                </a:solidFill>
                <a:latin typeface="Arial"/>
                <a:ea typeface="Arial"/>
                <a:cs typeface="Arial"/>
                <a:sym typeface="Arial"/>
              </a:rPr>
              <a:t>Chapter 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Times New Roman"/>
              <a:buNone/>
            </a:pPr>
            <a:r>
              <a:t/>
            </a:r>
            <a:endParaRPr b="1" i="0" sz="2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Arial"/>
              <a:buNone/>
            </a:pPr>
            <a:r>
              <a:rPr b="1" i="0" lang="en-US" sz="4400" u="none" cap="none" strike="noStrike">
                <a:solidFill>
                  <a:schemeClr val="dk1"/>
                </a:solidFill>
                <a:latin typeface="Arial"/>
                <a:ea typeface="Arial"/>
                <a:cs typeface="Arial"/>
                <a:sym typeface="Arial"/>
              </a:rPr>
              <a:t>Traditional </a:t>
            </a:r>
            <a:br>
              <a:rPr b="1" i="0" lang="en-US" sz="4400" u="none" cap="none" strike="noStrike">
                <a:solidFill>
                  <a:schemeClr val="dk1"/>
                </a:solidFill>
                <a:latin typeface="Arial"/>
                <a:ea typeface="Arial"/>
                <a:cs typeface="Arial"/>
                <a:sym typeface="Arial"/>
              </a:rPr>
            </a:br>
            <a:r>
              <a:rPr b="1" i="0" lang="en-US" sz="4400" u="none" cap="none" strike="noStrike">
                <a:solidFill>
                  <a:schemeClr val="dk1"/>
                </a:solidFill>
                <a:latin typeface="Arial"/>
                <a:ea typeface="Arial"/>
                <a:cs typeface="Arial"/>
                <a:sym typeface="Arial"/>
              </a:rPr>
              <a:t>Symmetric-Key Ciphers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7" name="Google Shape;77;p2"/>
          <p:cNvSpPr txBox="1"/>
          <p:nvPr/>
        </p:nvSpPr>
        <p:spPr>
          <a:xfrm>
            <a:off x="304800" y="1219200"/>
            <a:ext cx="8534400" cy="52197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define the terms and the concepts of symmetric</a:t>
            </a:r>
            <a:br>
              <a:rPr b="1" i="0" lang="en-US" sz="2800" u="none" cap="none" strike="noStrike">
                <a:solidFill>
                  <a:schemeClr val="dk1"/>
                </a:solidFill>
                <a:latin typeface="Times New Roman"/>
                <a:ea typeface="Times New Roman"/>
                <a:cs typeface="Times New Roman"/>
                <a:sym typeface="Times New Roman"/>
              </a:rPr>
            </a:br>
            <a:r>
              <a:rPr b="1" i="0" lang="en-US" sz="2800" u="none" cap="none" strike="noStrike">
                <a:solidFill>
                  <a:schemeClr val="dk1"/>
                </a:solidFill>
                <a:latin typeface="Times New Roman"/>
                <a:ea typeface="Times New Roman"/>
                <a:cs typeface="Times New Roman"/>
                <a:sym typeface="Times New Roman"/>
              </a:rPr>
              <a:t>     key ciphers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emphasize the two categories of traditional</a:t>
            </a:r>
            <a:br>
              <a:rPr b="1" i="0" lang="en-US" sz="2800" u="none" cap="none" strike="noStrike">
                <a:solidFill>
                  <a:schemeClr val="dk1"/>
                </a:solidFill>
                <a:latin typeface="Times New Roman"/>
                <a:ea typeface="Times New Roman"/>
                <a:cs typeface="Times New Roman"/>
                <a:sym typeface="Times New Roman"/>
              </a:rPr>
            </a:br>
            <a:r>
              <a:rPr b="1" i="0" lang="en-US" sz="2800" u="none" cap="none" strike="noStrike">
                <a:solidFill>
                  <a:schemeClr val="dk1"/>
                </a:solidFill>
                <a:latin typeface="Times New Roman"/>
                <a:ea typeface="Times New Roman"/>
                <a:cs typeface="Times New Roman"/>
                <a:sym typeface="Times New Roman"/>
              </a:rPr>
              <a:t>    ciphers: substitution and transposition ciphers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describe the categories of cryptanalysis used to</a:t>
            </a:r>
            <a:br>
              <a:rPr b="1" i="0" lang="en-US" sz="2800" u="none" cap="none" strike="noStrike">
                <a:solidFill>
                  <a:schemeClr val="dk1"/>
                </a:solidFill>
                <a:latin typeface="Times New Roman"/>
                <a:ea typeface="Times New Roman"/>
                <a:cs typeface="Times New Roman"/>
                <a:sym typeface="Times New Roman"/>
              </a:rPr>
            </a:br>
            <a:r>
              <a:rPr b="1" i="0" lang="en-US" sz="2800" u="none" cap="none" strike="noStrike">
                <a:solidFill>
                  <a:schemeClr val="dk1"/>
                </a:solidFill>
                <a:latin typeface="Times New Roman"/>
                <a:ea typeface="Times New Roman"/>
                <a:cs typeface="Times New Roman"/>
                <a:sym typeface="Times New Roman"/>
              </a:rPr>
              <a:t>     break the symmetric ciphers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introduce the concepts of the stream ciphers and</a:t>
            </a:r>
            <a:br>
              <a:rPr b="1" i="0" lang="en-US" sz="2800" u="none" cap="none" strike="noStrike">
                <a:solidFill>
                  <a:schemeClr val="dk1"/>
                </a:solidFill>
                <a:latin typeface="Times New Roman"/>
                <a:ea typeface="Times New Roman"/>
                <a:cs typeface="Times New Roman"/>
                <a:sym typeface="Times New Roman"/>
              </a:rPr>
            </a:br>
            <a:r>
              <a:rPr b="1" i="0" lang="en-US" sz="2800" u="none" cap="none" strike="noStrike">
                <a:solidFill>
                  <a:schemeClr val="dk1"/>
                </a:solidFill>
                <a:latin typeface="Times New Roman"/>
                <a:ea typeface="Times New Roman"/>
                <a:cs typeface="Times New Roman"/>
                <a:sym typeface="Times New Roman"/>
              </a:rPr>
              <a:t>      block ciphers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  To discuss some very dominant ciphers used in the</a:t>
            </a:r>
            <a:br>
              <a:rPr b="1" i="0" lang="en-US" sz="2800" u="none" cap="none" strike="noStrike">
                <a:solidFill>
                  <a:schemeClr val="dk1"/>
                </a:solidFill>
                <a:latin typeface="Times New Roman"/>
                <a:ea typeface="Times New Roman"/>
                <a:cs typeface="Times New Roman"/>
                <a:sym typeface="Times New Roman"/>
              </a:rPr>
            </a:br>
            <a:r>
              <a:rPr b="1" i="0" lang="en-US" sz="2800" u="none" cap="none" strike="noStrike">
                <a:solidFill>
                  <a:schemeClr val="dk1"/>
                </a:solidFill>
                <a:latin typeface="Times New Roman"/>
                <a:ea typeface="Times New Roman"/>
                <a:cs typeface="Times New Roman"/>
                <a:sym typeface="Times New Roman"/>
              </a:rPr>
              <a:t>      past, such as the Enigma machine</a:t>
            </a:r>
            <a:endParaRPr b="0" i="0" sz="1400" u="none" cap="none" strike="noStrike">
              <a:solidFill>
                <a:srgbClr val="000000"/>
              </a:solidFill>
              <a:latin typeface="Arial"/>
              <a:ea typeface="Arial"/>
              <a:cs typeface="Arial"/>
              <a:sym typeface="Arial"/>
            </a:endParaRPr>
          </a:p>
        </p:txBody>
      </p:sp>
      <p:sp>
        <p:nvSpPr>
          <p:cNvPr id="78" name="Google Shape;78;p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9" name="Google Shape;79;p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 name="Google Shape;80;p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1" name="Google Shape;81;p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 name="Google Shape;82;p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3" name="Google Shape;83;p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 name="Google Shape;84;p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219200" y="547687"/>
            <a:ext cx="2209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0" lang="en-US" sz="2800" u="none" cap="none" strike="noStrike">
                <a:solidFill>
                  <a:schemeClr val="hlink"/>
                </a:solidFill>
                <a:latin typeface="Times New Roman"/>
                <a:ea typeface="Times New Roman"/>
                <a:cs typeface="Times New Roman"/>
                <a:sym typeface="Times New Roman"/>
              </a:rPr>
              <a:t>Objectives</a:t>
            </a:r>
            <a:endParaRPr b="0" i="0" sz="1400" u="none" cap="none" strike="noStrike">
              <a:solidFill>
                <a:srgbClr val="000000"/>
              </a:solidFill>
              <a:latin typeface="Arial"/>
              <a:ea typeface="Arial"/>
              <a:cs typeface="Arial"/>
              <a:sym typeface="Arial"/>
            </a:endParaRPr>
          </a:p>
        </p:txBody>
      </p:sp>
      <p:sp>
        <p:nvSpPr>
          <p:cNvPr id="86" name="Google Shape;86;p2"/>
          <p:cNvSpPr txBox="1"/>
          <p:nvPr/>
        </p:nvSpPr>
        <p:spPr>
          <a:xfrm>
            <a:off x="1066800" y="49212"/>
            <a:ext cx="1827212"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800"/>
              <a:buFont typeface="Arial"/>
              <a:buNone/>
            </a:pPr>
            <a:r>
              <a:rPr b="1" i="0" lang="en-US" sz="2800" u="none" cap="none" strike="noStrike">
                <a:solidFill>
                  <a:schemeClr val="dk2"/>
                </a:solidFill>
                <a:latin typeface="Arial"/>
                <a:ea typeface="Arial"/>
                <a:cs typeface="Arial"/>
                <a:sym typeface="Arial"/>
              </a:rPr>
              <a:t>Chapter 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3" name="Google Shape;93;p3"/>
          <p:cNvSpPr txBox="1"/>
          <p:nvPr/>
        </p:nvSpPr>
        <p:spPr>
          <a:xfrm>
            <a:off x="0" y="0"/>
            <a:ext cx="9144000" cy="1219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4" name="Google Shape;94;p3"/>
          <p:cNvSpPr txBox="1"/>
          <p:nvPr/>
        </p:nvSpPr>
        <p:spPr>
          <a:xfrm>
            <a:off x="228600" y="76200"/>
            <a:ext cx="42846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3-1   INTRODUCTION</a:t>
            </a:r>
            <a:endParaRPr b="0" i="0" sz="1400" u="none" cap="none" strike="noStrike">
              <a:solidFill>
                <a:srgbClr val="000000"/>
              </a:solidFill>
              <a:latin typeface="Arial"/>
              <a:ea typeface="Arial"/>
              <a:cs typeface="Arial"/>
              <a:sym typeface="Arial"/>
            </a:endParaRPr>
          </a:p>
        </p:txBody>
      </p:sp>
      <p:sp>
        <p:nvSpPr>
          <p:cNvPr id="95" name="Google Shape;95;p3"/>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 name="Google Shape;96;p3"/>
          <p:cNvSpPr txBox="1"/>
          <p:nvPr/>
        </p:nvSpPr>
        <p:spPr>
          <a:xfrm>
            <a:off x="76200" y="1216025"/>
            <a:ext cx="8839200" cy="35083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Figure 3.1 shows the general idea behind a symmetric-key cipher. The original message from Alice to Bob is called plaintext; the message that is sent through the channel is called the  ciphertext. To create the ciphertext from the plaintext, Alice uses an encryption algorithm and a shared secret key. To create the plaintext from ciphertext, Bob uses a decryption algorithm and the same secret 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p:txBody>
      </p:sp>
      <p:sp>
        <p:nvSpPr>
          <p:cNvPr id="97" name="Google Shape;97;p3"/>
          <p:cNvSpPr txBox="1"/>
          <p:nvPr/>
        </p:nvSpPr>
        <p:spPr>
          <a:xfrm>
            <a:off x="152400" y="5137150"/>
            <a:ext cx="67056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cap="none" strike="noStrike">
                <a:solidFill>
                  <a:schemeClr val="hlink"/>
                </a:solidFill>
                <a:latin typeface="Times New Roman"/>
                <a:ea typeface="Times New Roman"/>
                <a:cs typeface="Times New Roman"/>
                <a:sym typeface="Times New Roman"/>
              </a:rPr>
              <a:t>3.1.1</a:t>
            </a:r>
            <a:r>
              <a:rPr b="1" i="0" lang="en-US" sz="2400" u="none" cap="none" strike="noStrike">
                <a:solidFill>
                  <a:srgbClr val="0033CC"/>
                </a:solidFill>
                <a:latin typeface="Times New Roman"/>
                <a:ea typeface="Times New Roman"/>
                <a:cs typeface="Times New Roman"/>
                <a:sym typeface="Times New Roman"/>
              </a:rPr>
              <a:t>  Kerckhoff’s Principle</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chemeClr val="hlink"/>
                </a:solidFill>
                <a:latin typeface="Times New Roman"/>
                <a:ea typeface="Times New Roman"/>
                <a:cs typeface="Times New Roman"/>
                <a:sym typeface="Times New Roman"/>
              </a:rPr>
              <a:t>3.1.2</a:t>
            </a:r>
            <a:r>
              <a:rPr b="1" i="0" lang="en-US" sz="2400" u="none" cap="none" strike="noStrike">
                <a:solidFill>
                  <a:srgbClr val="0033CC"/>
                </a:solidFill>
                <a:latin typeface="Times New Roman"/>
                <a:ea typeface="Times New Roman"/>
                <a:cs typeface="Times New Roman"/>
                <a:sym typeface="Times New Roman"/>
              </a:rPr>
              <a:t>  Cryptanalysis</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chemeClr val="hlink"/>
                </a:solidFill>
                <a:latin typeface="Times New Roman"/>
                <a:ea typeface="Times New Roman"/>
                <a:cs typeface="Times New Roman"/>
                <a:sym typeface="Times New Roman"/>
              </a:rPr>
              <a:t>3.1.3</a:t>
            </a:r>
            <a:r>
              <a:rPr b="1" i="0" lang="en-US" sz="2400" u="none" cap="none" strike="noStrike">
                <a:solidFill>
                  <a:srgbClr val="0033CC"/>
                </a:solidFill>
                <a:latin typeface="Times New Roman"/>
                <a:ea typeface="Times New Roman"/>
                <a:cs typeface="Times New Roman"/>
                <a:sym typeface="Times New Roman"/>
              </a:rPr>
              <a:t>  Categories of Traditional Ciphers</a:t>
            </a:r>
            <a:endParaRPr b="0" i="0" sz="1400" u="none" cap="none" strike="noStrike">
              <a:solidFill>
                <a:srgbClr val="000000"/>
              </a:solidFill>
              <a:latin typeface="Arial"/>
              <a:ea typeface="Arial"/>
              <a:cs typeface="Arial"/>
              <a:sym typeface="Arial"/>
            </a:endParaRPr>
          </a:p>
        </p:txBody>
      </p:sp>
      <p:sp>
        <p:nvSpPr>
          <p:cNvPr id="98" name="Google Shape;98;p3"/>
          <p:cNvSpPr txBox="1"/>
          <p:nvPr/>
        </p:nvSpPr>
        <p:spPr>
          <a:xfrm>
            <a:off x="165100" y="4662487"/>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5" name="Google Shape;105;p4"/>
          <p:cNvSpPr txBox="1"/>
          <p:nvPr/>
        </p:nvSpPr>
        <p:spPr>
          <a:xfrm>
            <a:off x="2049462" y="1676400"/>
            <a:ext cx="55705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  </a:t>
            </a:r>
            <a:r>
              <a:rPr b="1" i="1" lang="en-US" sz="2000" u="none" cap="none" strike="noStrike">
                <a:solidFill>
                  <a:schemeClr val="dk1"/>
                </a:solidFill>
                <a:latin typeface="Times New Roman"/>
                <a:ea typeface="Times New Roman"/>
                <a:cs typeface="Times New Roman"/>
                <a:sym typeface="Times New Roman"/>
              </a:rPr>
              <a:t>General idea of symmetric-key cipher</a:t>
            </a:r>
            <a:endParaRPr b="0" i="0" sz="1400" u="none" cap="none" strike="noStrike">
              <a:solidFill>
                <a:srgbClr val="000000"/>
              </a:solidFill>
              <a:latin typeface="Arial"/>
              <a:ea typeface="Arial"/>
              <a:cs typeface="Arial"/>
              <a:sym typeface="Arial"/>
            </a:endParaRPr>
          </a:p>
        </p:txBody>
      </p:sp>
      <p:pic>
        <p:nvPicPr>
          <p:cNvPr id="106" name="Google Shape;106;p4"/>
          <p:cNvPicPr preferRelativeResize="0"/>
          <p:nvPr/>
        </p:nvPicPr>
        <p:blipFill rotWithShape="1">
          <a:blip r:embed="rId3">
            <a:alphaModFix/>
          </a:blip>
          <a:srcRect b="0" l="0" r="0" t="0"/>
          <a:stretch/>
        </p:blipFill>
        <p:spPr>
          <a:xfrm>
            <a:off x="228600" y="2286000"/>
            <a:ext cx="8785225" cy="3095625"/>
          </a:xfrm>
          <a:prstGeom prst="rect">
            <a:avLst/>
          </a:prstGeom>
          <a:noFill/>
          <a:ln>
            <a:noFill/>
          </a:ln>
        </p:spPr>
      </p:pic>
      <p:sp>
        <p:nvSpPr>
          <p:cNvPr id="107" name="Google Shape;107;p4"/>
          <p:cNvSpPr txBox="1"/>
          <p:nvPr/>
        </p:nvSpPr>
        <p:spPr>
          <a:xfrm>
            <a:off x="0" y="0"/>
            <a:ext cx="9144000" cy="6858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8" name="Google Shape;108;p4"/>
          <p:cNvSpPr txBox="1"/>
          <p:nvPr/>
        </p:nvSpPr>
        <p:spPr>
          <a:xfrm>
            <a:off x="0" y="0"/>
            <a:ext cx="29606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5" name="Google Shape;115;p5"/>
          <p:cNvSpPr txBox="1"/>
          <p:nvPr/>
        </p:nvSpPr>
        <p:spPr>
          <a:xfrm>
            <a:off x="0" y="0"/>
            <a:ext cx="9144000" cy="6858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 name="Google Shape;116;p5"/>
          <p:cNvSpPr txBox="1"/>
          <p:nvPr/>
        </p:nvSpPr>
        <p:spPr>
          <a:xfrm>
            <a:off x="76200" y="30162"/>
            <a:ext cx="29606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17" name="Google Shape;117;p5"/>
          <p:cNvSpPr txBox="1"/>
          <p:nvPr/>
        </p:nvSpPr>
        <p:spPr>
          <a:xfrm>
            <a:off x="152400" y="1219200"/>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If P is the plaintext, C is the ciphertext, and K is the key, </a:t>
            </a:r>
            <a:endParaRPr b="0" i="0" sz="1400" u="none" cap="none" strike="noStrike">
              <a:solidFill>
                <a:srgbClr val="000000"/>
              </a:solidFill>
              <a:latin typeface="Arial"/>
              <a:ea typeface="Arial"/>
              <a:cs typeface="Arial"/>
              <a:sym typeface="Arial"/>
            </a:endParaRPr>
          </a:p>
        </p:txBody>
      </p:sp>
      <p:pic>
        <p:nvPicPr>
          <p:cNvPr id="118" name="Google Shape;118;p5"/>
          <p:cNvPicPr preferRelativeResize="0"/>
          <p:nvPr/>
        </p:nvPicPr>
        <p:blipFill rotWithShape="1">
          <a:blip r:embed="rId3">
            <a:alphaModFix/>
          </a:blip>
          <a:srcRect b="0" l="0" r="0" t="0"/>
          <a:stretch/>
        </p:blipFill>
        <p:spPr>
          <a:xfrm>
            <a:off x="252412" y="1981200"/>
            <a:ext cx="8510587" cy="1431925"/>
          </a:xfrm>
          <a:prstGeom prst="rect">
            <a:avLst/>
          </a:prstGeom>
          <a:noFill/>
          <a:ln>
            <a:noFill/>
          </a:ln>
        </p:spPr>
      </p:pic>
      <p:sp>
        <p:nvSpPr>
          <p:cNvPr id="119" name="Google Shape;119;p5"/>
          <p:cNvSpPr txBox="1"/>
          <p:nvPr/>
        </p:nvSpPr>
        <p:spPr>
          <a:xfrm>
            <a:off x="304800" y="3657600"/>
            <a:ext cx="88392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We assume that Bob creates </a:t>
            </a:r>
            <a:r>
              <a:rPr b="1" i="0" lang="en-US" sz="2800" u="none" cap="none" strike="noStrike">
                <a:solidFill>
                  <a:schemeClr val="dk1"/>
                </a:solidFill>
                <a:latin typeface="Times New Roman"/>
                <a:ea typeface="Times New Roman"/>
                <a:cs typeface="Times New Roman"/>
                <a:sym typeface="Times New Roman"/>
              </a:rPr>
              <a:t>P</a:t>
            </a:r>
            <a:r>
              <a:rPr b="1" baseline="-25000" i="0" lang="en-US" sz="2800" u="none" cap="none" strike="noStrike">
                <a:solidFill>
                  <a:schemeClr val="dk1"/>
                </a:solidFill>
                <a:latin typeface="Times New Roman"/>
                <a:ea typeface="Times New Roman"/>
                <a:cs typeface="Times New Roman"/>
                <a:sym typeface="Times New Roman"/>
              </a:rPr>
              <a:t>1</a:t>
            </a:r>
            <a:r>
              <a:rPr b="1" i="0" lang="en-US" sz="2800" u="none" cap="none" strike="noStrike">
                <a:solidFill>
                  <a:schemeClr val="dk1"/>
                </a:solidFill>
                <a:latin typeface="Times New Roman"/>
                <a:ea typeface="Times New Roman"/>
                <a:cs typeface="Times New Roman"/>
                <a:sym typeface="Times New Roman"/>
              </a:rPr>
              <a:t>;</a:t>
            </a:r>
            <a:r>
              <a:rPr b="1" i="1" lang="en-US" sz="2800" u="none" cap="none" strike="noStrike">
                <a:solidFill>
                  <a:schemeClr val="dk1"/>
                </a:solidFill>
                <a:latin typeface="Times New Roman"/>
                <a:ea typeface="Times New Roman"/>
                <a:cs typeface="Times New Roman"/>
                <a:sym typeface="Times New Roman"/>
              </a:rPr>
              <a:t> we prove that </a:t>
            </a:r>
            <a:r>
              <a:rPr b="1" i="0" lang="en-US" sz="2800" u="none" cap="none" strike="noStrike">
                <a:solidFill>
                  <a:schemeClr val="dk1"/>
                </a:solidFill>
                <a:latin typeface="Times New Roman"/>
                <a:ea typeface="Times New Roman"/>
                <a:cs typeface="Times New Roman"/>
                <a:sym typeface="Times New Roman"/>
              </a:rPr>
              <a:t>P</a:t>
            </a:r>
            <a:r>
              <a:rPr b="1" baseline="-25000" i="0" lang="en-US" sz="2800" u="none" cap="none" strike="noStrike">
                <a:solidFill>
                  <a:schemeClr val="dk1"/>
                </a:solidFill>
                <a:latin typeface="Times New Roman"/>
                <a:ea typeface="Times New Roman"/>
                <a:cs typeface="Times New Roman"/>
                <a:sym typeface="Times New Roman"/>
              </a:rPr>
              <a:t>1</a:t>
            </a:r>
            <a:r>
              <a:rPr b="1" i="0" lang="en-US" sz="2800" u="none" cap="none" strike="noStrike">
                <a:solidFill>
                  <a:schemeClr val="dk1"/>
                </a:solidFill>
                <a:latin typeface="Times New Roman"/>
                <a:ea typeface="Times New Roman"/>
                <a:cs typeface="Times New Roman"/>
                <a:sym typeface="Times New Roman"/>
              </a:rPr>
              <a:t> = P</a:t>
            </a:r>
            <a:r>
              <a:rPr b="1" i="1" lang="en-US" sz="2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pic>
        <p:nvPicPr>
          <p:cNvPr id="120" name="Google Shape;120;p5"/>
          <p:cNvPicPr preferRelativeResize="0"/>
          <p:nvPr/>
        </p:nvPicPr>
        <p:blipFill rotWithShape="1">
          <a:blip r:embed="rId4">
            <a:alphaModFix/>
          </a:blip>
          <a:srcRect b="0" l="0" r="0" t="0"/>
          <a:stretch/>
        </p:blipFill>
        <p:spPr>
          <a:xfrm>
            <a:off x="2847975" y="4267200"/>
            <a:ext cx="2714625" cy="762000"/>
          </a:xfrm>
          <a:prstGeom prst="rect">
            <a:avLst/>
          </a:prstGeom>
          <a:noFill/>
          <a:ln>
            <a:noFill/>
          </a:ln>
        </p:spPr>
      </p:pic>
      <p:pic>
        <p:nvPicPr>
          <p:cNvPr id="121" name="Google Shape;121;p5"/>
          <p:cNvPicPr preferRelativeResize="0"/>
          <p:nvPr/>
        </p:nvPicPr>
        <p:blipFill rotWithShape="1">
          <a:blip r:embed="rId5">
            <a:alphaModFix/>
          </a:blip>
          <a:srcRect b="0" l="0" r="0" t="0"/>
          <a:stretch/>
        </p:blipFill>
        <p:spPr>
          <a:xfrm>
            <a:off x="1574800" y="5156200"/>
            <a:ext cx="5511800" cy="787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8" name="Google Shape;128;p6"/>
          <p:cNvSpPr txBox="1"/>
          <p:nvPr/>
        </p:nvSpPr>
        <p:spPr>
          <a:xfrm>
            <a:off x="0" y="0"/>
            <a:ext cx="9144000" cy="6858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9" name="Google Shape;129;p6"/>
          <p:cNvSpPr txBox="1"/>
          <p:nvPr/>
        </p:nvSpPr>
        <p:spPr>
          <a:xfrm>
            <a:off x="1217612" y="1371600"/>
            <a:ext cx="60118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  </a:t>
            </a:r>
            <a:r>
              <a:rPr b="1" i="1" lang="en-US" sz="2000" u="none" cap="none" strike="noStrike">
                <a:solidFill>
                  <a:schemeClr val="dk1"/>
                </a:solidFill>
                <a:latin typeface="Times New Roman"/>
                <a:ea typeface="Times New Roman"/>
                <a:cs typeface="Times New Roman"/>
                <a:sym typeface="Times New Roman"/>
              </a:rPr>
              <a:t>Locking and unlocking with the same key</a:t>
            </a:r>
            <a:endParaRPr b="0" i="0" sz="1400" u="none" cap="none" strike="noStrike">
              <a:solidFill>
                <a:srgbClr val="000000"/>
              </a:solidFill>
              <a:latin typeface="Arial"/>
              <a:ea typeface="Arial"/>
              <a:cs typeface="Arial"/>
              <a:sym typeface="Arial"/>
            </a:endParaRPr>
          </a:p>
        </p:txBody>
      </p:sp>
      <p:pic>
        <p:nvPicPr>
          <p:cNvPr id="130" name="Google Shape;130;p6"/>
          <p:cNvPicPr preferRelativeResize="0"/>
          <p:nvPr/>
        </p:nvPicPr>
        <p:blipFill rotWithShape="1">
          <a:blip r:embed="rId3">
            <a:alphaModFix/>
          </a:blip>
          <a:srcRect b="0" l="0" r="0" t="0"/>
          <a:stretch/>
        </p:blipFill>
        <p:spPr>
          <a:xfrm>
            <a:off x="1079500" y="2643187"/>
            <a:ext cx="6983412" cy="2843212"/>
          </a:xfrm>
          <a:prstGeom prst="rect">
            <a:avLst/>
          </a:prstGeom>
          <a:noFill/>
          <a:ln>
            <a:noFill/>
          </a:ln>
        </p:spPr>
      </p:pic>
      <p:sp>
        <p:nvSpPr>
          <p:cNvPr id="131" name="Google Shape;131;p6"/>
          <p:cNvSpPr txBox="1"/>
          <p:nvPr/>
        </p:nvSpPr>
        <p:spPr>
          <a:xfrm>
            <a:off x="76200" y="30162"/>
            <a:ext cx="29606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8" name="Google Shape;138;p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9" name="Google Shape;139;p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0" name="Google Shape;140;p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1" name="Google Shape;141;p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2" name="Google Shape;142;p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3" name="Google Shape;143;p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4" name="Google Shape;144;p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5" name="Google Shape;145;p7"/>
          <p:cNvSpPr txBox="1"/>
          <p:nvPr/>
        </p:nvSpPr>
        <p:spPr>
          <a:xfrm>
            <a:off x="1143000" y="0"/>
            <a:ext cx="51292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3.1.1     Kerckhoff’s Principle</a:t>
            </a:r>
            <a:endParaRPr b="0" i="0" sz="1400" u="none" cap="none" strike="noStrike">
              <a:solidFill>
                <a:srgbClr val="000000"/>
              </a:solidFill>
              <a:latin typeface="Arial"/>
              <a:ea typeface="Arial"/>
              <a:cs typeface="Arial"/>
              <a:sym typeface="Arial"/>
            </a:endParaRPr>
          </a:p>
        </p:txBody>
      </p:sp>
      <p:sp>
        <p:nvSpPr>
          <p:cNvPr id="146" name="Google Shape;146;p7"/>
          <p:cNvSpPr txBox="1"/>
          <p:nvPr/>
        </p:nvSpPr>
        <p:spPr>
          <a:xfrm>
            <a:off x="152400" y="1143000"/>
            <a:ext cx="8839200" cy="222726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Based on </a:t>
            </a:r>
            <a:r>
              <a:rPr b="1" i="0" lang="en-US" sz="2800" u="none" cap="none" strike="noStrike">
                <a:solidFill>
                  <a:schemeClr val="hlink"/>
                </a:solidFill>
                <a:latin typeface="Times New Roman"/>
                <a:ea typeface="Times New Roman"/>
                <a:cs typeface="Times New Roman"/>
                <a:sym typeface="Times New Roman"/>
              </a:rPr>
              <a:t>Kerckhoff’s principle</a:t>
            </a:r>
            <a:r>
              <a:rPr b="1" i="0" lang="en-US" sz="2800" u="none" cap="none" strike="noStrike">
                <a:solidFill>
                  <a:schemeClr val="dk1"/>
                </a:solidFill>
                <a:latin typeface="Times New Roman"/>
                <a:ea typeface="Times New Roman"/>
                <a:cs typeface="Times New Roman"/>
                <a:sym typeface="Times New Roman"/>
              </a:rPr>
              <a:t>, one should always assume that the adversary, Eve, knows the encryption/decryption algorithm. The resistance of the cipher to attack must be based only on the secrecy of the key.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3" name="Google Shape;153;p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54" name="Google Shape;154;p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55" name="Google Shape;155;p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56" name="Google Shape;156;p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57" name="Google Shape;157;p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58" name="Google Shape;158;p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59" name="Google Shape;159;p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60" name="Google Shape;160;p8"/>
          <p:cNvSpPr txBox="1"/>
          <p:nvPr/>
        </p:nvSpPr>
        <p:spPr>
          <a:xfrm>
            <a:off x="1143000" y="0"/>
            <a:ext cx="378777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3.1.2     Cryptanalysis</a:t>
            </a:r>
            <a:endParaRPr b="0" i="0" sz="1400" u="none" cap="none" strike="noStrike">
              <a:solidFill>
                <a:srgbClr val="000000"/>
              </a:solidFill>
              <a:latin typeface="Arial"/>
              <a:ea typeface="Arial"/>
              <a:cs typeface="Arial"/>
              <a:sym typeface="Arial"/>
            </a:endParaRPr>
          </a:p>
        </p:txBody>
      </p:sp>
      <p:sp>
        <p:nvSpPr>
          <p:cNvPr id="161" name="Google Shape;161;p8"/>
          <p:cNvSpPr txBox="1"/>
          <p:nvPr/>
        </p:nvSpPr>
        <p:spPr>
          <a:xfrm>
            <a:off x="152400" y="1066800"/>
            <a:ext cx="8839200" cy="137318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As cryptography is the science and art of creating secret codes, </a:t>
            </a:r>
            <a:r>
              <a:rPr b="1" i="0" lang="en-US" sz="2800" u="none" cap="none" strike="noStrike">
                <a:solidFill>
                  <a:schemeClr val="hlink"/>
                </a:solidFill>
                <a:latin typeface="Times New Roman"/>
                <a:ea typeface="Times New Roman"/>
                <a:cs typeface="Times New Roman"/>
                <a:sym typeface="Times New Roman"/>
              </a:rPr>
              <a:t>cryptanalysis</a:t>
            </a:r>
            <a:r>
              <a:rPr b="1" i="0" lang="en-US" sz="2800" u="none" cap="none" strike="noStrike">
                <a:solidFill>
                  <a:schemeClr val="dk1"/>
                </a:solidFill>
                <a:latin typeface="Times New Roman"/>
                <a:ea typeface="Times New Roman"/>
                <a:cs typeface="Times New Roman"/>
                <a:sym typeface="Times New Roman"/>
              </a:rPr>
              <a:t> is the science and art of breaking those codes. </a:t>
            </a:r>
            <a:endParaRPr b="0" i="0" sz="1400" u="none" cap="none" strike="noStrike">
              <a:solidFill>
                <a:srgbClr val="000000"/>
              </a:solidFill>
              <a:latin typeface="Arial"/>
              <a:ea typeface="Arial"/>
              <a:cs typeface="Arial"/>
              <a:sym typeface="Arial"/>
            </a:endParaRPr>
          </a:p>
        </p:txBody>
      </p:sp>
      <p:sp>
        <p:nvSpPr>
          <p:cNvPr id="162" name="Google Shape;162;p8"/>
          <p:cNvSpPr txBox="1"/>
          <p:nvPr/>
        </p:nvSpPr>
        <p:spPr>
          <a:xfrm>
            <a:off x="2908300" y="3048000"/>
            <a:ext cx="38735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3.3  </a:t>
            </a:r>
            <a:r>
              <a:rPr b="1" i="1" lang="en-US" sz="2000" u="none" cap="none" strike="noStrike">
                <a:solidFill>
                  <a:schemeClr val="dk1"/>
                </a:solidFill>
                <a:latin typeface="Times New Roman"/>
                <a:ea typeface="Times New Roman"/>
                <a:cs typeface="Times New Roman"/>
                <a:sym typeface="Times New Roman"/>
              </a:rPr>
              <a:t>Cryptanalysis attacks</a:t>
            </a:r>
            <a:endParaRPr b="0" i="0" sz="1400" u="none" cap="none" strike="noStrike">
              <a:solidFill>
                <a:srgbClr val="000000"/>
              </a:solidFill>
              <a:latin typeface="Arial"/>
              <a:ea typeface="Arial"/>
              <a:cs typeface="Arial"/>
              <a:sym typeface="Arial"/>
            </a:endParaRPr>
          </a:p>
        </p:txBody>
      </p:sp>
      <p:pic>
        <p:nvPicPr>
          <p:cNvPr id="163" name="Google Shape;163;p8"/>
          <p:cNvPicPr preferRelativeResize="0"/>
          <p:nvPr/>
        </p:nvPicPr>
        <p:blipFill rotWithShape="1">
          <a:blip r:embed="rId3">
            <a:alphaModFix/>
          </a:blip>
          <a:srcRect b="0" l="0" r="0" t="0"/>
          <a:stretch/>
        </p:blipFill>
        <p:spPr>
          <a:xfrm>
            <a:off x="457200" y="3821112"/>
            <a:ext cx="7989887" cy="20462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type="title"/>
          </p:nvPr>
        </p:nvSpPr>
        <p:spPr>
          <a:xfrm>
            <a:off x="628650" y="365125"/>
            <a:ext cx="7886700" cy="13255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Cryptanalysis</a:t>
            </a:r>
            <a:endParaRPr/>
          </a:p>
        </p:txBody>
      </p:sp>
      <p:sp>
        <p:nvSpPr>
          <p:cNvPr id="170" name="Google Shape;170;p9"/>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800"/>
              <a:buFont typeface="Noto Sans Symbols"/>
              <a:buChar char="■"/>
            </a:pPr>
            <a:r>
              <a:rPr b="0" i="0" lang="en-US" sz="3000" u="none">
                <a:solidFill>
                  <a:schemeClr val="dk1"/>
                </a:solidFill>
                <a:latin typeface="Tahoma"/>
                <a:ea typeface="Tahoma"/>
                <a:cs typeface="Tahoma"/>
                <a:sym typeface="Tahoma"/>
              </a:rPr>
              <a:t>Objective: </a:t>
            </a:r>
            <a:r>
              <a:rPr b="0" i="0" lang="en-US" sz="3000" u="none">
                <a:solidFill>
                  <a:schemeClr val="dk1"/>
                </a:solidFill>
                <a:latin typeface="Times"/>
                <a:ea typeface="Times"/>
                <a:cs typeface="Times"/>
                <a:sym typeface="Times"/>
              </a:rPr>
              <a:t>to recover the plaintext of a ciphertext </a:t>
            </a:r>
            <a:r>
              <a:rPr b="0" i="0" lang="en-US" sz="3000" u="none">
                <a:solidFill>
                  <a:schemeClr val="dk1"/>
                </a:solidFill>
                <a:latin typeface="Tahoma"/>
                <a:ea typeface="Tahoma"/>
                <a:cs typeface="Tahoma"/>
                <a:sym typeface="Tahoma"/>
              </a:rPr>
              <a:t>or, more typically, to recover the secret key.</a:t>
            </a:r>
            <a:endParaRPr/>
          </a:p>
          <a:p>
            <a:pPr indent="-308610" lvl="0" marL="342900" rtl="0" algn="l">
              <a:lnSpc>
                <a:spcPct val="90000"/>
              </a:lnSpc>
              <a:spcBef>
                <a:spcPts val="180"/>
              </a:spcBef>
              <a:spcAft>
                <a:spcPts val="0"/>
              </a:spcAft>
              <a:buClr>
                <a:schemeClr val="folHlink"/>
              </a:buClr>
              <a:buSzPts val="540"/>
              <a:buFont typeface="Noto Sans Symbols"/>
              <a:buNone/>
            </a:pPr>
            <a:r>
              <a:t/>
            </a:r>
            <a:endParaRPr b="0" i="0" sz="900" u="none">
              <a:solidFill>
                <a:schemeClr val="dk1"/>
              </a:solidFill>
              <a:latin typeface="Tahoma"/>
              <a:ea typeface="Tahoma"/>
              <a:cs typeface="Tahoma"/>
              <a:sym typeface="Tahoma"/>
            </a:endParaRPr>
          </a:p>
          <a:p>
            <a:pPr indent="-342900" lvl="0" marL="342900" rtl="0" algn="l">
              <a:lnSpc>
                <a:spcPct val="90000"/>
              </a:lnSpc>
              <a:spcBef>
                <a:spcPts val="600"/>
              </a:spcBef>
              <a:spcAft>
                <a:spcPts val="0"/>
              </a:spcAft>
              <a:buClr>
                <a:schemeClr val="folHlink"/>
              </a:buClr>
              <a:buSzPts val="1800"/>
              <a:buFont typeface="Noto Sans Symbols"/>
              <a:buChar char="■"/>
            </a:pPr>
            <a:r>
              <a:rPr b="0" i="0" lang="en-US" sz="3000" u="none">
                <a:solidFill>
                  <a:srgbClr val="C00000"/>
                </a:solidFill>
                <a:latin typeface="Tahoma"/>
                <a:ea typeface="Tahoma"/>
                <a:cs typeface="Tahoma"/>
                <a:sym typeface="Tahoma"/>
              </a:rPr>
              <a:t>Kerkhoff’s principle: </a:t>
            </a:r>
            <a:r>
              <a:rPr b="0" i="0" lang="en-US" sz="3000" u="none">
                <a:solidFill>
                  <a:schemeClr val="dk1"/>
                </a:solidFill>
                <a:latin typeface="Tahoma"/>
                <a:ea typeface="Tahoma"/>
                <a:cs typeface="Tahoma"/>
                <a:sym typeface="Tahoma"/>
              </a:rPr>
              <a:t>the adversary knows all details about a cryptosystem except the secret key.</a:t>
            </a:r>
            <a:endParaRPr/>
          </a:p>
          <a:p>
            <a:pPr indent="-304800" lvl="0" marL="342900" rtl="0" algn="l">
              <a:lnSpc>
                <a:spcPct val="90000"/>
              </a:lnSpc>
              <a:spcBef>
                <a:spcPts val="200"/>
              </a:spcBef>
              <a:spcAft>
                <a:spcPts val="0"/>
              </a:spcAft>
              <a:buClr>
                <a:schemeClr val="folHlink"/>
              </a:buClr>
              <a:buSzPts val="600"/>
              <a:buFont typeface="Noto Sans Symbols"/>
              <a:buNone/>
            </a:pPr>
            <a:r>
              <a:t/>
            </a:r>
            <a:endParaRPr b="0" i="0" sz="1000" u="none">
              <a:solidFill>
                <a:schemeClr val="dk1"/>
              </a:solidFill>
              <a:latin typeface="Tahoma"/>
              <a:ea typeface="Tahoma"/>
              <a:cs typeface="Tahoma"/>
              <a:sym typeface="Tahoma"/>
            </a:endParaRPr>
          </a:p>
          <a:p>
            <a:pPr indent="-342900" lvl="0" marL="342900" rtl="0" algn="l">
              <a:lnSpc>
                <a:spcPct val="90000"/>
              </a:lnSpc>
              <a:spcBef>
                <a:spcPts val="600"/>
              </a:spcBef>
              <a:spcAft>
                <a:spcPts val="0"/>
              </a:spcAft>
              <a:buClr>
                <a:schemeClr val="folHlink"/>
              </a:buClr>
              <a:buSzPts val="1800"/>
              <a:buFont typeface="Noto Sans Symbols"/>
              <a:buChar char="■"/>
            </a:pPr>
            <a:r>
              <a:rPr b="0" i="0" lang="en-US" sz="3000" u="none">
                <a:solidFill>
                  <a:schemeClr val="dk1"/>
                </a:solidFill>
                <a:latin typeface="Tahoma"/>
                <a:ea typeface="Tahoma"/>
                <a:cs typeface="Tahoma"/>
                <a:sym typeface="Tahoma"/>
              </a:rPr>
              <a:t>Two general approaches:</a:t>
            </a:r>
            <a:endParaRPr/>
          </a:p>
          <a:p>
            <a:pPr indent="-285750" lvl="1" marL="742950" rtl="0" algn="l">
              <a:lnSpc>
                <a:spcPct val="90000"/>
              </a:lnSpc>
              <a:spcBef>
                <a:spcPts val="520"/>
              </a:spcBef>
              <a:spcAft>
                <a:spcPts val="0"/>
              </a:spcAft>
              <a:buClr>
                <a:schemeClr val="hlink"/>
              </a:buClr>
              <a:buSzPts val="1430"/>
              <a:buFont typeface="Noto Sans Symbols"/>
              <a:buChar char="■"/>
            </a:pPr>
            <a:r>
              <a:rPr b="0" i="0" lang="en-US" sz="2600" u="none">
                <a:solidFill>
                  <a:srgbClr val="C00000"/>
                </a:solidFill>
                <a:latin typeface="Tahoma"/>
                <a:ea typeface="Tahoma"/>
                <a:cs typeface="Tahoma"/>
                <a:sym typeface="Tahoma"/>
              </a:rPr>
              <a:t>brute-force</a:t>
            </a:r>
            <a:r>
              <a:rPr b="0" i="0" lang="en-US" sz="2600" u="none">
                <a:solidFill>
                  <a:schemeClr val="dk1"/>
                </a:solidFill>
                <a:latin typeface="Tahoma"/>
                <a:ea typeface="Tahoma"/>
                <a:cs typeface="Tahoma"/>
                <a:sym typeface="Tahoma"/>
              </a:rPr>
              <a:t> attack</a:t>
            </a:r>
            <a:endParaRPr/>
          </a:p>
          <a:p>
            <a:pPr indent="-285750" lvl="1" marL="742950" rtl="0" algn="l">
              <a:lnSpc>
                <a:spcPct val="90000"/>
              </a:lnSpc>
              <a:spcBef>
                <a:spcPts val="520"/>
              </a:spcBef>
              <a:spcAft>
                <a:spcPts val="0"/>
              </a:spcAft>
              <a:buClr>
                <a:schemeClr val="hlink"/>
              </a:buClr>
              <a:buSzPts val="1430"/>
              <a:buFont typeface="Noto Sans Symbols"/>
              <a:buChar char="■"/>
            </a:pPr>
            <a:r>
              <a:rPr b="0" i="0" lang="en-US" sz="2600" u="none">
                <a:solidFill>
                  <a:srgbClr val="C00000"/>
                </a:solidFill>
                <a:latin typeface="Tahoma"/>
                <a:ea typeface="Tahoma"/>
                <a:cs typeface="Tahoma"/>
                <a:sym typeface="Tahoma"/>
              </a:rPr>
              <a:t>non-brute-force</a:t>
            </a:r>
            <a:r>
              <a:rPr b="0" i="0" lang="en-US" sz="2600" u="none">
                <a:solidFill>
                  <a:schemeClr val="dk1"/>
                </a:solidFill>
                <a:latin typeface="Tahoma"/>
                <a:ea typeface="Tahoma"/>
                <a:cs typeface="Tahoma"/>
                <a:sym typeface="Tahoma"/>
              </a:rPr>
              <a:t> attack (cryptanalytic attack)</a:t>
            </a:r>
            <a:endParaRPr/>
          </a:p>
          <a:p>
            <a:pPr indent="-243840" lvl="0" marL="342900" rtl="0" algn="l">
              <a:lnSpc>
                <a:spcPct val="100000"/>
              </a:lnSpc>
              <a:spcBef>
                <a:spcPts val="520"/>
              </a:spcBef>
              <a:spcAft>
                <a:spcPts val="0"/>
              </a:spcAft>
              <a:buSzPts val="1560"/>
              <a:buNone/>
            </a:pPr>
            <a:r>
              <a:t/>
            </a:r>
            <a:endParaRPr b="0" i="0" sz="2600" u="none">
              <a:solidFill>
                <a:schemeClr val="dk1"/>
              </a:solidFill>
              <a:latin typeface="Tahoma"/>
              <a:ea typeface="Tahoma"/>
              <a:cs typeface="Tahoma"/>
              <a:sym typeface="Tahoma"/>
            </a:endParaRPr>
          </a:p>
        </p:txBody>
      </p:sp>
      <p:sp>
        <p:nvSpPr>
          <p:cNvPr id="171" name="Google Shape;171;p9"/>
          <p:cNvSpPr txBox="1"/>
          <p:nvPr/>
        </p:nvSpPr>
        <p:spPr>
          <a:xfrm>
            <a:off x="0" y="0"/>
            <a:ext cx="0" cy="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Calibri"/>
              <a:buNone/>
            </a:pPr>
            <a:fld id="{00000000-1234-1234-1234-123412341234}" type="slidenum">
              <a:rPr b="1" baseline="-25000" i="1"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nvSpPr>
        <p:spPr>
          <a:xfrm>
            <a:off x="0" y="0"/>
            <a:ext cx="0" cy="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98989"/>
              </a:buClr>
              <a:buSzPts val="1200"/>
              <a:buFont typeface="Calibri"/>
              <a:buNone/>
            </a:pPr>
            <a:fld id="{00000000-1234-1234-1234-123412341234}" type="slidenum">
              <a:rPr b="1" baseline="-25000" i="1"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177" name="Google Shape;177;p10"/>
          <p:cNvSpPr txBox="1"/>
          <p:nvPr>
            <p:ph type="title"/>
          </p:nvPr>
        </p:nvSpPr>
        <p:spPr>
          <a:xfrm>
            <a:off x="628650" y="365125"/>
            <a:ext cx="7886700" cy="13255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Cryptanalytic Attacks</a:t>
            </a:r>
            <a:endParaRPr/>
          </a:p>
        </p:txBody>
      </p:sp>
      <p:sp>
        <p:nvSpPr>
          <p:cNvPr id="178" name="Google Shape;178;p1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342900" lvl="0" marL="342900" rtl="0" algn="l">
              <a:lnSpc>
                <a:spcPct val="125000"/>
              </a:lnSpc>
              <a:spcBef>
                <a:spcPts val="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May be classified by how much information needed by the attacker:</a:t>
            </a:r>
            <a:endParaRPr/>
          </a:p>
          <a:p>
            <a:pPr indent="-285750" lvl="1" marL="742950" rtl="0" algn="l">
              <a:lnSpc>
                <a:spcPct val="125000"/>
              </a:lnSpc>
              <a:spcBef>
                <a:spcPts val="560"/>
              </a:spcBef>
              <a:spcAft>
                <a:spcPts val="0"/>
              </a:spcAft>
              <a:buClr>
                <a:schemeClr val="hlink"/>
              </a:buClr>
              <a:buSzPts val="1540"/>
              <a:buFont typeface="Noto Sans Symbols"/>
              <a:buChar char="■"/>
            </a:pPr>
            <a:r>
              <a:rPr b="0" i="0" lang="en-US" sz="2800" u="none">
                <a:solidFill>
                  <a:schemeClr val="dk1"/>
                </a:solidFill>
                <a:latin typeface="Tahoma"/>
                <a:ea typeface="Tahoma"/>
                <a:cs typeface="Tahoma"/>
                <a:sym typeface="Tahoma"/>
              </a:rPr>
              <a:t>Ciphertext-only attack</a:t>
            </a:r>
            <a:endParaRPr/>
          </a:p>
          <a:p>
            <a:pPr indent="-285750" lvl="1" marL="742950" rtl="0" algn="l">
              <a:lnSpc>
                <a:spcPct val="125000"/>
              </a:lnSpc>
              <a:spcBef>
                <a:spcPts val="560"/>
              </a:spcBef>
              <a:spcAft>
                <a:spcPts val="0"/>
              </a:spcAft>
              <a:buClr>
                <a:schemeClr val="hlink"/>
              </a:buClr>
              <a:buSzPts val="1540"/>
              <a:buFont typeface="Noto Sans Symbols"/>
              <a:buChar char="■"/>
            </a:pPr>
            <a:r>
              <a:rPr b="0" i="0" lang="en-US" sz="2800" u="none">
                <a:solidFill>
                  <a:schemeClr val="dk1"/>
                </a:solidFill>
                <a:latin typeface="Tahoma"/>
                <a:ea typeface="Tahoma"/>
                <a:cs typeface="Tahoma"/>
                <a:sym typeface="Tahoma"/>
              </a:rPr>
              <a:t>Known-plaintext attack</a:t>
            </a:r>
            <a:endParaRPr/>
          </a:p>
          <a:p>
            <a:pPr indent="-285750" lvl="1" marL="742950" rtl="0" algn="l">
              <a:lnSpc>
                <a:spcPct val="125000"/>
              </a:lnSpc>
              <a:spcBef>
                <a:spcPts val="560"/>
              </a:spcBef>
              <a:spcAft>
                <a:spcPts val="0"/>
              </a:spcAft>
              <a:buClr>
                <a:schemeClr val="hlink"/>
              </a:buClr>
              <a:buSzPts val="1540"/>
              <a:buFont typeface="Noto Sans Symbols"/>
              <a:buChar char="■"/>
            </a:pPr>
            <a:r>
              <a:rPr b="0" i="0" lang="en-US" sz="2800" u="none">
                <a:solidFill>
                  <a:schemeClr val="dk1"/>
                </a:solidFill>
                <a:latin typeface="Tahoma"/>
                <a:ea typeface="Tahoma"/>
                <a:cs typeface="Tahoma"/>
                <a:sym typeface="Tahoma"/>
              </a:rPr>
              <a:t>Chosen-plaintext attack </a:t>
            </a:r>
            <a:endParaRPr/>
          </a:p>
          <a:p>
            <a:pPr indent="-285750" lvl="1" marL="742950" rtl="0" algn="l">
              <a:lnSpc>
                <a:spcPct val="125000"/>
              </a:lnSpc>
              <a:spcBef>
                <a:spcPts val="560"/>
              </a:spcBef>
              <a:spcAft>
                <a:spcPts val="0"/>
              </a:spcAft>
              <a:buClr>
                <a:schemeClr val="hlink"/>
              </a:buClr>
              <a:buSzPts val="1540"/>
              <a:buFont typeface="Noto Sans Symbols"/>
              <a:buChar char="■"/>
            </a:pPr>
            <a:r>
              <a:rPr b="0" i="0" lang="en-US" sz="2800" u="none">
                <a:solidFill>
                  <a:schemeClr val="dk1"/>
                </a:solidFill>
                <a:latin typeface="Tahoma"/>
                <a:ea typeface="Tahoma"/>
                <a:cs typeface="Tahoma"/>
                <a:sym typeface="Tahoma"/>
              </a:rPr>
              <a:t>Chosen-ciphertext attack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5" name="Google Shape;185;p1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86" name="Google Shape;186;p1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87" name="Google Shape;187;p1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88" name="Google Shape;188;p1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89" name="Google Shape;189;p1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90" name="Google Shape;190;p1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91" name="Google Shape;191;p1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92" name="Google Shape;192;p11"/>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3.2.1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93" name="Google Shape;193;p11"/>
          <p:cNvSpPr txBox="1"/>
          <p:nvPr/>
        </p:nvSpPr>
        <p:spPr>
          <a:xfrm>
            <a:off x="152400" y="1076325"/>
            <a:ext cx="8839200" cy="8318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Eve has intercepted the ciphertext “UVACLYFZLJBYL”. Can she find out the key?? How??</a:t>
            </a:r>
            <a:endParaRPr b="0" i="0" sz="1400" u="none" cap="none" strike="noStrike">
              <a:solidFill>
                <a:srgbClr val="000000"/>
              </a:solidFill>
              <a:latin typeface="Arial"/>
              <a:ea typeface="Arial"/>
              <a:cs typeface="Arial"/>
              <a:sym typeface="Arial"/>
            </a:endParaRPr>
          </a:p>
        </p:txBody>
      </p:sp>
      <p:sp>
        <p:nvSpPr>
          <p:cNvPr id="194" name="Google Shape;194;p11"/>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3.5</a:t>
            </a:r>
            <a:endParaRPr b="0" i="0" sz="1400" u="none" cap="none" strike="noStrike">
              <a:solidFill>
                <a:srgbClr val="000000"/>
              </a:solidFill>
              <a:latin typeface="Arial"/>
              <a:ea typeface="Arial"/>
              <a:cs typeface="Arial"/>
              <a:sym typeface="Arial"/>
            </a:endParaRPr>
          </a:p>
        </p:txBody>
      </p:sp>
      <p:sp>
        <p:nvSpPr>
          <p:cNvPr id="195" name="Google Shape;195;p11"/>
          <p:cNvSpPr txBox="1"/>
          <p:nvPr/>
        </p:nvSpPr>
        <p:spPr>
          <a:xfrm>
            <a:off x="152400" y="24384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Eve tries keys from 1 to 7. With a key of 7, the plaintext is “not very secure”, which makes sense.</a:t>
            </a:r>
            <a:endParaRPr b="0" i="0" sz="1400" u="none" cap="none" strike="noStrike">
              <a:solidFill>
                <a:srgbClr val="000000"/>
              </a:solidFill>
              <a:latin typeface="Arial"/>
              <a:ea typeface="Arial"/>
              <a:cs typeface="Arial"/>
              <a:sym typeface="Arial"/>
            </a:endParaRPr>
          </a:p>
        </p:txBody>
      </p:sp>
      <p:sp>
        <p:nvSpPr>
          <p:cNvPr id="196" name="Google Shape;196;p11"/>
          <p:cNvSpPr txBox="1"/>
          <p:nvPr/>
        </p:nvSpPr>
        <p:spPr>
          <a:xfrm>
            <a:off x="152400" y="1905000"/>
            <a:ext cx="82296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0" lang="en-US" sz="2800" u="none" cap="none" strike="noStrike">
                <a:solidFill>
                  <a:schemeClr val="hlink"/>
                </a:solidFill>
                <a:latin typeface="Times New Roman"/>
                <a:ea typeface="Times New Roman"/>
                <a:cs typeface="Times New Roman"/>
                <a:sym typeface="Times New Roman"/>
              </a:rPr>
              <a:t>Solution 1</a:t>
            </a:r>
            <a:endParaRPr b="0" i="0" sz="1400" u="none" cap="none" strike="noStrike">
              <a:solidFill>
                <a:srgbClr val="000000"/>
              </a:solidFill>
              <a:latin typeface="Arial"/>
              <a:ea typeface="Arial"/>
              <a:cs typeface="Arial"/>
              <a:sym typeface="Arial"/>
            </a:endParaRPr>
          </a:p>
        </p:txBody>
      </p:sp>
      <p:pic>
        <p:nvPicPr>
          <p:cNvPr id="197" name="Google Shape;197;p11"/>
          <p:cNvPicPr preferRelativeResize="0"/>
          <p:nvPr/>
        </p:nvPicPr>
        <p:blipFill rotWithShape="1">
          <a:blip r:embed="rId3">
            <a:alphaModFix/>
          </a:blip>
          <a:srcRect b="0" l="0" r="0" t="0"/>
          <a:stretch/>
        </p:blipFill>
        <p:spPr>
          <a:xfrm>
            <a:off x="663575" y="3429000"/>
            <a:ext cx="7413625" cy="3155950"/>
          </a:xfrm>
          <a:prstGeom prst="rect">
            <a:avLst/>
          </a:prstGeom>
          <a:noFill/>
          <a:ln>
            <a:noFill/>
          </a:ln>
        </p:spPr>
      </p:pic>
      <p:sp>
        <p:nvSpPr>
          <p:cNvPr id="198" name="Google Shape;198;p11"/>
          <p:cNvSpPr txBox="1"/>
          <p:nvPr/>
        </p:nvSpPr>
        <p:spPr>
          <a:xfrm>
            <a:off x="725487" y="5003800"/>
            <a:ext cx="257175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Times New Roman"/>
              <a:buNone/>
            </a:pPr>
            <a:r>
              <a:rPr b="1" baseline="-25000" i="1" lang="en-US" sz="3600" u="none" cap="none" strike="noStrike">
                <a:solidFill>
                  <a:srgbClr val="FF0000"/>
                </a:solidFill>
                <a:latin typeface="Times New Roman"/>
                <a:ea typeface="Times New Roman"/>
                <a:cs typeface="Times New Roman"/>
                <a:sym typeface="Times New Roman"/>
              </a:rPr>
              <a:t>BRUTE FORCE!!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animEffect filter="fade" transition="in">
                                      <p:cBhvr>
                                        <p:cTn dur="1000"/>
                                        <p:tgtEl>
                                          <p:spTgt spid="19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4" name="Google Shape;204;p12"/>
          <p:cNvSpPr txBox="1"/>
          <p:nvPr/>
        </p:nvSpPr>
        <p:spPr>
          <a:xfrm>
            <a:off x="762000" y="76200"/>
            <a:ext cx="1517650" cy="6667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t/>
            </a:r>
            <a:endParaRPr b="1" baseline="-25000" i="1" sz="280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FF0000"/>
              </a:buClr>
              <a:buSzPts val="2800"/>
              <a:buFont typeface="Times New Roman"/>
              <a:buNone/>
            </a:pPr>
            <a:r>
              <a:rPr b="1" baseline="-25000" i="1" lang="en-US" sz="2800" u="none" cap="none" strike="noStrike">
                <a:solidFill>
                  <a:srgbClr val="FF0000"/>
                </a:solidFill>
                <a:latin typeface="Times New Roman"/>
                <a:ea typeface="Times New Roman"/>
                <a:cs typeface="Times New Roman"/>
                <a:sym typeface="Times New Roman"/>
              </a:rPr>
              <a:t>Solution 2 -   </a:t>
            </a:r>
            <a:endParaRPr b="0" i="0" sz="1400" u="none" cap="none" strike="noStrike">
              <a:solidFill>
                <a:srgbClr val="000000"/>
              </a:solidFill>
              <a:latin typeface="Arial"/>
              <a:ea typeface="Arial"/>
              <a:cs typeface="Arial"/>
              <a:sym typeface="Arial"/>
            </a:endParaRPr>
          </a:p>
        </p:txBody>
      </p:sp>
      <p:pic>
        <p:nvPicPr>
          <p:cNvPr id="205" name="Google Shape;205;p12"/>
          <p:cNvPicPr preferRelativeResize="0"/>
          <p:nvPr/>
        </p:nvPicPr>
        <p:blipFill rotWithShape="1">
          <a:blip r:embed="rId3">
            <a:alphaModFix/>
          </a:blip>
          <a:srcRect b="0" l="0" r="0" t="0"/>
          <a:stretch/>
        </p:blipFill>
        <p:spPr>
          <a:xfrm>
            <a:off x="952500" y="1371600"/>
            <a:ext cx="7239000" cy="3141662"/>
          </a:xfrm>
          <a:prstGeom prst="rect">
            <a:avLst/>
          </a:prstGeom>
          <a:noFill/>
          <a:ln>
            <a:noFill/>
          </a:ln>
        </p:spPr>
      </p:pic>
      <p:sp>
        <p:nvSpPr>
          <p:cNvPr id="206" name="Google Shape;206;p12"/>
          <p:cNvSpPr txBox="1"/>
          <p:nvPr/>
        </p:nvSpPr>
        <p:spPr>
          <a:xfrm>
            <a:off x="2895600" y="4618037"/>
            <a:ext cx="2640012" cy="503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4000"/>
              <a:buFont typeface="Times New Roman"/>
              <a:buNone/>
            </a:pPr>
            <a:r>
              <a:rPr b="1" baseline="-25000" i="1" lang="en-US" sz="4000" u="none" cap="none" strike="noStrike">
                <a:solidFill>
                  <a:srgbClr val="FF0000"/>
                </a:solidFill>
                <a:latin typeface="Times New Roman"/>
                <a:ea typeface="Times New Roman"/>
                <a:cs typeface="Times New Roman"/>
                <a:sym typeface="Times New Roman"/>
              </a:rPr>
              <a:t>Statistical Attack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3" name="Google Shape;213;p1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14" name="Google Shape;214;p1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15" name="Google Shape;215;p1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16" name="Google Shape;216;p1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17" name="Google Shape;217;p1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18" name="Google Shape;218;p1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19" name="Google Shape;219;p1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20" name="Google Shape;220;p1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3.1.2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pic>
        <p:nvPicPr>
          <p:cNvPr id="221" name="Google Shape;221;p13"/>
          <p:cNvPicPr preferRelativeResize="0"/>
          <p:nvPr/>
        </p:nvPicPr>
        <p:blipFill rotWithShape="1">
          <a:blip r:embed="rId3">
            <a:alphaModFix/>
          </a:blip>
          <a:srcRect b="0" l="0" r="0" t="0"/>
          <a:stretch/>
        </p:blipFill>
        <p:spPr>
          <a:xfrm>
            <a:off x="914400" y="2819400"/>
            <a:ext cx="7002462" cy="2032000"/>
          </a:xfrm>
          <a:prstGeom prst="rect">
            <a:avLst/>
          </a:prstGeom>
          <a:noFill/>
          <a:ln>
            <a:noFill/>
          </a:ln>
        </p:spPr>
      </p:pic>
      <p:sp>
        <p:nvSpPr>
          <p:cNvPr id="222" name="Google Shape;222;p13"/>
          <p:cNvSpPr txBox="1"/>
          <p:nvPr/>
        </p:nvSpPr>
        <p:spPr>
          <a:xfrm>
            <a:off x="2185987" y="2057400"/>
            <a:ext cx="39862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3.4  </a:t>
            </a:r>
            <a:r>
              <a:rPr b="1" i="1" lang="en-US" sz="2000" u="none" cap="none" strike="noStrike">
                <a:solidFill>
                  <a:schemeClr val="dk1"/>
                </a:solidFill>
                <a:latin typeface="Times New Roman"/>
                <a:ea typeface="Times New Roman"/>
                <a:cs typeface="Times New Roman"/>
                <a:sym typeface="Times New Roman"/>
              </a:rPr>
              <a:t>Ciphertext-only attack</a:t>
            </a:r>
            <a:endParaRPr b="0" i="0" sz="1400" u="none" cap="none" strike="noStrike">
              <a:solidFill>
                <a:srgbClr val="000000"/>
              </a:solidFill>
              <a:latin typeface="Arial"/>
              <a:ea typeface="Arial"/>
              <a:cs typeface="Arial"/>
              <a:sym typeface="Arial"/>
            </a:endParaRPr>
          </a:p>
        </p:txBody>
      </p:sp>
      <p:sp>
        <p:nvSpPr>
          <p:cNvPr id="223" name="Google Shape;223;p13"/>
          <p:cNvSpPr txBox="1"/>
          <p:nvPr/>
        </p:nvSpPr>
        <p:spPr>
          <a:xfrm>
            <a:off x="1066800" y="563562"/>
            <a:ext cx="3886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Ciphertext-Only Attack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9" name="Google Shape;229;p14"/>
          <p:cNvSpPr txBox="1"/>
          <p:nvPr/>
        </p:nvSpPr>
        <p:spPr>
          <a:xfrm>
            <a:off x="1219200" y="762000"/>
            <a:ext cx="7299325" cy="18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Cryptanalyst knows the following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New Roman"/>
              <a:buNone/>
            </a:pPr>
            <a:r>
              <a:t/>
            </a:r>
            <a:endParaRPr b="1" baseline="-25000" i="1"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Wklv lv d vhfuhw phvvdjh  </a:t>
            </a:r>
            <a:r>
              <a:rPr b="1" baseline="-25000" i="1" lang="en-US" sz="2800" u="none" cap="none" strike="noStrike">
                <a:solidFill>
                  <a:schemeClr val="dk1"/>
                </a:solidFill>
                <a:latin typeface="Century Gothic"/>
                <a:ea typeface="Century Gothic"/>
                <a:cs typeface="Century Gothic"/>
                <a:sym typeface="Century Gothic"/>
              </a:rPr>
              <a:t>→  This is a secret message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New Roman"/>
              <a:buNone/>
            </a:pPr>
            <a:r>
              <a:t/>
            </a:r>
            <a:endParaRPr b="1" baseline="-25000" i="1" sz="28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FF0000"/>
              </a:buClr>
              <a:buSzPts val="2800"/>
              <a:buFont typeface="Century Gothic"/>
              <a:buNone/>
            </a:pPr>
            <a:r>
              <a:rPr b="1" baseline="-25000" i="1" lang="en-US" sz="2800" u="none" cap="none" strike="noStrike">
                <a:solidFill>
                  <a:srgbClr val="FF0000"/>
                </a:solidFill>
                <a:latin typeface="Century Gothic"/>
                <a:ea typeface="Century Gothic"/>
                <a:cs typeface="Century Gothic"/>
                <a:sym typeface="Century Gothic"/>
              </a:rPr>
              <a:t>Can he find the key ? ?  HOW ?? Assuming shift cipher is used</a:t>
            </a:r>
            <a:endParaRPr b="1" baseline="-25000" i="1" sz="280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rgbClr val="FF0000"/>
              </a:solidFill>
              <a:latin typeface="Times New Roman"/>
              <a:ea typeface="Times New Roman"/>
              <a:cs typeface="Times New Roman"/>
              <a:sym typeface="Times New Roman"/>
            </a:endParaRPr>
          </a:p>
        </p:txBody>
      </p:sp>
      <p:sp>
        <p:nvSpPr>
          <p:cNvPr id="230" name="Google Shape;230;p14"/>
          <p:cNvSpPr txBox="1"/>
          <p:nvPr/>
        </p:nvSpPr>
        <p:spPr>
          <a:xfrm>
            <a:off x="1430337" y="2971800"/>
            <a:ext cx="6283325" cy="18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On analyzing the </a:t>
            </a:r>
            <a:r>
              <a:rPr b="1" baseline="-25000" i="1" lang="en-US" sz="2800" u="none" cap="none" strike="noStrike">
                <a:solidFill>
                  <a:srgbClr val="FF0000"/>
                </a:solidFill>
                <a:latin typeface="Times New Roman"/>
                <a:ea typeface="Times New Roman"/>
                <a:cs typeface="Times New Roman"/>
                <a:sym typeface="Times New Roman"/>
              </a:rPr>
              <a:t>known information </a:t>
            </a:r>
            <a:r>
              <a:rPr b="1" baseline="-25000" i="1" lang="en-US" sz="2800" u="none" cap="none" strike="noStrike">
                <a:solidFill>
                  <a:schemeClr val="dk1"/>
                </a:solidFill>
                <a:latin typeface="Times New Roman"/>
                <a:ea typeface="Times New Roman"/>
                <a:cs typeface="Times New Roman"/>
                <a:sym typeface="Times New Roman"/>
              </a:rPr>
              <a:t>the following is deduced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New Roman"/>
              <a:buNone/>
            </a:pPr>
            <a:r>
              <a:t/>
            </a:r>
            <a:endParaRPr b="1" baseline="-25000" i="1"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W </a:t>
            </a:r>
            <a:r>
              <a:rPr b="1" baseline="-25000" i="1" lang="en-US" sz="2800" u="none" cap="none" strike="noStrike">
                <a:solidFill>
                  <a:schemeClr val="dk1"/>
                </a:solidFill>
                <a:latin typeface="Century Gothic"/>
                <a:ea typeface="Century Gothic"/>
                <a:cs typeface="Century Gothic"/>
                <a:sym typeface="Century Gothic"/>
              </a:rPr>
              <a:t>→ 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Century Gothic"/>
              <a:buNone/>
            </a:pPr>
            <a:r>
              <a:rPr b="1" baseline="-25000" i="1" lang="en-US" sz="2800" u="none" cap="none" strike="noStrike">
                <a:solidFill>
                  <a:schemeClr val="dk1"/>
                </a:solidFill>
                <a:latin typeface="Century Gothic"/>
                <a:ea typeface="Century Gothic"/>
                <a:cs typeface="Century Gothic"/>
                <a:sym typeface="Century Gothic"/>
              </a:rPr>
              <a:t>K →  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Century Gothic"/>
              <a:buNone/>
            </a:pPr>
            <a:r>
              <a:rPr b="1" baseline="-25000" i="1" lang="en-US" sz="2800" u="none" cap="none" strike="noStrike">
                <a:solidFill>
                  <a:schemeClr val="dk1"/>
                </a:solidFill>
                <a:latin typeface="Century Gothic"/>
                <a:ea typeface="Century Gothic"/>
                <a:cs typeface="Century Gothic"/>
                <a:sym typeface="Century Gothic"/>
              </a:rPr>
              <a:t>L → I    and so 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Century Gothic"/>
              <a:buNone/>
            </a:pPr>
            <a:r>
              <a:rPr b="1" baseline="-25000" i="1" lang="en-US" sz="2800" u="none" cap="none" strike="noStrike">
                <a:solidFill>
                  <a:schemeClr val="dk1"/>
                </a:solidFill>
                <a:latin typeface="Century Gothic"/>
                <a:ea typeface="Century Gothic"/>
                <a:cs typeface="Century Gothic"/>
                <a:sym typeface="Century Gothic"/>
              </a:rPr>
              <a:t>There fore key = 3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7" name="Google Shape;237;p1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38" name="Google Shape;238;p1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39" name="Google Shape;239;p1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0" name="Google Shape;240;p1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1" name="Google Shape;241;p1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2" name="Google Shape;242;p1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3" name="Google Shape;243;p1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4" name="Google Shape;244;p1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3.1.2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245" name="Google Shape;245;p15"/>
          <p:cNvSpPr txBox="1"/>
          <p:nvPr/>
        </p:nvSpPr>
        <p:spPr>
          <a:xfrm>
            <a:off x="2185987" y="2133600"/>
            <a:ext cx="41005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3.5  </a:t>
            </a:r>
            <a:r>
              <a:rPr b="1" i="1" lang="en-US" sz="2000" u="none" cap="none" strike="noStrike">
                <a:solidFill>
                  <a:schemeClr val="dk1"/>
                </a:solidFill>
                <a:latin typeface="Times New Roman"/>
                <a:ea typeface="Times New Roman"/>
                <a:cs typeface="Times New Roman"/>
                <a:sym typeface="Times New Roman"/>
              </a:rPr>
              <a:t>Known-plaintext attack</a:t>
            </a:r>
            <a:endParaRPr b="0" i="0" sz="1400" u="none" cap="none" strike="noStrike">
              <a:solidFill>
                <a:srgbClr val="000000"/>
              </a:solidFill>
              <a:latin typeface="Arial"/>
              <a:ea typeface="Arial"/>
              <a:cs typeface="Arial"/>
              <a:sym typeface="Arial"/>
            </a:endParaRPr>
          </a:p>
        </p:txBody>
      </p:sp>
      <p:pic>
        <p:nvPicPr>
          <p:cNvPr id="246" name="Google Shape;246;p15"/>
          <p:cNvPicPr preferRelativeResize="0"/>
          <p:nvPr/>
        </p:nvPicPr>
        <p:blipFill rotWithShape="1">
          <a:blip r:embed="rId3">
            <a:alphaModFix/>
          </a:blip>
          <a:srcRect b="0" l="0" r="0" t="0"/>
          <a:stretch/>
        </p:blipFill>
        <p:spPr>
          <a:xfrm>
            <a:off x="908050" y="3048000"/>
            <a:ext cx="7092950" cy="2185987"/>
          </a:xfrm>
          <a:prstGeom prst="rect">
            <a:avLst/>
          </a:prstGeom>
          <a:noFill/>
          <a:ln>
            <a:noFill/>
          </a:ln>
        </p:spPr>
      </p:pic>
      <p:sp>
        <p:nvSpPr>
          <p:cNvPr id="247" name="Google Shape;247;p15"/>
          <p:cNvSpPr txBox="1"/>
          <p:nvPr/>
        </p:nvSpPr>
        <p:spPr>
          <a:xfrm>
            <a:off x="1143000" y="577850"/>
            <a:ext cx="41148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Known-Plaintext Attack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54" name="Google Shape;254;p1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55" name="Google Shape;255;p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56" name="Google Shape;256;p1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57" name="Google Shape;257;p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58" name="Google Shape;258;p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59" name="Google Shape;259;p1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60" name="Google Shape;260;p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61" name="Google Shape;261;p1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3.1.2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262" name="Google Shape;262;p16"/>
          <p:cNvSpPr txBox="1"/>
          <p:nvPr/>
        </p:nvSpPr>
        <p:spPr>
          <a:xfrm>
            <a:off x="2185987" y="1828800"/>
            <a:ext cx="41417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3.6  </a:t>
            </a:r>
            <a:r>
              <a:rPr b="1" i="1" lang="en-US" sz="2000" u="none" cap="none" strike="noStrike">
                <a:solidFill>
                  <a:schemeClr val="dk1"/>
                </a:solidFill>
                <a:latin typeface="Times New Roman"/>
                <a:ea typeface="Times New Roman"/>
                <a:cs typeface="Times New Roman"/>
                <a:sym typeface="Times New Roman"/>
              </a:rPr>
              <a:t>Chosen-plaintext attack</a:t>
            </a:r>
            <a:endParaRPr b="0" i="0" sz="1400" u="none" cap="none" strike="noStrike">
              <a:solidFill>
                <a:srgbClr val="000000"/>
              </a:solidFill>
              <a:latin typeface="Arial"/>
              <a:ea typeface="Arial"/>
              <a:cs typeface="Arial"/>
              <a:sym typeface="Arial"/>
            </a:endParaRPr>
          </a:p>
        </p:txBody>
      </p:sp>
      <p:pic>
        <p:nvPicPr>
          <p:cNvPr id="263" name="Google Shape;263;p16"/>
          <p:cNvPicPr preferRelativeResize="0"/>
          <p:nvPr/>
        </p:nvPicPr>
        <p:blipFill rotWithShape="1">
          <a:blip r:embed="rId3">
            <a:alphaModFix/>
          </a:blip>
          <a:srcRect b="0" l="0" r="0" t="0"/>
          <a:stretch/>
        </p:blipFill>
        <p:spPr>
          <a:xfrm>
            <a:off x="700087" y="2782887"/>
            <a:ext cx="7834312" cy="2703512"/>
          </a:xfrm>
          <a:prstGeom prst="rect">
            <a:avLst/>
          </a:prstGeom>
          <a:noFill/>
          <a:ln>
            <a:noFill/>
          </a:ln>
        </p:spPr>
      </p:pic>
      <p:sp>
        <p:nvSpPr>
          <p:cNvPr id="264" name="Google Shape;264;p16"/>
          <p:cNvSpPr txBox="1"/>
          <p:nvPr/>
        </p:nvSpPr>
        <p:spPr>
          <a:xfrm>
            <a:off x="1143000" y="577850"/>
            <a:ext cx="41148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Chosen-Plaintext Attack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1" name="Google Shape;271;p1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2" name="Google Shape;272;p1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3" name="Google Shape;273;p1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4" name="Google Shape;274;p1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5" name="Google Shape;275;p1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6" name="Google Shape;276;p1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7" name="Google Shape;277;p1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8" name="Google Shape;278;p1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3.1.2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279" name="Google Shape;279;p17"/>
          <p:cNvSpPr txBox="1"/>
          <p:nvPr/>
        </p:nvSpPr>
        <p:spPr>
          <a:xfrm>
            <a:off x="2185987" y="1752600"/>
            <a:ext cx="42687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3.7  </a:t>
            </a:r>
            <a:r>
              <a:rPr b="1" i="1" lang="en-US" sz="2000" u="none" cap="none" strike="noStrike">
                <a:solidFill>
                  <a:schemeClr val="dk1"/>
                </a:solidFill>
                <a:latin typeface="Times New Roman"/>
                <a:ea typeface="Times New Roman"/>
                <a:cs typeface="Times New Roman"/>
                <a:sym typeface="Times New Roman"/>
              </a:rPr>
              <a:t>Chosen-ciphertext attack</a:t>
            </a:r>
            <a:endParaRPr b="0" i="0" sz="1400" u="none" cap="none" strike="noStrike">
              <a:solidFill>
                <a:srgbClr val="000000"/>
              </a:solidFill>
              <a:latin typeface="Arial"/>
              <a:ea typeface="Arial"/>
              <a:cs typeface="Arial"/>
              <a:sym typeface="Arial"/>
            </a:endParaRPr>
          </a:p>
        </p:txBody>
      </p:sp>
      <p:pic>
        <p:nvPicPr>
          <p:cNvPr id="280" name="Google Shape;280;p17"/>
          <p:cNvPicPr preferRelativeResize="0"/>
          <p:nvPr/>
        </p:nvPicPr>
        <p:blipFill rotWithShape="1">
          <a:blip r:embed="rId3">
            <a:alphaModFix/>
          </a:blip>
          <a:srcRect b="0" l="0" r="0" t="0"/>
          <a:stretch/>
        </p:blipFill>
        <p:spPr>
          <a:xfrm>
            <a:off x="514350" y="2895600"/>
            <a:ext cx="7943850" cy="2705100"/>
          </a:xfrm>
          <a:prstGeom prst="rect">
            <a:avLst/>
          </a:prstGeom>
          <a:noFill/>
          <a:ln>
            <a:noFill/>
          </a:ln>
        </p:spPr>
      </p:pic>
      <p:sp>
        <p:nvSpPr>
          <p:cNvPr id="281" name="Google Shape;281;p17"/>
          <p:cNvSpPr txBox="1"/>
          <p:nvPr/>
        </p:nvSpPr>
        <p:spPr>
          <a:xfrm>
            <a:off x="1143000" y="582612"/>
            <a:ext cx="3182937" cy="4127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3200"/>
              <a:buFont typeface="Times New Roman"/>
              <a:buNone/>
            </a:pPr>
            <a:r>
              <a:rPr b="1" baseline="-25000" i="0" lang="en-US" sz="3200" u="none" cap="none" strike="noStrike">
                <a:solidFill>
                  <a:schemeClr val="folHlink"/>
                </a:solidFill>
                <a:latin typeface="Times New Roman"/>
                <a:ea typeface="Times New Roman"/>
                <a:cs typeface="Times New Roman"/>
                <a:sym typeface="Times New Roman"/>
              </a:rPr>
              <a:t>Chosen-Ciphertext Attack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18"/>
          <p:cNvPicPr preferRelativeResize="0"/>
          <p:nvPr/>
        </p:nvPicPr>
        <p:blipFill rotWithShape="1">
          <a:blip r:embed="rId3">
            <a:alphaModFix/>
          </a:blip>
          <a:srcRect b="32051" l="-1505" r="0" t="0"/>
          <a:stretch/>
        </p:blipFill>
        <p:spPr>
          <a:xfrm>
            <a:off x="304800" y="152400"/>
            <a:ext cx="8540750" cy="5715000"/>
          </a:xfrm>
          <a:prstGeom prst="rect">
            <a:avLst/>
          </a:prstGeom>
          <a:noFill/>
          <a:ln>
            <a:noFill/>
          </a:ln>
        </p:spPr>
      </p:pic>
      <p:sp>
        <p:nvSpPr>
          <p:cNvPr id="288" name="Google Shape;288;p18"/>
          <p:cNvSpPr txBox="1"/>
          <p:nvPr/>
        </p:nvSpPr>
        <p:spPr>
          <a:xfrm>
            <a:off x="304800" y="6019800"/>
            <a:ext cx="8534400" cy="646112"/>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C1C10"/>
              </a:buClr>
              <a:buSzPts val="2800"/>
              <a:buFont typeface="Lustria"/>
              <a:buNone/>
            </a:pPr>
            <a:r>
              <a:rPr b="1" baseline="-25000" i="1" lang="en-US" sz="2800" u="none" cap="none" strike="noStrike">
                <a:solidFill>
                  <a:srgbClr val="1C1C10"/>
                </a:solidFill>
                <a:latin typeface="Lustria"/>
                <a:ea typeface="Lustria"/>
                <a:cs typeface="Lustria"/>
                <a:sym typeface="Lustria"/>
              </a:rPr>
              <a:t>Table 2.1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1C1C10"/>
              </a:buClr>
              <a:buSzPts val="2800"/>
              <a:buFont typeface="Lustria"/>
              <a:buNone/>
            </a:pPr>
            <a:r>
              <a:rPr b="1" baseline="-25000" i="1" lang="en-US" sz="2800" u="none" cap="none" strike="noStrike">
                <a:solidFill>
                  <a:srgbClr val="1C1C10"/>
                </a:solidFill>
                <a:latin typeface="Lustria"/>
                <a:ea typeface="Lustria"/>
                <a:cs typeface="Lustria"/>
                <a:sym typeface="Lustria"/>
              </a:rPr>
              <a:t>Types of Attacks on Encrypted Messages </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9"/>
          <p:cNvSpPr txBox="1"/>
          <p:nvPr/>
        </p:nvSpPr>
        <p:spPr>
          <a:xfrm>
            <a:off x="0" y="6400800"/>
            <a:ext cx="1905000" cy="457200"/>
          </a:xfrm>
          <a:prstGeom prst="rect">
            <a:avLst/>
          </a:prstGeom>
          <a:noFill/>
          <a:ln>
            <a:noFill/>
          </a:ln>
          <a:effectLst>
            <a:outerShdw blurRad="63500" dir="2700000" dist="38100">
              <a:srgbClr val="000000">
                <a:alpha val="39607"/>
              </a:srgbClr>
            </a:outerShdw>
          </a:effectLst>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294" name="Google Shape;294;p19"/>
          <p:cNvPicPr preferRelativeResize="0"/>
          <p:nvPr/>
        </p:nvPicPr>
        <p:blipFill rotWithShape="1">
          <a:blip r:embed="rId3">
            <a:alphaModFix/>
          </a:blip>
          <a:srcRect b="0" l="0" r="0" t="0"/>
          <a:stretch/>
        </p:blipFill>
        <p:spPr>
          <a:xfrm>
            <a:off x="728662" y="1528762"/>
            <a:ext cx="7686675" cy="3800475"/>
          </a:xfrm>
          <a:prstGeom prst="rect">
            <a:avLst/>
          </a:prstGeom>
          <a:noFill/>
          <a:ln>
            <a:noFill/>
          </a:ln>
        </p:spPr>
      </p:pic>
      <p:sp>
        <p:nvSpPr>
          <p:cNvPr id="295" name="Google Shape;295;p19"/>
          <p:cNvSpPr txBox="1"/>
          <p:nvPr/>
        </p:nvSpPr>
        <p:spPr>
          <a:xfrm>
            <a:off x="1600200" y="457200"/>
            <a:ext cx="6553200" cy="5445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Times New Roman"/>
              <a:buNone/>
            </a:pPr>
            <a:r>
              <a:rPr b="1" baseline="-25000" i="1" lang="en-US" sz="4400" u="none" cap="none" strike="noStrike">
                <a:solidFill>
                  <a:schemeClr val="dk1"/>
                </a:solidFill>
                <a:latin typeface="Times New Roman"/>
                <a:ea typeface="Times New Roman"/>
                <a:cs typeface="Times New Roman"/>
                <a:sym typeface="Times New Roman"/>
              </a:rPr>
              <a:t>Traditional Symmetric Key Ciphers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0"/>
          <p:cNvSpPr txBox="1"/>
          <p:nvPr/>
        </p:nvSpPr>
        <p:spPr>
          <a:xfrm>
            <a:off x="0" y="6400800"/>
            <a:ext cx="1905000" cy="457200"/>
          </a:xfrm>
          <a:prstGeom prst="rect">
            <a:avLst/>
          </a:prstGeom>
          <a:noFill/>
          <a:ln>
            <a:noFill/>
          </a:ln>
          <a:effectLst>
            <a:outerShdw blurRad="63500" dir="2700000" dist="38100">
              <a:srgbClr val="000000">
                <a:alpha val="39607"/>
              </a:srgbClr>
            </a:outerShdw>
          </a:effectLst>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301" name="Google Shape;301;p20"/>
          <p:cNvPicPr preferRelativeResize="0"/>
          <p:nvPr/>
        </p:nvPicPr>
        <p:blipFill rotWithShape="1">
          <a:blip r:embed="rId3">
            <a:alphaModFix/>
          </a:blip>
          <a:srcRect b="0" l="0" r="0" t="0"/>
          <a:stretch/>
        </p:blipFill>
        <p:spPr>
          <a:xfrm>
            <a:off x="533400" y="1295400"/>
            <a:ext cx="8229600" cy="4495800"/>
          </a:xfrm>
          <a:prstGeom prst="rect">
            <a:avLst/>
          </a:prstGeom>
          <a:noFill/>
          <a:ln>
            <a:noFill/>
          </a:ln>
        </p:spPr>
      </p:pic>
      <p:sp>
        <p:nvSpPr>
          <p:cNvPr id="302" name="Google Shape;302;p20"/>
          <p:cNvSpPr txBox="1"/>
          <p:nvPr/>
        </p:nvSpPr>
        <p:spPr>
          <a:xfrm>
            <a:off x="762000" y="152400"/>
            <a:ext cx="2627312"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6000"/>
              <a:buFont typeface="Times New Roman"/>
              <a:buNone/>
            </a:pPr>
            <a:r>
              <a:rPr b="1" baseline="-25000" i="1" lang="en-US" sz="6000" u="none" cap="none" strike="noStrike">
                <a:solidFill>
                  <a:schemeClr val="dk1"/>
                </a:solidFill>
                <a:latin typeface="Times New Roman"/>
                <a:ea typeface="Times New Roman"/>
                <a:cs typeface="Times New Roman"/>
                <a:sym typeface="Times New Roman"/>
              </a:rPr>
              <a:t>Differences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09" name="Google Shape;309;p21"/>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10" name="Google Shape;310;p21"/>
          <p:cNvSpPr txBox="1"/>
          <p:nvPr/>
        </p:nvSpPr>
        <p:spPr>
          <a:xfrm>
            <a:off x="228600" y="76200"/>
            <a:ext cx="59896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3-2   SUBSTITUTION CIPHERS</a:t>
            </a:r>
            <a:endParaRPr b="0" i="0" sz="1400" u="none" cap="none" strike="noStrike">
              <a:solidFill>
                <a:srgbClr val="000000"/>
              </a:solidFill>
              <a:latin typeface="Arial"/>
              <a:ea typeface="Arial"/>
              <a:cs typeface="Arial"/>
              <a:sym typeface="Arial"/>
            </a:endParaRPr>
          </a:p>
        </p:txBody>
      </p:sp>
      <p:sp>
        <p:nvSpPr>
          <p:cNvPr id="311" name="Google Shape;311;p21"/>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12" name="Google Shape;312;p21"/>
          <p:cNvSpPr txBox="1"/>
          <p:nvPr/>
        </p:nvSpPr>
        <p:spPr>
          <a:xfrm>
            <a:off x="76200" y="1066800"/>
            <a:ext cx="8610600" cy="137318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substitution cipher replaces one symbol with another. Substitution ciphers can be categorized as either monoalphabetic ciphers or polyalphabetic ciphers.</a:t>
            </a:r>
            <a:endParaRPr b="0" i="0" sz="1400" u="none" cap="none" strike="noStrike">
              <a:solidFill>
                <a:srgbClr val="000000"/>
              </a:solidFill>
              <a:latin typeface="Arial"/>
              <a:ea typeface="Arial"/>
              <a:cs typeface="Arial"/>
              <a:sym typeface="Arial"/>
            </a:endParaRPr>
          </a:p>
        </p:txBody>
      </p:sp>
      <p:sp>
        <p:nvSpPr>
          <p:cNvPr id="313" name="Google Shape;313;p21"/>
          <p:cNvSpPr txBox="1"/>
          <p:nvPr/>
        </p:nvSpPr>
        <p:spPr>
          <a:xfrm>
            <a:off x="152400" y="5410200"/>
            <a:ext cx="5715000"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cap="none" strike="noStrike">
                <a:solidFill>
                  <a:schemeClr val="hlink"/>
                </a:solidFill>
                <a:latin typeface="Times New Roman"/>
                <a:ea typeface="Times New Roman"/>
                <a:cs typeface="Times New Roman"/>
                <a:sym typeface="Times New Roman"/>
              </a:rPr>
              <a:t>3.2.1</a:t>
            </a:r>
            <a:r>
              <a:rPr b="1" i="0" lang="en-US" sz="2400" u="none" cap="none" strike="noStrike">
                <a:solidFill>
                  <a:srgbClr val="0033CC"/>
                </a:solidFill>
                <a:latin typeface="Times New Roman"/>
                <a:ea typeface="Times New Roman"/>
                <a:cs typeface="Times New Roman"/>
                <a:sym typeface="Times New Roman"/>
              </a:rPr>
              <a:t>	Monoalphabetic Ciphers</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chemeClr val="hlink"/>
                </a:solidFill>
                <a:latin typeface="Times New Roman"/>
                <a:ea typeface="Times New Roman"/>
                <a:cs typeface="Times New Roman"/>
                <a:sym typeface="Times New Roman"/>
              </a:rPr>
              <a:t>3.2.2</a:t>
            </a:r>
            <a:r>
              <a:rPr b="1" i="0" lang="en-US" sz="2400" u="none" cap="none" strike="noStrike">
                <a:solidFill>
                  <a:srgbClr val="0033CC"/>
                </a:solidFill>
                <a:latin typeface="Times New Roman"/>
                <a:ea typeface="Times New Roman"/>
                <a:cs typeface="Times New Roman"/>
                <a:sym typeface="Times New Roman"/>
              </a:rPr>
              <a:t>	Polyalphabetic Ciphers</a:t>
            </a:r>
            <a:endParaRPr b="0" i="0" sz="1400" u="none" cap="none" strike="noStrike">
              <a:solidFill>
                <a:srgbClr val="000000"/>
              </a:solidFill>
              <a:latin typeface="Arial"/>
              <a:ea typeface="Arial"/>
              <a:cs typeface="Arial"/>
              <a:sym typeface="Arial"/>
            </a:endParaRPr>
          </a:p>
        </p:txBody>
      </p:sp>
      <p:sp>
        <p:nvSpPr>
          <p:cNvPr id="314" name="Google Shape;314;p21"/>
          <p:cNvSpPr txBox="1"/>
          <p:nvPr/>
        </p:nvSpPr>
        <p:spPr>
          <a:xfrm>
            <a:off x="152400" y="48768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cxnSp>
        <p:nvCxnSpPr>
          <p:cNvPr id="315" name="Google Shape;315;p21"/>
          <p:cNvCxnSpPr/>
          <p:nvPr/>
        </p:nvCxnSpPr>
        <p:spPr>
          <a:xfrm>
            <a:off x="457200" y="3429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316" name="Google Shape;316;p21"/>
          <p:cNvCxnSpPr/>
          <p:nvPr/>
        </p:nvCxnSpPr>
        <p:spPr>
          <a:xfrm>
            <a:off x="458787" y="4648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317" name="Google Shape;317;p21"/>
          <p:cNvSpPr txBox="1"/>
          <p:nvPr/>
        </p:nvSpPr>
        <p:spPr>
          <a:xfrm>
            <a:off x="495300" y="35210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A substitution cipher replaces one symbol with another.</a:t>
            </a:r>
            <a:endParaRPr b="0" i="0" sz="1400" u="none" cap="none" strike="noStrike">
              <a:solidFill>
                <a:srgbClr val="000000"/>
              </a:solidFill>
              <a:latin typeface="Arial"/>
              <a:ea typeface="Arial"/>
              <a:cs typeface="Arial"/>
              <a:sym typeface="Arial"/>
            </a:endParaRPr>
          </a:p>
        </p:txBody>
      </p:sp>
      <p:grpSp>
        <p:nvGrpSpPr>
          <p:cNvPr id="318" name="Google Shape;318;p21"/>
          <p:cNvGrpSpPr/>
          <p:nvPr/>
        </p:nvGrpSpPr>
        <p:grpSpPr>
          <a:xfrm>
            <a:off x="457200" y="2819400"/>
            <a:ext cx="1143000" cy="566737"/>
            <a:chOff x="1200" y="1248"/>
            <a:chExt cx="720" cy="357"/>
          </a:xfrm>
        </p:grpSpPr>
        <p:pic>
          <p:nvPicPr>
            <p:cNvPr id="319" name="Google Shape;319;p21"/>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320" name="Google Shape;320;p21"/>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7" name="Google Shape;327;p2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28" name="Google Shape;328;p2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29" name="Google Shape;329;p2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30" name="Google Shape;330;p2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31" name="Google Shape;331;p2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32" name="Google Shape;332;p2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33" name="Google Shape;333;p2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34" name="Google Shape;334;p22"/>
          <p:cNvSpPr txBox="1"/>
          <p:nvPr/>
        </p:nvSpPr>
        <p:spPr>
          <a:xfrm>
            <a:off x="1143000" y="0"/>
            <a:ext cx="56499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3.2.1     Monoalphabetic Ciphers</a:t>
            </a:r>
            <a:endParaRPr b="0" i="0" sz="1400" u="none" cap="none" strike="noStrike">
              <a:solidFill>
                <a:srgbClr val="000000"/>
              </a:solidFill>
              <a:latin typeface="Arial"/>
              <a:ea typeface="Arial"/>
              <a:cs typeface="Arial"/>
              <a:sym typeface="Arial"/>
            </a:endParaRPr>
          </a:p>
        </p:txBody>
      </p:sp>
      <p:cxnSp>
        <p:nvCxnSpPr>
          <p:cNvPr id="335" name="Google Shape;335;p22"/>
          <p:cNvCxnSpPr/>
          <p:nvPr/>
        </p:nvCxnSpPr>
        <p:spPr>
          <a:xfrm>
            <a:off x="457200" y="25908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336" name="Google Shape;336;p22"/>
          <p:cNvCxnSpPr/>
          <p:nvPr/>
        </p:nvCxnSpPr>
        <p:spPr>
          <a:xfrm>
            <a:off x="458787" y="4800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337" name="Google Shape;337;p22"/>
          <p:cNvSpPr txBox="1"/>
          <p:nvPr/>
        </p:nvSpPr>
        <p:spPr>
          <a:xfrm>
            <a:off x="495300" y="2682875"/>
            <a:ext cx="8077200" cy="2041525"/>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 monoalphabetic substitution, the relationship between a symbol in the plaintext to a symbol in the ciphertext is always one-to-one.</a:t>
            </a:r>
            <a:endParaRPr b="0" i="0" sz="1400" u="none" cap="none" strike="noStrike">
              <a:solidFill>
                <a:srgbClr val="000000"/>
              </a:solidFill>
              <a:latin typeface="Arial"/>
              <a:ea typeface="Arial"/>
              <a:cs typeface="Arial"/>
              <a:sym typeface="Arial"/>
            </a:endParaRPr>
          </a:p>
        </p:txBody>
      </p:sp>
      <p:grpSp>
        <p:nvGrpSpPr>
          <p:cNvPr id="338" name="Google Shape;338;p22"/>
          <p:cNvGrpSpPr/>
          <p:nvPr/>
        </p:nvGrpSpPr>
        <p:grpSpPr>
          <a:xfrm>
            <a:off x="457200" y="1981200"/>
            <a:ext cx="1143000" cy="566737"/>
            <a:chOff x="1200" y="1248"/>
            <a:chExt cx="720" cy="357"/>
          </a:xfrm>
        </p:grpSpPr>
        <p:pic>
          <p:nvPicPr>
            <p:cNvPr id="339" name="Google Shape;339;p2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340" name="Google Shape;340;p2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47" name="Google Shape;347;p2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48" name="Google Shape;348;p2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49" name="Google Shape;349;p2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50" name="Google Shape;350;p2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51" name="Google Shape;351;p2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52" name="Google Shape;352;p2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53" name="Google Shape;353;p2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54" name="Google Shape;354;p2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355" name="Google Shape;355;p23"/>
          <p:cNvSpPr txBox="1"/>
          <p:nvPr/>
        </p:nvSpPr>
        <p:spPr>
          <a:xfrm>
            <a:off x="152400" y="18288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following shows a plaintext and its corresponding ciphertext. The cipher is probably monoalphabetic because both </a:t>
            </a:r>
            <a:r>
              <a:rPr b="1" i="1" lang="en-US" sz="2400" u="none" cap="none" strike="noStrike">
                <a:solidFill>
                  <a:schemeClr val="dk1"/>
                </a:solidFill>
                <a:latin typeface="Times New Roman"/>
                <a:ea typeface="Times New Roman"/>
                <a:cs typeface="Times New Roman"/>
                <a:sym typeface="Times New Roman"/>
              </a:rPr>
              <a:t>l</a:t>
            </a:r>
            <a:r>
              <a:rPr b="1" i="0" lang="en-US" sz="2400" u="none" cap="none" strike="noStrike">
                <a:solidFill>
                  <a:schemeClr val="dk1"/>
                </a:solidFill>
                <a:latin typeface="Times New Roman"/>
                <a:ea typeface="Times New Roman"/>
                <a:cs typeface="Times New Roman"/>
                <a:sym typeface="Times New Roman"/>
              </a:rPr>
              <a:t>’s (els) are encrypted as </a:t>
            </a:r>
            <a:r>
              <a:rPr b="1" i="1" lang="en-US" sz="2400" u="none" cap="none" strike="noStrike">
                <a:solidFill>
                  <a:schemeClr val="dk1"/>
                </a:solidFill>
                <a:latin typeface="Times New Roman"/>
                <a:ea typeface="Times New Roman"/>
                <a:cs typeface="Times New Roman"/>
                <a:sym typeface="Times New Roman"/>
              </a:rPr>
              <a:t>O</a:t>
            </a:r>
            <a:r>
              <a:rPr b="1" i="0" lang="en-US" sz="2400" u="none" cap="none" strike="noStrike">
                <a:solidFill>
                  <a:schemeClr val="dk1"/>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p:txBody>
      </p:sp>
      <p:sp>
        <p:nvSpPr>
          <p:cNvPr id="356" name="Google Shape;356;p23"/>
          <p:cNvSpPr txBox="1"/>
          <p:nvPr/>
        </p:nvSpPr>
        <p:spPr>
          <a:xfrm>
            <a:off x="228600" y="12192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a:t>
            </a:r>
            <a:endParaRPr b="0" i="0" sz="1400" u="none" cap="none" strike="noStrike">
              <a:solidFill>
                <a:srgbClr val="000000"/>
              </a:solidFill>
              <a:latin typeface="Arial"/>
              <a:ea typeface="Arial"/>
              <a:cs typeface="Arial"/>
              <a:sym typeface="Arial"/>
            </a:endParaRPr>
          </a:p>
        </p:txBody>
      </p:sp>
      <p:pic>
        <p:nvPicPr>
          <p:cNvPr id="357" name="Google Shape;357;p23"/>
          <p:cNvPicPr preferRelativeResize="0"/>
          <p:nvPr/>
        </p:nvPicPr>
        <p:blipFill rotWithShape="1">
          <a:blip r:embed="rId3">
            <a:alphaModFix/>
          </a:blip>
          <a:srcRect b="0" l="0" r="0" t="0"/>
          <a:stretch/>
        </p:blipFill>
        <p:spPr>
          <a:xfrm>
            <a:off x="1300162" y="3124200"/>
            <a:ext cx="6472237" cy="782637"/>
          </a:xfrm>
          <a:prstGeom prst="rect">
            <a:avLst/>
          </a:prstGeom>
          <a:noFill/>
          <a:ln>
            <a:noFill/>
          </a:ln>
        </p:spPr>
      </p:pic>
      <p:sp>
        <p:nvSpPr>
          <p:cNvPr id="358" name="Google Shape;358;p23"/>
          <p:cNvSpPr txBox="1"/>
          <p:nvPr/>
        </p:nvSpPr>
        <p:spPr>
          <a:xfrm>
            <a:off x="152400" y="460375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following shows a plaintext and its corresponding ciphertext. The cipher is not monoalphabetic because each </a:t>
            </a:r>
            <a:r>
              <a:rPr b="1" i="1" lang="en-US" sz="2400" u="none" cap="none" strike="noStrike">
                <a:solidFill>
                  <a:schemeClr val="dk1"/>
                </a:solidFill>
                <a:latin typeface="Times New Roman"/>
                <a:ea typeface="Times New Roman"/>
                <a:cs typeface="Times New Roman"/>
                <a:sym typeface="Times New Roman"/>
              </a:rPr>
              <a:t>l</a:t>
            </a:r>
            <a:r>
              <a:rPr b="1" i="0" lang="en-US" sz="2400" u="none" cap="none" strike="noStrike">
                <a:solidFill>
                  <a:schemeClr val="dk1"/>
                </a:solidFill>
                <a:latin typeface="Times New Roman"/>
                <a:ea typeface="Times New Roman"/>
                <a:cs typeface="Times New Roman"/>
                <a:sym typeface="Times New Roman"/>
              </a:rPr>
              <a:t> (el) is encrypted by a different character. </a:t>
            </a:r>
            <a:endParaRPr b="0" i="0" sz="1400" u="none" cap="none" strike="noStrike">
              <a:solidFill>
                <a:srgbClr val="000000"/>
              </a:solidFill>
              <a:latin typeface="Arial"/>
              <a:ea typeface="Arial"/>
              <a:cs typeface="Arial"/>
              <a:sym typeface="Arial"/>
            </a:endParaRPr>
          </a:p>
        </p:txBody>
      </p:sp>
      <p:sp>
        <p:nvSpPr>
          <p:cNvPr id="359" name="Google Shape;359;p23"/>
          <p:cNvSpPr txBox="1"/>
          <p:nvPr/>
        </p:nvSpPr>
        <p:spPr>
          <a:xfrm>
            <a:off x="152400" y="40386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a:t>
            </a:r>
            <a:endParaRPr b="0" i="0" sz="1400" u="none" cap="none" strike="noStrike">
              <a:solidFill>
                <a:srgbClr val="000000"/>
              </a:solidFill>
              <a:latin typeface="Arial"/>
              <a:ea typeface="Arial"/>
              <a:cs typeface="Arial"/>
              <a:sym typeface="Arial"/>
            </a:endParaRPr>
          </a:p>
        </p:txBody>
      </p:sp>
      <p:sp>
        <p:nvSpPr>
          <p:cNvPr id="360" name="Google Shape;360;p23"/>
          <p:cNvSpPr txBox="1"/>
          <p:nvPr/>
        </p:nvSpPr>
        <p:spPr>
          <a:xfrm>
            <a:off x="1228725" y="5867400"/>
            <a:ext cx="707707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1" baseline="-25000" i="0" lang="en-US" sz="3600" u="none" cap="none" strike="noStrike">
                <a:solidFill>
                  <a:schemeClr val="dk1"/>
                </a:solidFill>
                <a:highlight>
                  <a:srgbClr val="C0C0C0"/>
                </a:highlight>
                <a:latin typeface="Times New Roman"/>
                <a:ea typeface="Times New Roman"/>
                <a:cs typeface="Times New Roman"/>
                <a:sym typeface="Times New Roman"/>
              </a:rPr>
              <a:t>Plaintext : </a:t>
            </a:r>
            <a:r>
              <a:rPr b="0" baseline="-25000" i="0" lang="en-US" sz="3600" u="none" cap="none" strike="noStrike">
                <a:solidFill>
                  <a:schemeClr val="dk1"/>
                </a:solidFill>
                <a:highlight>
                  <a:srgbClr val="C0C0C0"/>
                </a:highlight>
                <a:latin typeface="Times New Roman"/>
                <a:ea typeface="Times New Roman"/>
                <a:cs typeface="Times New Roman"/>
                <a:sym typeface="Times New Roman"/>
              </a:rPr>
              <a:t>hello</a:t>
            </a:r>
            <a:r>
              <a:rPr b="1" baseline="-25000" i="0" lang="en-US" sz="3600" u="none" cap="none" strike="noStrike">
                <a:solidFill>
                  <a:schemeClr val="dk1"/>
                </a:solidFill>
                <a:highlight>
                  <a:srgbClr val="C0C0C0"/>
                </a:highlight>
                <a:latin typeface="Times New Roman"/>
                <a:ea typeface="Times New Roman"/>
                <a:cs typeface="Times New Roman"/>
                <a:sym typeface="Times New Roman"/>
              </a:rPr>
              <a:t>                        Ciphertext : </a:t>
            </a:r>
            <a:r>
              <a:rPr b="0" baseline="-25000" i="0" lang="en-US" sz="3600" u="none" cap="none" strike="noStrike">
                <a:solidFill>
                  <a:schemeClr val="dk1"/>
                </a:solidFill>
                <a:highlight>
                  <a:srgbClr val="C0C0C0"/>
                </a:highlight>
                <a:latin typeface="Times New Roman"/>
                <a:ea typeface="Times New Roman"/>
                <a:cs typeface="Times New Roman"/>
                <a:sym typeface="Times New Roman"/>
              </a:rPr>
              <a:t>ABNZF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67" name="Google Shape;367;p2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68" name="Google Shape;368;p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69" name="Google Shape;369;p2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70" name="Google Shape;370;p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71" name="Google Shape;371;p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72" name="Google Shape;372;p2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73" name="Google Shape;373;p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74" name="Google Shape;374;p2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 </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375" name="Google Shape;375;p24"/>
          <p:cNvSpPr txBox="1"/>
          <p:nvPr/>
        </p:nvSpPr>
        <p:spPr>
          <a:xfrm>
            <a:off x="152400" y="1325562"/>
            <a:ext cx="8839200" cy="15525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simplest monoalphabetic cipher is the additive cipher. This cipher is sometimes called a </a:t>
            </a:r>
            <a:r>
              <a:rPr b="1" i="0" lang="en-US" sz="2400" u="none" cap="none" strike="noStrike">
                <a:solidFill>
                  <a:schemeClr val="hlink"/>
                </a:solidFill>
                <a:latin typeface="Times New Roman"/>
                <a:ea typeface="Times New Roman"/>
                <a:cs typeface="Times New Roman"/>
                <a:sym typeface="Times New Roman"/>
              </a:rPr>
              <a:t>shift cipher</a:t>
            </a:r>
            <a:r>
              <a:rPr b="1" i="0" lang="en-US" sz="2400" u="none" cap="none" strike="noStrike">
                <a:solidFill>
                  <a:schemeClr val="dk1"/>
                </a:solidFill>
                <a:latin typeface="Times New Roman"/>
                <a:ea typeface="Times New Roman"/>
                <a:cs typeface="Times New Roman"/>
                <a:sym typeface="Times New Roman"/>
              </a:rPr>
              <a:t> and sometimes a </a:t>
            </a:r>
            <a:r>
              <a:rPr b="1" i="0" lang="en-US" sz="2400" u="none" cap="none" strike="noStrike">
                <a:solidFill>
                  <a:schemeClr val="hlink"/>
                </a:solidFill>
                <a:latin typeface="Times New Roman"/>
                <a:ea typeface="Times New Roman"/>
                <a:cs typeface="Times New Roman"/>
                <a:sym typeface="Times New Roman"/>
              </a:rPr>
              <a:t>Caesar cipher</a:t>
            </a:r>
            <a:r>
              <a:rPr b="1" i="0" lang="en-US" sz="2400" u="none" cap="none" strike="noStrike">
                <a:solidFill>
                  <a:schemeClr val="dk1"/>
                </a:solidFill>
                <a:latin typeface="Times New Roman"/>
                <a:ea typeface="Times New Roman"/>
                <a:cs typeface="Times New Roman"/>
                <a:sym typeface="Times New Roman"/>
              </a:rPr>
              <a:t>, but the term additive cipher better reveals its mathematical nature. </a:t>
            </a:r>
            <a:endParaRPr b="0" i="0" sz="1400" u="none" cap="none" strike="noStrike">
              <a:solidFill>
                <a:srgbClr val="000000"/>
              </a:solidFill>
              <a:latin typeface="Arial"/>
              <a:ea typeface="Arial"/>
              <a:cs typeface="Arial"/>
              <a:sym typeface="Arial"/>
            </a:endParaRPr>
          </a:p>
        </p:txBody>
      </p:sp>
      <p:sp>
        <p:nvSpPr>
          <p:cNvPr id="376" name="Google Shape;376;p24"/>
          <p:cNvSpPr txBox="1"/>
          <p:nvPr/>
        </p:nvSpPr>
        <p:spPr>
          <a:xfrm>
            <a:off x="1143000" y="533400"/>
            <a:ext cx="22923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Additive Cipher</a:t>
            </a:r>
            <a:endParaRPr b="0" i="0" sz="1400" u="none" cap="none" strike="noStrike">
              <a:solidFill>
                <a:srgbClr val="000000"/>
              </a:solidFill>
              <a:latin typeface="Arial"/>
              <a:ea typeface="Arial"/>
              <a:cs typeface="Arial"/>
              <a:sym typeface="Arial"/>
            </a:endParaRPr>
          </a:p>
        </p:txBody>
      </p:sp>
      <p:pic>
        <p:nvPicPr>
          <p:cNvPr id="377" name="Google Shape;377;p24"/>
          <p:cNvPicPr preferRelativeResize="0"/>
          <p:nvPr/>
        </p:nvPicPr>
        <p:blipFill rotWithShape="1">
          <a:blip r:embed="rId3">
            <a:alphaModFix/>
          </a:blip>
          <a:srcRect b="0" l="0" r="0" t="0"/>
          <a:stretch/>
        </p:blipFill>
        <p:spPr>
          <a:xfrm>
            <a:off x="609600" y="4038600"/>
            <a:ext cx="7386637" cy="914400"/>
          </a:xfrm>
          <a:prstGeom prst="rect">
            <a:avLst/>
          </a:prstGeom>
          <a:noFill/>
          <a:ln>
            <a:noFill/>
          </a:ln>
        </p:spPr>
      </p:pic>
      <p:sp>
        <p:nvSpPr>
          <p:cNvPr id="378" name="Google Shape;378;p24"/>
          <p:cNvSpPr txBox="1"/>
          <p:nvPr/>
        </p:nvSpPr>
        <p:spPr>
          <a:xfrm>
            <a:off x="2112962" y="3352800"/>
            <a:ext cx="48212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3.8  </a:t>
            </a:r>
            <a:r>
              <a:rPr b="1" i="1" lang="en-US" sz="2000" u="none" cap="none" strike="noStrike">
                <a:solidFill>
                  <a:schemeClr val="dk1"/>
                </a:solidFill>
                <a:latin typeface="Times New Roman"/>
                <a:ea typeface="Times New Roman"/>
                <a:cs typeface="Times New Roman"/>
                <a:sym typeface="Times New Roman"/>
              </a:rPr>
              <a:t>Plaintext and ciphertext in Z</a:t>
            </a:r>
            <a:r>
              <a:rPr b="1" baseline="-25000" i="1" lang="en-US" sz="2000" u="none" cap="none" strike="noStrike">
                <a:solidFill>
                  <a:schemeClr val="dk1"/>
                </a:solidFill>
                <a:latin typeface="Times New Roman"/>
                <a:ea typeface="Times New Roman"/>
                <a:cs typeface="Times New Roman"/>
                <a:sym typeface="Times New Roman"/>
              </a:rPr>
              <a:t>26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85" name="Google Shape;385;p25"/>
          <p:cNvSpPr txBox="1"/>
          <p:nvPr/>
        </p:nvSpPr>
        <p:spPr>
          <a:xfrm>
            <a:off x="1103312" y="533400"/>
            <a:ext cx="3240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3.9  </a:t>
            </a:r>
            <a:r>
              <a:rPr b="1" i="1" lang="en-US" sz="2000" u="none" cap="none" strike="noStrike">
                <a:solidFill>
                  <a:schemeClr val="dk1"/>
                </a:solidFill>
                <a:latin typeface="Times New Roman"/>
                <a:ea typeface="Times New Roman"/>
                <a:cs typeface="Times New Roman"/>
                <a:sym typeface="Times New Roman"/>
              </a:rPr>
              <a:t>Additive cipher</a:t>
            </a:r>
            <a:endParaRPr b="0" i="0" sz="1400" u="none" cap="none" strike="noStrike">
              <a:solidFill>
                <a:srgbClr val="000000"/>
              </a:solidFill>
              <a:latin typeface="Arial"/>
              <a:ea typeface="Arial"/>
              <a:cs typeface="Arial"/>
              <a:sym typeface="Arial"/>
            </a:endParaRPr>
          </a:p>
        </p:txBody>
      </p:sp>
      <p:pic>
        <p:nvPicPr>
          <p:cNvPr id="386" name="Google Shape;386;p25"/>
          <p:cNvPicPr preferRelativeResize="0"/>
          <p:nvPr/>
        </p:nvPicPr>
        <p:blipFill rotWithShape="1">
          <a:blip r:embed="rId3">
            <a:alphaModFix/>
          </a:blip>
          <a:srcRect b="0" l="0" r="0" t="0"/>
          <a:stretch/>
        </p:blipFill>
        <p:spPr>
          <a:xfrm>
            <a:off x="685800" y="1447800"/>
            <a:ext cx="7394575" cy="2224087"/>
          </a:xfrm>
          <a:prstGeom prst="rect">
            <a:avLst/>
          </a:prstGeom>
          <a:noFill/>
          <a:ln>
            <a:noFill/>
          </a:ln>
        </p:spPr>
      </p:pic>
      <p:sp>
        <p:nvSpPr>
          <p:cNvPr id="387" name="Google Shape;387;p2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88" name="Google Shape;388;p2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89" name="Google Shape;389;p2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0" name="Google Shape;390;p2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1" name="Google Shape;391;p2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2" name="Google Shape;392;p2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3" name="Google Shape;393;p2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4" name="Google Shape;394;p2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cxnSp>
        <p:nvCxnSpPr>
          <p:cNvPr id="395" name="Google Shape;395;p25"/>
          <p:cNvCxnSpPr/>
          <p:nvPr/>
        </p:nvCxnSpPr>
        <p:spPr>
          <a:xfrm>
            <a:off x="457200" y="4572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396" name="Google Shape;396;p25"/>
          <p:cNvCxnSpPr/>
          <p:nvPr/>
        </p:nvCxnSpPr>
        <p:spPr>
          <a:xfrm>
            <a:off x="458787" y="62484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397" name="Google Shape;397;p25"/>
          <p:cNvSpPr txBox="1"/>
          <p:nvPr/>
        </p:nvSpPr>
        <p:spPr>
          <a:xfrm>
            <a:off x="495300" y="4664075"/>
            <a:ext cx="8077200" cy="1554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When the cipher is additive, the plaintext, ciphertext, and key are integers in Z</a:t>
            </a:r>
            <a:r>
              <a:rPr b="1" baseline="-25000" i="0" lang="en-US" sz="3200" u="none" cap="none" strike="noStrike">
                <a:solidFill>
                  <a:schemeClr val="dk1"/>
                </a:solidFill>
                <a:latin typeface="Arial"/>
                <a:ea typeface="Arial"/>
                <a:cs typeface="Arial"/>
                <a:sym typeface="Arial"/>
              </a:rPr>
              <a:t>26</a:t>
            </a:r>
            <a:r>
              <a:rPr b="1" i="0" lang="en-US" sz="32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nvGrpSpPr>
          <p:cNvPr id="398" name="Google Shape;398;p25"/>
          <p:cNvGrpSpPr/>
          <p:nvPr/>
        </p:nvGrpSpPr>
        <p:grpSpPr>
          <a:xfrm>
            <a:off x="457200" y="3962400"/>
            <a:ext cx="1143000" cy="566737"/>
            <a:chOff x="1200" y="1248"/>
            <a:chExt cx="720" cy="357"/>
          </a:xfrm>
        </p:grpSpPr>
        <p:pic>
          <p:nvPicPr>
            <p:cNvPr id="399" name="Google Shape;399;p25"/>
            <p:cNvPicPr preferRelativeResize="0"/>
            <p:nvPr/>
          </p:nvPicPr>
          <p:blipFill rotWithShape="1">
            <a:blip r:embed="rId4">
              <a:alphaModFix/>
            </a:blip>
            <a:srcRect b="0" l="0" r="0" t="0"/>
            <a:stretch/>
          </p:blipFill>
          <p:spPr>
            <a:xfrm>
              <a:off x="1200" y="1248"/>
              <a:ext cx="720" cy="357"/>
            </a:xfrm>
            <a:prstGeom prst="rect">
              <a:avLst/>
            </a:prstGeom>
            <a:noFill/>
            <a:ln>
              <a:noFill/>
            </a:ln>
          </p:spPr>
        </p:pic>
        <p:sp>
          <p:nvSpPr>
            <p:cNvPr id="400" name="Google Shape;400;p25"/>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07" name="Google Shape;407;p2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08" name="Google Shape;408;p2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09" name="Google Shape;409;p2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10" name="Google Shape;410;p2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11" name="Google Shape;411;p2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12" name="Google Shape;412;p2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13" name="Google Shape;413;p2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14" name="Google Shape;414;p2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415" name="Google Shape;415;p26"/>
          <p:cNvSpPr txBox="1"/>
          <p:nvPr/>
        </p:nvSpPr>
        <p:spPr>
          <a:xfrm>
            <a:off x="152400" y="12954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Use the additive cipher with key = 15 to decrypt the message “WTAAD”.</a:t>
            </a:r>
            <a:endParaRPr b="0" i="0" sz="1400" u="none" cap="none" strike="noStrike">
              <a:solidFill>
                <a:srgbClr val="000000"/>
              </a:solidFill>
              <a:latin typeface="Arial"/>
              <a:ea typeface="Arial"/>
              <a:cs typeface="Arial"/>
              <a:sym typeface="Arial"/>
            </a:endParaRPr>
          </a:p>
        </p:txBody>
      </p:sp>
      <p:sp>
        <p:nvSpPr>
          <p:cNvPr id="416" name="Google Shape;416;p26"/>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3.4</a:t>
            </a:r>
            <a:endParaRPr b="0" i="0" sz="1400" u="none" cap="none" strike="noStrike">
              <a:solidFill>
                <a:srgbClr val="000000"/>
              </a:solidFill>
              <a:latin typeface="Arial"/>
              <a:ea typeface="Arial"/>
              <a:cs typeface="Arial"/>
              <a:sym typeface="Arial"/>
            </a:endParaRPr>
          </a:p>
        </p:txBody>
      </p:sp>
      <p:sp>
        <p:nvSpPr>
          <p:cNvPr id="417" name="Google Shape;417;p26"/>
          <p:cNvSpPr txBox="1"/>
          <p:nvPr/>
        </p:nvSpPr>
        <p:spPr>
          <a:xfrm>
            <a:off x="152400" y="2678112"/>
            <a:ext cx="8839200" cy="8318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We apply the decryption algorithm to the plaintext character by character:   </a:t>
            </a:r>
            <a:endParaRPr b="0" i="0" sz="1400" u="none" cap="none" strike="noStrike">
              <a:solidFill>
                <a:srgbClr val="000000"/>
              </a:solidFill>
              <a:latin typeface="Arial"/>
              <a:ea typeface="Arial"/>
              <a:cs typeface="Arial"/>
              <a:sym typeface="Arial"/>
            </a:endParaRPr>
          </a:p>
        </p:txBody>
      </p:sp>
      <p:sp>
        <p:nvSpPr>
          <p:cNvPr id="418" name="Google Shape;418;p26"/>
          <p:cNvSpPr txBox="1"/>
          <p:nvPr/>
        </p:nvSpPr>
        <p:spPr>
          <a:xfrm>
            <a:off x="152400" y="2209800"/>
            <a:ext cx="82296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0"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p:txBody>
      </p:sp>
      <p:pic>
        <p:nvPicPr>
          <p:cNvPr id="419" name="Google Shape;419;p26"/>
          <p:cNvPicPr preferRelativeResize="0"/>
          <p:nvPr/>
        </p:nvPicPr>
        <p:blipFill rotWithShape="1">
          <a:blip r:embed="rId3">
            <a:alphaModFix/>
          </a:blip>
          <a:srcRect b="0" l="0" r="0" t="0"/>
          <a:stretch/>
        </p:blipFill>
        <p:spPr>
          <a:xfrm>
            <a:off x="506412" y="4208462"/>
            <a:ext cx="8162925" cy="1601787"/>
          </a:xfrm>
          <a:prstGeom prst="rect">
            <a:avLst/>
          </a:prstGeom>
          <a:noFill/>
          <a:ln>
            <a:noFill/>
          </a:ln>
        </p:spPr>
      </p:pic>
      <p:pic>
        <p:nvPicPr>
          <p:cNvPr id="420" name="Google Shape;420;p26"/>
          <p:cNvPicPr preferRelativeResize="0"/>
          <p:nvPr/>
        </p:nvPicPr>
        <p:blipFill rotWithShape="1">
          <a:blip r:embed="rId4">
            <a:alphaModFix/>
          </a:blip>
          <a:srcRect b="0" l="0" r="0" t="0"/>
          <a:stretch/>
        </p:blipFill>
        <p:spPr>
          <a:xfrm>
            <a:off x="2738437" y="3087687"/>
            <a:ext cx="2824162" cy="6461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27" name="Google Shape;427;p2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28" name="Google Shape;428;p2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29" name="Google Shape;429;p2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0" name="Google Shape;430;p2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1" name="Google Shape;431;p2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2" name="Google Shape;432;p2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3" name="Google Shape;433;p2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4" name="Google Shape;434;p2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435" name="Google Shape;435;p27"/>
          <p:cNvSpPr txBox="1"/>
          <p:nvPr/>
        </p:nvSpPr>
        <p:spPr>
          <a:xfrm>
            <a:off x="152400" y="11430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Use the additive cipher with key = 15 to encrypt the message “hello”.</a:t>
            </a:r>
            <a:endParaRPr b="0" i="0" sz="1400" u="none" cap="none" strike="noStrike">
              <a:solidFill>
                <a:srgbClr val="000000"/>
              </a:solidFill>
              <a:latin typeface="Arial"/>
              <a:ea typeface="Arial"/>
              <a:cs typeface="Arial"/>
              <a:sym typeface="Arial"/>
            </a:endParaRPr>
          </a:p>
        </p:txBody>
      </p:sp>
      <p:sp>
        <p:nvSpPr>
          <p:cNvPr id="436" name="Google Shape;436;p27"/>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3.3</a:t>
            </a:r>
            <a:endParaRPr b="0" i="0" sz="1400" u="none" cap="none" strike="noStrike">
              <a:solidFill>
                <a:srgbClr val="000000"/>
              </a:solidFill>
              <a:latin typeface="Arial"/>
              <a:ea typeface="Arial"/>
              <a:cs typeface="Arial"/>
              <a:sym typeface="Arial"/>
            </a:endParaRPr>
          </a:p>
        </p:txBody>
      </p:sp>
      <p:sp>
        <p:nvSpPr>
          <p:cNvPr id="437" name="Google Shape;437;p27"/>
          <p:cNvSpPr txBox="1"/>
          <p:nvPr/>
        </p:nvSpPr>
        <p:spPr>
          <a:xfrm>
            <a:off x="152400" y="2601912"/>
            <a:ext cx="8839200" cy="8318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We apply the encryption algorithm to the plaintext, character by character: </a:t>
            </a:r>
            <a:endParaRPr b="0" i="0" sz="1400" u="none" cap="none" strike="noStrike">
              <a:solidFill>
                <a:srgbClr val="000000"/>
              </a:solidFill>
              <a:latin typeface="Arial"/>
              <a:ea typeface="Arial"/>
              <a:cs typeface="Arial"/>
              <a:sym typeface="Arial"/>
            </a:endParaRPr>
          </a:p>
        </p:txBody>
      </p:sp>
      <p:sp>
        <p:nvSpPr>
          <p:cNvPr id="438" name="Google Shape;438;p27"/>
          <p:cNvSpPr txBox="1"/>
          <p:nvPr/>
        </p:nvSpPr>
        <p:spPr>
          <a:xfrm>
            <a:off x="152400" y="2147887"/>
            <a:ext cx="82296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0"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p:txBody>
      </p:sp>
      <p:pic>
        <p:nvPicPr>
          <p:cNvPr id="439" name="Google Shape;439;p27"/>
          <p:cNvPicPr preferRelativeResize="0"/>
          <p:nvPr/>
        </p:nvPicPr>
        <p:blipFill rotWithShape="1">
          <a:blip r:embed="rId3">
            <a:alphaModFix/>
          </a:blip>
          <a:srcRect b="0" l="0" r="0" t="0"/>
          <a:stretch/>
        </p:blipFill>
        <p:spPr>
          <a:xfrm>
            <a:off x="490537" y="4176712"/>
            <a:ext cx="8070850" cy="1647825"/>
          </a:xfrm>
          <a:prstGeom prst="rect">
            <a:avLst/>
          </a:prstGeom>
          <a:noFill/>
          <a:ln>
            <a:noFill/>
          </a:ln>
        </p:spPr>
      </p:pic>
      <p:pic>
        <p:nvPicPr>
          <p:cNvPr id="440" name="Google Shape;440;p27"/>
          <p:cNvPicPr preferRelativeResize="0"/>
          <p:nvPr/>
        </p:nvPicPr>
        <p:blipFill rotWithShape="1">
          <a:blip r:embed="rId4">
            <a:alphaModFix/>
          </a:blip>
          <a:srcRect b="0" l="0" r="0" t="0"/>
          <a:stretch/>
        </p:blipFill>
        <p:spPr>
          <a:xfrm>
            <a:off x="3346450" y="3071812"/>
            <a:ext cx="1982787" cy="3571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47" name="Google Shape;447;p2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48" name="Google Shape;448;p2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49" name="Google Shape;449;p2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50" name="Google Shape;450;p2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51" name="Google Shape;451;p2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52" name="Google Shape;452;p2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53" name="Google Shape;453;p2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54" name="Google Shape;454;p28"/>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 </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455" name="Google Shape;455;p28"/>
          <p:cNvSpPr txBox="1"/>
          <p:nvPr/>
        </p:nvSpPr>
        <p:spPr>
          <a:xfrm>
            <a:off x="152400" y="1143000"/>
            <a:ext cx="8839200" cy="15525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Historically, additive ciphers are called </a:t>
            </a:r>
            <a:r>
              <a:rPr b="1" i="0" lang="en-US" sz="2400" u="none" cap="none" strike="noStrike">
                <a:solidFill>
                  <a:schemeClr val="hlink"/>
                </a:solidFill>
                <a:latin typeface="Times New Roman"/>
                <a:ea typeface="Times New Roman"/>
                <a:cs typeface="Times New Roman"/>
                <a:sym typeface="Times New Roman"/>
              </a:rPr>
              <a:t>shift ciphers</a:t>
            </a:r>
            <a:r>
              <a:rPr b="1" i="0" lang="en-US" sz="2400" u="none" cap="none" strike="noStrike">
                <a:solidFill>
                  <a:schemeClr val="dk1"/>
                </a:solidFill>
                <a:latin typeface="Times New Roman"/>
                <a:ea typeface="Times New Roman"/>
                <a:cs typeface="Times New Roman"/>
                <a:sym typeface="Times New Roman"/>
              </a:rPr>
              <a:t>. Julius Caesar used an additive cipher to communicate with his officers. For this reason, additive ciphers are sometimes referred to as the Caesar cipher. Caesar used a key of 3 for his communications. </a:t>
            </a:r>
            <a:endParaRPr b="0" i="0" sz="1400" u="none" cap="none" strike="noStrike">
              <a:solidFill>
                <a:srgbClr val="000000"/>
              </a:solidFill>
              <a:latin typeface="Arial"/>
              <a:ea typeface="Arial"/>
              <a:cs typeface="Arial"/>
              <a:sym typeface="Arial"/>
            </a:endParaRPr>
          </a:p>
        </p:txBody>
      </p:sp>
      <p:sp>
        <p:nvSpPr>
          <p:cNvPr id="456" name="Google Shape;456;p28"/>
          <p:cNvSpPr txBox="1"/>
          <p:nvPr/>
        </p:nvSpPr>
        <p:spPr>
          <a:xfrm>
            <a:off x="1143000" y="533400"/>
            <a:ext cx="43513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Shift Cipher and Caesar Cipher</a:t>
            </a:r>
            <a:endParaRPr b="0" i="0" sz="1400" u="none" cap="none" strike="noStrike">
              <a:solidFill>
                <a:srgbClr val="000000"/>
              </a:solidFill>
              <a:latin typeface="Arial"/>
              <a:ea typeface="Arial"/>
              <a:cs typeface="Arial"/>
              <a:sym typeface="Arial"/>
            </a:endParaRPr>
          </a:p>
        </p:txBody>
      </p:sp>
      <p:cxnSp>
        <p:nvCxnSpPr>
          <p:cNvPr id="457" name="Google Shape;457;p28"/>
          <p:cNvCxnSpPr/>
          <p:nvPr/>
        </p:nvCxnSpPr>
        <p:spPr>
          <a:xfrm>
            <a:off x="457200" y="35814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458" name="Google Shape;458;p28"/>
          <p:cNvCxnSpPr/>
          <p:nvPr/>
        </p:nvCxnSpPr>
        <p:spPr>
          <a:xfrm>
            <a:off x="458787" y="4800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459" name="Google Shape;459;p28"/>
          <p:cNvSpPr txBox="1"/>
          <p:nvPr/>
        </p:nvSpPr>
        <p:spPr>
          <a:xfrm>
            <a:off x="495300" y="36734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Additive ciphers are sometimes referred to as shift ciphers or Caesar cipher.</a:t>
            </a:r>
            <a:endParaRPr b="0" i="0" sz="1400" u="none" cap="none" strike="noStrike">
              <a:solidFill>
                <a:srgbClr val="000000"/>
              </a:solidFill>
              <a:latin typeface="Arial"/>
              <a:ea typeface="Arial"/>
              <a:cs typeface="Arial"/>
              <a:sym typeface="Arial"/>
            </a:endParaRPr>
          </a:p>
        </p:txBody>
      </p:sp>
      <p:grpSp>
        <p:nvGrpSpPr>
          <p:cNvPr id="460" name="Google Shape;460;p28"/>
          <p:cNvGrpSpPr/>
          <p:nvPr/>
        </p:nvGrpSpPr>
        <p:grpSpPr>
          <a:xfrm>
            <a:off x="457200" y="2971800"/>
            <a:ext cx="1143000" cy="566737"/>
            <a:chOff x="1200" y="1248"/>
            <a:chExt cx="720" cy="357"/>
          </a:xfrm>
        </p:grpSpPr>
        <p:pic>
          <p:nvPicPr>
            <p:cNvPr id="461" name="Google Shape;461;p2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62" name="Google Shape;462;p28"/>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69" name="Google Shape;469;p2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70" name="Google Shape;470;p2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71" name="Google Shape;471;p2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72" name="Google Shape;472;p2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73" name="Google Shape;473;p2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74" name="Google Shape;474;p2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75" name="Google Shape;475;p2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76" name="Google Shape;476;p29"/>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3.2.1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477" name="Google Shape;477;p29"/>
          <p:cNvSpPr txBox="1"/>
          <p:nvPr/>
        </p:nvSpPr>
        <p:spPr>
          <a:xfrm>
            <a:off x="152400" y="1081087"/>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Eve has intercepted the ciphertext “UVACLYFZLJBYL”. Show how she can use a brute-force attack to break the cipher.</a:t>
            </a:r>
            <a:endParaRPr b="0" i="0" sz="1400" u="none" cap="none" strike="noStrike">
              <a:solidFill>
                <a:srgbClr val="000000"/>
              </a:solidFill>
              <a:latin typeface="Arial"/>
              <a:ea typeface="Arial"/>
              <a:cs typeface="Arial"/>
              <a:sym typeface="Arial"/>
            </a:endParaRPr>
          </a:p>
        </p:txBody>
      </p:sp>
      <p:sp>
        <p:nvSpPr>
          <p:cNvPr id="478" name="Google Shape;478;p29"/>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3.5</a:t>
            </a:r>
            <a:endParaRPr b="0" i="0" sz="1400" u="none" cap="none" strike="noStrike">
              <a:solidFill>
                <a:srgbClr val="000000"/>
              </a:solidFill>
              <a:latin typeface="Arial"/>
              <a:ea typeface="Arial"/>
              <a:cs typeface="Arial"/>
              <a:sym typeface="Arial"/>
            </a:endParaRPr>
          </a:p>
        </p:txBody>
      </p:sp>
      <p:sp>
        <p:nvSpPr>
          <p:cNvPr id="479" name="Google Shape;479;p29"/>
          <p:cNvSpPr txBox="1"/>
          <p:nvPr/>
        </p:nvSpPr>
        <p:spPr>
          <a:xfrm>
            <a:off x="152400" y="24384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Eve tries keys from 1 to 7. With a key of 7, the plaintext is “not very secure”, which makes sense.</a:t>
            </a:r>
            <a:endParaRPr b="0" i="0" sz="1400" u="none" cap="none" strike="noStrike">
              <a:solidFill>
                <a:srgbClr val="000000"/>
              </a:solidFill>
              <a:latin typeface="Arial"/>
              <a:ea typeface="Arial"/>
              <a:cs typeface="Arial"/>
              <a:sym typeface="Arial"/>
            </a:endParaRPr>
          </a:p>
        </p:txBody>
      </p:sp>
      <p:sp>
        <p:nvSpPr>
          <p:cNvPr id="480" name="Google Shape;480;p29"/>
          <p:cNvSpPr txBox="1"/>
          <p:nvPr/>
        </p:nvSpPr>
        <p:spPr>
          <a:xfrm>
            <a:off x="152400" y="1905000"/>
            <a:ext cx="82296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0"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p:txBody>
      </p:sp>
      <p:pic>
        <p:nvPicPr>
          <p:cNvPr id="481" name="Google Shape;481;p29"/>
          <p:cNvPicPr preferRelativeResize="0"/>
          <p:nvPr/>
        </p:nvPicPr>
        <p:blipFill rotWithShape="1">
          <a:blip r:embed="rId3">
            <a:alphaModFix/>
          </a:blip>
          <a:srcRect b="0" l="0" r="0" t="0"/>
          <a:stretch/>
        </p:blipFill>
        <p:spPr>
          <a:xfrm>
            <a:off x="663575" y="3429000"/>
            <a:ext cx="7413625" cy="3155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88" name="Google Shape;488;p3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89" name="Google Shape;489;p3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90" name="Google Shape;490;p3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91" name="Google Shape;491;p3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92" name="Google Shape;492;p3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93" name="Google Shape;493;p3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94" name="Google Shape;494;p3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95" name="Google Shape;495;p30"/>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pic>
        <p:nvPicPr>
          <p:cNvPr id="496" name="Google Shape;496;p30"/>
          <p:cNvPicPr preferRelativeResize="0"/>
          <p:nvPr/>
        </p:nvPicPr>
        <p:blipFill rotWithShape="1">
          <a:blip r:embed="rId3">
            <a:alphaModFix/>
          </a:blip>
          <a:srcRect b="0" l="0" r="0" t="0"/>
          <a:stretch/>
        </p:blipFill>
        <p:spPr>
          <a:xfrm>
            <a:off x="423862" y="1066800"/>
            <a:ext cx="8491537" cy="3062287"/>
          </a:xfrm>
          <a:prstGeom prst="rect">
            <a:avLst/>
          </a:prstGeom>
          <a:noFill/>
          <a:ln>
            <a:noFill/>
          </a:ln>
        </p:spPr>
      </p:pic>
      <p:sp>
        <p:nvSpPr>
          <p:cNvPr id="497" name="Google Shape;497;p30"/>
          <p:cNvSpPr txBox="1"/>
          <p:nvPr/>
        </p:nvSpPr>
        <p:spPr>
          <a:xfrm>
            <a:off x="2112962" y="609600"/>
            <a:ext cx="52593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Table 3.1  </a:t>
            </a:r>
            <a:r>
              <a:rPr b="1" i="1" lang="en-US" sz="2000" u="none" cap="none" strike="noStrike">
                <a:solidFill>
                  <a:schemeClr val="dk1"/>
                </a:solidFill>
                <a:latin typeface="Times New Roman"/>
                <a:ea typeface="Times New Roman"/>
                <a:cs typeface="Times New Roman"/>
                <a:sym typeface="Times New Roman"/>
              </a:rPr>
              <a:t>Frequency of characters in English</a:t>
            </a:r>
            <a:endParaRPr b="0" i="0" sz="1400" u="none" cap="none" strike="noStrike">
              <a:solidFill>
                <a:srgbClr val="000000"/>
              </a:solidFill>
              <a:latin typeface="Arial"/>
              <a:ea typeface="Arial"/>
              <a:cs typeface="Arial"/>
              <a:sym typeface="Arial"/>
            </a:endParaRPr>
          </a:p>
        </p:txBody>
      </p:sp>
      <p:sp>
        <p:nvSpPr>
          <p:cNvPr id="498" name="Google Shape;498;p30"/>
          <p:cNvSpPr txBox="1"/>
          <p:nvPr/>
        </p:nvSpPr>
        <p:spPr>
          <a:xfrm>
            <a:off x="1905000" y="4267200"/>
            <a:ext cx="5384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Table 3.2  </a:t>
            </a:r>
            <a:r>
              <a:rPr b="1" i="1" lang="en-US" sz="2000" u="none" cap="none" strike="noStrike">
                <a:solidFill>
                  <a:schemeClr val="dk1"/>
                </a:solidFill>
                <a:latin typeface="Times New Roman"/>
                <a:ea typeface="Times New Roman"/>
                <a:cs typeface="Times New Roman"/>
                <a:sym typeface="Times New Roman"/>
              </a:rPr>
              <a:t>Frequency of diagrams and trigrams</a:t>
            </a:r>
            <a:endParaRPr b="0" i="0" sz="1400" u="none" cap="none" strike="noStrike">
              <a:solidFill>
                <a:srgbClr val="000000"/>
              </a:solidFill>
              <a:latin typeface="Arial"/>
              <a:ea typeface="Arial"/>
              <a:cs typeface="Arial"/>
              <a:sym typeface="Arial"/>
            </a:endParaRPr>
          </a:p>
        </p:txBody>
      </p:sp>
      <p:pic>
        <p:nvPicPr>
          <p:cNvPr id="499" name="Google Shape;499;p30"/>
          <p:cNvPicPr preferRelativeResize="0"/>
          <p:nvPr/>
        </p:nvPicPr>
        <p:blipFill rotWithShape="1">
          <a:blip r:embed="rId4">
            <a:alphaModFix/>
          </a:blip>
          <a:srcRect b="0" l="0" r="0" t="0"/>
          <a:stretch/>
        </p:blipFill>
        <p:spPr>
          <a:xfrm>
            <a:off x="271462" y="5008562"/>
            <a:ext cx="8491537" cy="146843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06" name="Google Shape;506;p3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07" name="Google Shape;507;p3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08" name="Google Shape;508;p3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09" name="Google Shape;509;p3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10" name="Google Shape;510;p3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11" name="Google Shape;511;p3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12" name="Google Shape;512;p3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13" name="Google Shape;513;p31"/>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514" name="Google Shape;514;p31"/>
          <p:cNvSpPr txBox="1"/>
          <p:nvPr/>
        </p:nvSpPr>
        <p:spPr>
          <a:xfrm>
            <a:off x="152400" y="12954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Eve has intercepted the following ciphertext. Using a statistical attack, find the plaintext.</a:t>
            </a:r>
            <a:endParaRPr b="0" i="0" sz="1400" u="none" cap="none" strike="noStrike">
              <a:solidFill>
                <a:srgbClr val="000000"/>
              </a:solidFill>
              <a:latin typeface="Arial"/>
              <a:ea typeface="Arial"/>
              <a:cs typeface="Arial"/>
              <a:sym typeface="Arial"/>
            </a:endParaRPr>
          </a:p>
        </p:txBody>
      </p:sp>
      <p:sp>
        <p:nvSpPr>
          <p:cNvPr id="515" name="Google Shape;515;p31"/>
          <p:cNvSpPr txBox="1"/>
          <p:nvPr/>
        </p:nvSpPr>
        <p:spPr>
          <a:xfrm>
            <a:off x="1143000" y="5334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3.6</a:t>
            </a:r>
            <a:endParaRPr b="0" i="0" sz="1400" u="none" cap="none" strike="noStrike">
              <a:solidFill>
                <a:srgbClr val="000000"/>
              </a:solidFill>
              <a:latin typeface="Arial"/>
              <a:ea typeface="Arial"/>
              <a:cs typeface="Arial"/>
              <a:sym typeface="Arial"/>
            </a:endParaRPr>
          </a:p>
        </p:txBody>
      </p:sp>
      <p:sp>
        <p:nvSpPr>
          <p:cNvPr id="516" name="Google Shape;516;p31"/>
          <p:cNvSpPr txBox="1"/>
          <p:nvPr/>
        </p:nvSpPr>
        <p:spPr>
          <a:xfrm>
            <a:off x="152400" y="37338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When Eve tabulates the frequency of letters in this ciphertext, she gets: I =14, V =13, S =12, and so on. The most common character is I with 14 occurrences. This means key = 4.</a:t>
            </a:r>
            <a:r>
              <a:rPr b="1" i="0" lang="en-US" sz="2400" u="none" cap="none" strike="noStrike">
                <a:solidFill>
                  <a:schemeClr val="folHlink"/>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517" name="Google Shape;517;p31"/>
          <p:cNvSpPr txBox="1"/>
          <p:nvPr/>
        </p:nvSpPr>
        <p:spPr>
          <a:xfrm>
            <a:off x="152400" y="3124200"/>
            <a:ext cx="82296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0"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p:txBody>
      </p:sp>
      <p:pic>
        <p:nvPicPr>
          <p:cNvPr id="518" name="Google Shape;518;p31"/>
          <p:cNvPicPr preferRelativeResize="0"/>
          <p:nvPr/>
        </p:nvPicPr>
        <p:blipFill rotWithShape="1">
          <a:blip r:embed="rId3">
            <a:alphaModFix/>
          </a:blip>
          <a:srcRect b="0" l="0" r="0" t="0"/>
          <a:stretch/>
        </p:blipFill>
        <p:spPr>
          <a:xfrm>
            <a:off x="381000" y="2259012"/>
            <a:ext cx="8172450" cy="788987"/>
          </a:xfrm>
          <a:prstGeom prst="rect">
            <a:avLst/>
          </a:prstGeom>
          <a:noFill/>
          <a:ln>
            <a:noFill/>
          </a:ln>
        </p:spPr>
      </p:pic>
      <p:pic>
        <p:nvPicPr>
          <p:cNvPr id="519" name="Google Shape;519;p31"/>
          <p:cNvPicPr preferRelativeResize="0"/>
          <p:nvPr/>
        </p:nvPicPr>
        <p:blipFill rotWithShape="1">
          <a:blip r:embed="rId4">
            <a:alphaModFix/>
          </a:blip>
          <a:srcRect b="0" l="0" r="0" t="0"/>
          <a:stretch/>
        </p:blipFill>
        <p:spPr>
          <a:xfrm>
            <a:off x="261937" y="5314950"/>
            <a:ext cx="8729662" cy="628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26" name="Google Shape;526;p3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27" name="Google Shape;527;p3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28" name="Google Shape;528;p3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29" name="Google Shape;529;p3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30" name="Google Shape;530;p3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31" name="Google Shape;531;p3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32" name="Google Shape;532;p3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33" name="Google Shape;533;p32"/>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534" name="Google Shape;534;p32"/>
          <p:cNvSpPr txBox="1"/>
          <p:nvPr/>
        </p:nvSpPr>
        <p:spPr>
          <a:xfrm>
            <a:off x="1143000" y="533400"/>
            <a:ext cx="31194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Multiplicative Ciphers</a:t>
            </a:r>
            <a:endParaRPr b="0" i="0" sz="1400" u="none" cap="none" strike="noStrike">
              <a:solidFill>
                <a:srgbClr val="000000"/>
              </a:solidFill>
              <a:latin typeface="Arial"/>
              <a:ea typeface="Arial"/>
              <a:cs typeface="Arial"/>
              <a:sym typeface="Arial"/>
            </a:endParaRPr>
          </a:p>
        </p:txBody>
      </p:sp>
      <p:cxnSp>
        <p:nvCxnSpPr>
          <p:cNvPr id="535" name="Google Shape;535;p32"/>
          <p:cNvCxnSpPr/>
          <p:nvPr/>
        </p:nvCxnSpPr>
        <p:spPr>
          <a:xfrm>
            <a:off x="457200" y="50292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536" name="Google Shape;536;p32"/>
          <p:cNvCxnSpPr/>
          <p:nvPr/>
        </p:nvCxnSpPr>
        <p:spPr>
          <a:xfrm>
            <a:off x="458787" y="6705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537" name="Google Shape;537;p32"/>
          <p:cNvSpPr txBox="1"/>
          <p:nvPr/>
        </p:nvSpPr>
        <p:spPr>
          <a:xfrm>
            <a:off x="495300" y="5075237"/>
            <a:ext cx="8077200" cy="1554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 a multiplicative cipher, the plaintext and ciphertext are integers in Z</a:t>
            </a:r>
            <a:r>
              <a:rPr b="1" baseline="-25000" i="0" lang="en-US" sz="3200" u="none" cap="none" strike="noStrike">
                <a:solidFill>
                  <a:schemeClr val="dk1"/>
                </a:solidFill>
                <a:latin typeface="Arial"/>
                <a:ea typeface="Arial"/>
                <a:cs typeface="Arial"/>
                <a:sym typeface="Arial"/>
              </a:rPr>
              <a:t>26</a:t>
            </a:r>
            <a:r>
              <a:rPr b="1" i="0" lang="en-US" sz="3200" u="none" cap="none" strike="noStrike">
                <a:solidFill>
                  <a:schemeClr val="dk1"/>
                </a:solidFill>
                <a:latin typeface="Arial"/>
                <a:ea typeface="Arial"/>
                <a:cs typeface="Arial"/>
                <a:sym typeface="Arial"/>
              </a:rPr>
              <a:t>; the key is an integer in Z</a:t>
            </a:r>
            <a:r>
              <a:rPr b="1" baseline="-25000" i="0" lang="en-US" sz="3200" u="none" cap="none" strike="noStrike">
                <a:solidFill>
                  <a:schemeClr val="dk1"/>
                </a:solidFill>
                <a:latin typeface="Arial"/>
                <a:ea typeface="Arial"/>
                <a:cs typeface="Arial"/>
                <a:sym typeface="Arial"/>
              </a:rPr>
              <a:t>26</a:t>
            </a:r>
            <a:r>
              <a:rPr b="1" i="0" lang="en-US" sz="32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nvGrpSpPr>
          <p:cNvPr id="538" name="Google Shape;538;p32"/>
          <p:cNvGrpSpPr/>
          <p:nvPr/>
        </p:nvGrpSpPr>
        <p:grpSpPr>
          <a:xfrm>
            <a:off x="457200" y="4373562"/>
            <a:ext cx="1143000" cy="566737"/>
            <a:chOff x="1200" y="1248"/>
            <a:chExt cx="720" cy="357"/>
          </a:xfrm>
        </p:grpSpPr>
        <p:pic>
          <p:nvPicPr>
            <p:cNvPr id="539" name="Google Shape;539;p3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540" name="Google Shape;540;p3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pic>
        <p:nvPicPr>
          <p:cNvPr id="541" name="Google Shape;541;p32"/>
          <p:cNvPicPr preferRelativeResize="0"/>
          <p:nvPr/>
        </p:nvPicPr>
        <p:blipFill rotWithShape="1">
          <a:blip r:embed="rId4">
            <a:alphaModFix/>
          </a:blip>
          <a:srcRect b="0" l="0" r="0" t="0"/>
          <a:stretch/>
        </p:blipFill>
        <p:spPr>
          <a:xfrm>
            <a:off x="520700" y="1981200"/>
            <a:ext cx="7861300" cy="2193925"/>
          </a:xfrm>
          <a:prstGeom prst="rect">
            <a:avLst/>
          </a:prstGeom>
          <a:noFill/>
          <a:ln>
            <a:noFill/>
          </a:ln>
        </p:spPr>
      </p:pic>
      <p:sp>
        <p:nvSpPr>
          <p:cNvPr id="542" name="Google Shape;542;p32"/>
          <p:cNvSpPr txBox="1"/>
          <p:nvPr/>
        </p:nvSpPr>
        <p:spPr>
          <a:xfrm>
            <a:off x="2495550" y="1295400"/>
            <a:ext cx="39814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3.10  </a:t>
            </a:r>
            <a:r>
              <a:rPr b="1" i="1" lang="en-US" sz="2000" u="none" cap="none" strike="noStrike">
                <a:solidFill>
                  <a:schemeClr val="dk1"/>
                </a:solidFill>
                <a:latin typeface="Times New Roman"/>
                <a:ea typeface="Times New Roman"/>
                <a:cs typeface="Times New Roman"/>
                <a:sym typeface="Times New Roman"/>
              </a:rPr>
              <a:t>Multiplicative cipher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49" name="Google Shape;549;p3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50" name="Google Shape;550;p3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51" name="Google Shape;551;p3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52" name="Google Shape;552;p3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53" name="Google Shape;553;p3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54" name="Google Shape;554;p3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55" name="Google Shape;555;p3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56" name="Google Shape;556;p3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557" name="Google Shape;557;p33"/>
          <p:cNvSpPr txBox="1"/>
          <p:nvPr/>
        </p:nvSpPr>
        <p:spPr>
          <a:xfrm>
            <a:off x="152400" y="1371600"/>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What is the key domain for any multiplicative cipher?</a:t>
            </a:r>
            <a:endParaRPr b="0" i="0" sz="1400" u="none" cap="none" strike="noStrike">
              <a:solidFill>
                <a:srgbClr val="000000"/>
              </a:solidFill>
              <a:latin typeface="Arial"/>
              <a:ea typeface="Arial"/>
              <a:cs typeface="Arial"/>
              <a:sym typeface="Arial"/>
            </a:endParaRPr>
          </a:p>
        </p:txBody>
      </p:sp>
      <p:sp>
        <p:nvSpPr>
          <p:cNvPr id="558" name="Google Shape;558;p33"/>
          <p:cNvSpPr txBox="1"/>
          <p:nvPr/>
        </p:nvSpPr>
        <p:spPr>
          <a:xfrm>
            <a:off x="228600" y="9906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3.7</a:t>
            </a:r>
            <a:endParaRPr b="0" i="0" sz="1400" u="none" cap="none" strike="noStrike">
              <a:solidFill>
                <a:srgbClr val="000000"/>
              </a:solidFill>
              <a:latin typeface="Arial"/>
              <a:ea typeface="Arial"/>
              <a:cs typeface="Arial"/>
              <a:sym typeface="Arial"/>
            </a:endParaRPr>
          </a:p>
        </p:txBody>
      </p:sp>
      <p:sp>
        <p:nvSpPr>
          <p:cNvPr id="559" name="Google Shape;559;p33"/>
          <p:cNvSpPr txBox="1"/>
          <p:nvPr/>
        </p:nvSpPr>
        <p:spPr>
          <a:xfrm>
            <a:off x="152400" y="24384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key needs to be in Z</a:t>
            </a:r>
            <a:r>
              <a:rPr b="1" baseline="-25000" i="0" lang="en-US" sz="2400" u="none" cap="none" strike="noStrike">
                <a:solidFill>
                  <a:schemeClr val="dk1"/>
                </a:solidFill>
                <a:latin typeface="Times New Roman"/>
                <a:ea typeface="Times New Roman"/>
                <a:cs typeface="Times New Roman"/>
                <a:sym typeface="Times New Roman"/>
              </a:rPr>
              <a:t>26</a:t>
            </a:r>
            <a:r>
              <a:rPr b="1" i="0" lang="en-US" sz="2400" u="none" cap="none" strike="noStrike">
                <a:solidFill>
                  <a:schemeClr val="dk1"/>
                </a:solidFill>
                <a:latin typeface="Times New Roman"/>
                <a:ea typeface="Times New Roman"/>
                <a:cs typeface="Times New Roman"/>
                <a:sym typeface="Times New Roman"/>
              </a:rPr>
              <a:t>*. This set has only 12 members: 1, 3, 5, 7, 9, 11, 15, 17, 19, 21, 23, 25.</a:t>
            </a:r>
            <a:endParaRPr b="0" i="0" sz="1400" u="none" cap="none" strike="noStrike">
              <a:solidFill>
                <a:srgbClr val="000000"/>
              </a:solidFill>
              <a:latin typeface="Arial"/>
              <a:ea typeface="Arial"/>
              <a:cs typeface="Arial"/>
              <a:sym typeface="Arial"/>
            </a:endParaRPr>
          </a:p>
        </p:txBody>
      </p:sp>
      <p:sp>
        <p:nvSpPr>
          <p:cNvPr id="560" name="Google Shape;560;p33"/>
          <p:cNvSpPr txBox="1"/>
          <p:nvPr/>
        </p:nvSpPr>
        <p:spPr>
          <a:xfrm>
            <a:off x="152400" y="1905000"/>
            <a:ext cx="8229600" cy="51911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0"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p:txBody>
      </p:sp>
      <p:sp>
        <p:nvSpPr>
          <p:cNvPr id="561" name="Google Shape;561;p33"/>
          <p:cNvSpPr txBox="1"/>
          <p:nvPr/>
        </p:nvSpPr>
        <p:spPr>
          <a:xfrm>
            <a:off x="152400" y="3902075"/>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We use a multiplicative cipher to encrypt the message “hello” with a key of 7. The ciphertext is “XCZZU”.</a:t>
            </a:r>
            <a:endParaRPr b="0" i="0" sz="1400" u="none" cap="none" strike="noStrike">
              <a:solidFill>
                <a:srgbClr val="000000"/>
              </a:solidFill>
              <a:latin typeface="Arial"/>
              <a:ea typeface="Arial"/>
              <a:cs typeface="Arial"/>
              <a:sym typeface="Arial"/>
            </a:endParaRPr>
          </a:p>
        </p:txBody>
      </p:sp>
      <p:sp>
        <p:nvSpPr>
          <p:cNvPr id="562" name="Google Shape;562;p33"/>
          <p:cNvSpPr txBox="1"/>
          <p:nvPr/>
        </p:nvSpPr>
        <p:spPr>
          <a:xfrm>
            <a:off x="228600" y="3352800"/>
            <a:ext cx="17922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3.8</a:t>
            </a:r>
            <a:endParaRPr b="0" i="0" sz="1400" u="none" cap="none" strike="noStrike">
              <a:solidFill>
                <a:srgbClr val="000000"/>
              </a:solidFill>
              <a:latin typeface="Arial"/>
              <a:ea typeface="Arial"/>
              <a:cs typeface="Arial"/>
              <a:sym typeface="Arial"/>
            </a:endParaRPr>
          </a:p>
        </p:txBody>
      </p:sp>
      <p:pic>
        <p:nvPicPr>
          <p:cNvPr id="563" name="Google Shape;563;p33"/>
          <p:cNvPicPr preferRelativeResize="0"/>
          <p:nvPr/>
        </p:nvPicPr>
        <p:blipFill rotWithShape="1">
          <a:blip r:embed="rId3">
            <a:alphaModFix/>
          </a:blip>
          <a:srcRect b="0" l="0" r="0" t="0"/>
          <a:stretch/>
        </p:blipFill>
        <p:spPr>
          <a:xfrm>
            <a:off x="133350" y="4810125"/>
            <a:ext cx="8858250" cy="1666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70" name="Google Shape;570;p3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71" name="Google Shape;571;p3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72" name="Google Shape;572;p3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73" name="Google Shape;573;p3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74" name="Google Shape;574;p3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75" name="Google Shape;575;p3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76" name="Google Shape;576;p3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77" name="Google Shape;577;p3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578" name="Google Shape;578;p34"/>
          <p:cNvSpPr txBox="1"/>
          <p:nvPr/>
        </p:nvSpPr>
        <p:spPr>
          <a:xfrm>
            <a:off x="1143000" y="533400"/>
            <a:ext cx="2106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Affine Ciphers</a:t>
            </a:r>
            <a:endParaRPr b="0" i="0" sz="1400" u="none" cap="none" strike="noStrike">
              <a:solidFill>
                <a:srgbClr val="000000"/>
              </a:solidFill>
              <a:latin typeface="Arial"/>
              <a:ea typeface="Arial"/>
              <a:cs typeface="Arial"/>
              <a:sym typeface="Arial"/>
            </a:endParaRPr>
          </a:p>
        </p:txBody>
      </p:sp>
      <p:pic>
        <p:nvPicPr>
          <p:cNvPr id="579" name="Google Shape;579;p34"/>
          <p:cNvPicPr preferRelativeResize="0"/>
          <p:nvPr/>
        </p:nvPicPr>
        <p:blipFill rotWithShape="1">
          <a:blip r:embed="rId3">
            <a:alphaModFix/>
          </a:blip>
          <a:srcRect b="0" l="0" r="0" t="0"/>
          <a:stretch/>
        </p:blipFill>
        <p:spPr>
          <a:xfrm>
            <a:off x="457200" y="5391150"/>
            <a:ext cx="8080375" cy="1085850"/>
          </a:xfrm>
          <a:prstGeom prst="rect">
            <a:avLst/>
          </a:prstGeom>
          <a:noFill/>
          <a:ln>
            <a:noFill/>
          </a:ln>
        </p:spPr>
      </p:pic>
      <p:sp>
        <p:nvSpPr>
          <p:cNvPr id="580" name="Google Shape;580;p34"/>
          <p:cNvSpPr txBox="1"/>
          <p:nvPr/>
        </p:nvSpPr>
        <p:spPr>
          <a:xfrm>
            <a:off x="2743200" y="1828800"/>
            <a:ext cx="31956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3.11  </a:t>
            </a:r>
            <a:r>
              <a:rPr b="1" i="1" lang="en-US" sz="2000" u="none" cap="none" strike="noStrike">
                <a:solidFill>
                  <a:schemeClr val="dk1"/>
                </a:solidFill>
                <a:latin typeface="Times New Roman"/>
                <a:ea typeface="Times New Roman"/>
                <a:cs typeface="Times New Roman"/>
                <a:sym typeface="Times New Roman"/>
              </a:rPr>
              <a:t>Affine cipher</a:t>
            </a:r>
            <a:endParaRPr b="0" i="0" sz="1400" u="none" cap="none" strike="noStrike">
              <a:solidFill>
                <a:srgbClr val="000000"/>
              </a:solidFill>
              <a:latin typeface="Arial"/>
              <a:ea typeface="Arial"/>
              <a:cs typeface="Arial"/>
              <a:sym typeface="Arial"/>
            </a:endParaRPr>
          </a:p>
        </p:txBody>
      </p:sp>
      <p:pic>
        <p:nvPicPr>
          <p:cNvPr id="581" name="Google Shape;581;p34"/>
          <p:cNvPicPr preferRelativeResize="0"/>
          <p:nvPr/>
        </p:nvPicPr>
        <p:blipFill rotWithShape="1">
          <a:blip r:embed="rId4">
            <a:alphaModFix/>
          </a:blip>
          <a:srcRect b="0" l="0" r="0" t="0"/>
          <a:stretch/>
        </p:blipFill>
        <p:spPr>
          <a:xfrm>
            <a:off x="504825" y="2438400"/>
            <a:ext cx="8181975" cy="27654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3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88" name="Google Shape;588;p3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89" name="Google Shape;589;p3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90" name="Google Shape;590;p3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91" name="Google Shape;591;p3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92" name="Google Shape;592;p3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93" name="Google Shape;593;p3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94" name="Google Shape;594;p3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95" name="Google Shape;595;p3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596" name="Google Shape;596;p35"/>
          <p:cNvSpPr txBox="1"/>
          <p:nvPr/>
        </p:nvSpPr>
        <p:spPr>
          <a:xfrm>
            <a:off x="152400" y="16764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affine cipher uses a pair of keys in which the first key is from Z</a:t>
            </a:r>
            <a:r>
              <a:rPr b="1" baseline="-25000" i="0" lang="en-US" sz="2400" u="none" cap="none" strike="noStrike">
                <a:solidFill>
                  <a:schemeClr val="dk1"/>
                </a:solidFill>
                <a:latin typeface="Times New Roman"/>
                <a:ea typeface="Times New Roman"/>
                <a:cs typeface="Times New Roman"/>
                <a:sym typeface="Times New Roman"/>
              </a:rPr>
              <a:t>26</a:t>
            </a:r>
            <a:r>
              <a:rPr b="1" i="0" lang="en-US" sz="2400" u="none" cap="none" strike="noStrike">
                <a:solidFill>
                  <a:schemeClr val="dk1"/>
                </a:solidFill>
                <a:latin typeface="Times New Roman"/>
                <a:ea typeface="Times New Roman"/>
                <a:cs typeface="Times New Roman"/>
                <a:sym typeface="Times New Roman"/>
              </a:rPr>
              <a:t>* and the second is from Z</a:t>
            </a:r>
            <a:r>
              <a:rPr b="1" baseline="-25000" i="0" lang="en-US" sz="2400" u="none" cap="none" strike="noStrike">
                <a:solidFill>
                  <a:schemeClr val="dk1"/>
                </a:solidFill>
                <a:latin typeface="Times New Roman"/>
                <a:ea typeface="Times New Roman"/>
                <a:cs typeface="Times New Roman"/>
                <a:sym typeface="Times New Roman"/>
              </a:rPr>
              <a:t>26</a:t>
            </a:r>
            <a:r>
              <a:rPr b="1" i="0" lang="en-US" sz="2400" u="none" cap="none" strike="noStrike">
                <a:solidFill>
                  <a:schemeClr val="dk1"/>
                </a:solidFill>
                <a:latin typeface="Times New Roman"/>
                <a:ea typeface="Times New Roman"/>
                <a:cs typeface="Times New Roman"/>
                <a:sym typeface="Times New Roman"/>
              </a:rPr>
              <a:t>. The size of the key domain is </a:t>
            </a:r>
            <a:br>
              <a:rPr b="1" i="0" lang="en-US" sz="2400" u="none" cap="none" strike="noStrike">
                <a:solidFill>
                  <a:schemeClr val="dk1"/>
                </a:solidFill>
                <a:latin typeface="Times New Roman"/>
                <a:ea typeface="Times New Roman"/>
                <a:cs typeface="Times New Roman"/>
                <a:sym typeface="Times New Roman"/>
              </a:rPr>
            </a:br>
            <a:r>
              <a:rPr b="1" i="0" lang="en-US" sz="2400" u="none" cap="none" strike="noStrike">
                <a:solidFill>
                  <a:schemeClr val="dk1"/>
                </a:solidFill>
                <a:latin typeface="Times New Roman"/>
                <a:ea typeface="Times New Roman"/>
                <a:cs typeface="Times New Roman"/>
                <a:sym typeface="Times New Roman"/>
              </a:rPr>
              <a:t>26 × 12 = 312.</a:t>
            </a:r>
            <a:endParaRPr b="0" i="0" sz="1400" u="none" cap="none" strike="noStrike">
              <a:solidFill>
                <a:srgbClr val="000000"/>
              </a:solidFill>
              <a:latin typeface="Arial"/>
              <a:ea typeface="Arial"/>
              <a:cs typeface="Arial"/>
              <a:sym typeface="Arial"/>
            </a:endParaRPr>
          </a:p>
        </p:txBody>
      </p:sp>
      <p:sp>
        <p:nvSpPr>
          <p:cNvPr id="597" name="Google Shape;597;p35"/>
          <p:cNvSpPr txBox="1"/>
          <p:nvPr/>
        </p:nvSpPr>
        <p:spPr>
          <a:xfrm>
            <a:off x="341312" y="11430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3.09</a:t>
            </a:r>
            <a:endParaRPr b="0" i="0" sz="1400" u="none" cap="none" strike="noStrike">
              <a:solidFill>
                <a:srgbClr val="000000"/>
              </a:solidFill>
              <a:latin typeface="Arial"/>
              <a:ea typeface="Arial"/>
              <a:cs typeface="Arial"/>
              <a:sym typeface="Arial"/>
            </a:endParaRPr>
          </a:p>
        </p:txBody>
      </p:sp>
      <p:sp>
        <p:nvSpPr>
          <p:cNvPr id="598" name="Google Shape;598;p35"/>
          <p:cNvSpPr txBox="1"/>
          <p:nvPr/>
        </p:nvSpPr>
        <p:spPr>
          <a:xfrm>
            <a:off x="152400" y="35052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Use an affine cipher to encrypt the message “hello” with the key pair (7, 2).</a:t>
            </a:r>
            <a:endParaRPr b="0" i="0" sz="1400" u="none" cap="none" strike="noStrike">
              <a:solidFill>
                <a:srgbClr val="000000"/>
              </a:solidFill>
              <a:latin typeface="Arial"/>
              <a:ea typeface="Arial"/>
              <a:cs typeface="Arial"/>
              <a:sym typeface="Arial"/>
            </a:endParaRPr>
          </a:p>
        </p:txBody>
      </p:sp>
      <p:sp>
        <p:nvSpPr>
          <p:cNvPr id="599" name="Google Shape;599;p35"/>
          <p:cNvSpPr txBox="1"/>
          <p:nvPr/>
        </p:nvSpPr>
        <p:spPr>
          <a:xfrm>
            <a:off x="341312" y="3017837"/>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3.10</a:t>
            </a:r>
            <a:endParaRPr b="0" i="0" sz="1400" u="none" cap="none" strike="noStrike">
              <a:solidFill>
                <a:srgbClr val="000000"/>
              </a:solidFill>
              <a:latin typeface="Arial"/>
              <a:ea typeface="Arial"/>
              <a:cs typeface="Arial"/>
              <a:sym typeface="Arial"/>
            </a:endParaRPr>
          </a:p>
        </p:txBody>
      </p:sp>
      <p:pic>
        <p:nvPicPr>
          <p:cNvPr id="600" name="Google Shape;600;p35"/>
          <p:cNvPicPr preferRelativeResize="0"/>
          <p:nvPr/>
        </p:nvPicPr>
        <p:blipFill rotWithShape="1">
          <a:blip r:embed="rId3">
            <a:alphaModFix/>
          </a:blip>
          <a:srcRect b="0" l="0" r="0" t="0"/>
          <a:stretch/>
        </p:blipFill>
        <p:spPr>
          <a:xfrm>
            <a:off x="228600" y="4518025"/>
            <a:ext cx="8729662" cy="15335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3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07" name="Google Shape;607;p3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08" name="Google Shape;608;p3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09" name="Google Shape;609;p3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10" name="Google Shape;610;p3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11" name="Google Shape;611;p3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12" name="Google Shape;612;p3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13" name="Google Shape;613;p3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14" name="Google Shape;614;p3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615" name="Google Shape;615;p36"/>
          <p:cNvSpPr txBox="1"/>
          <p:nvPr/>
        </p:nvSpPr>
        <p:spPr>
          <a:xfrm>
            <a:off x="152400" y="1768475"/>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Use the affine cipher to decrypt the message “ZEBBW” with the key pair (7, 2) in modulus 26.</a:t>
            </a:r>
            <a:endParaRPr b="0" i="0" sz="1400" u="none" cap="none" strike="noStrike">
              <a:solidFill>
                <a:srgbClr val="000000"/>
              </a:solidFill>
              <a:latin typeface="Arial"/>
              <a:ea typeface="Arial"/>
              <a:cs typeface="Arial"/>
              <a:sym typeface="Arial"/>
            </a:endParaRPr>
          </a:p>
        </p:txBody>
      </p:sp>
      <p:sp>
        <p:nvSpPr>
          <p:cNvPr id="616" name="Google Shape;616;p36"/>
          <p:cNvSpPr txBox="1"/>
          <p:nvPr/>
        </p:nvSpPr>
        <p:spPr>
          <a:xfrm>
            <a:off x="228600" y="12192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3.11</a:t>
            </a:r>
            <a:endParaRPr b="0" i="0" sz="1400" u="none" cap="none" strike="noStrike">
              <a:solidFill>
                <a:srgbClr val="000000"/>
              </a:solidFill>
              <a:latin typeface="Arial"/>
              <a:ea typeface="Arial"/>
              <a:cs typeface="Arial"/>
              <a:sym typeface="Arial"/>
            </a:endParaRPr>
          </a:p>
        </p:txBody>
      </p:sp>
      <p:sp>
        <p:nvSpPr>
          <p:cNvPr id="617" name="Google Shape;617;p36"/>
          <p:cNvSpPr txBox="1"/>
          <p:nvPr/>
        </p:nvSpPr>
        <p:spPr>
          <a:xfrm>
            <a:off x="255587" y="2684462"/>
            <a:ext cx="1268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p:txBody>
      </p:sp>
      <p:pic>
        <p:nvPicPr>
          <p:cNvPr id="618" name="Google Shape;618;p36"/>
          <p:cNvPicPr preferRelativeResize="0"/>
          <p:nvPr/>
        </p:nvPicPr>
        <p:blipFill rotWithShape="1">
          <a:blip r:embed="rId3">
            <a:alphaModFix/>
          </a:blip>
          <a:srcRect b="0" l="0" r="0" t="0"/>
          <a:stretch/>
        </p:blipFill>
        <p:spPr>
          <a:xfrm>
            <a:off x="304800" y="3217862"/>
            <a:ext cx="8739187" cy="1536700"/>
          </a:xfrm>
          <a:prstGeom prst="rect">
            <a:avLst/>
          </a:prstGeom>
          <a:noFill/>
          <a:ln>
            <a:noFill/>
          </a:ln>
        </p:spPr>
      </p:pic>
      <p:sp>
        <p:nvSpPr>
          <p:cNvPr id="619" name="Google Shape;619;p36"/>
          <p:cNvSpPr txBox="1"/>
          <p:nvPr/>
        </p:nvSpPr>
        <p:spPr>
          <a:xfrm>
            <a:off x="304800" y="544195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additive cipher is a special case of an affine cipher in which </a:t>
            </a:r>
            <a:br>
              <a:rPr b="1" i="0" lang="en-US" sz="2400" u="none" cap="none" strike="noStrike">
                <a:solidFill>
                  <a:schemeClr val="dk1"/>
                </a:solidFill>
                <a:latin typeface="Times New Roman"/>
                <a:ea typeface="Times New Roman"/>
                <a:cs typeface="Times New Roman"/>
                <a:sym typeface="Times New Roman"/>
              </a:rPr>
            </a:br>
            <a:r>
              <a:rPr b="1" i="1" lang="en-US" sz="2400" u="none" cap="none" strike="noStrike">
                <a:solidFill>
                  <a:schemeClr val="dk1"/>
                </a:solidFill>
                <a:latin typeface="Times New Roman"/>
                <a:ea typeface="Times New Roman"/>
                <a:cs typeface="Times New Roman"/>
                <a:sym typeface="Times New Roman"/>
              </a:rPr>
              <a:t>k</a:t>
            </a:r>
            <a:r>
              <a:rPr b="1" baseline="-25000" i="0" lang="en-US" sz="2400" u="none" cap="none" strike="noStrike">
                <a:solidFill>
                  <a:schemeClr val="dk1"/>
                </a:solidFill>
                <a:latin typeface="Times New Roman"/>
                <a:ea typeface="Times New Roman"/>
                <a:cs typeface="Times New Roman"/>
                <a:sym typeface="Times New Roman"/>
              </a:rPr>
              <a:t>1</a:t>
            </a:r>
            <a:r>
              <a:rPr b="1" i="0" lang="en-US" sz="2400" u="none" cap="none" strike="noStrike">
                <a:solidFill>
                  <a:schemeClr val="dk1"/>
                </a:solidFill>
                <a:latin typeface="Times New Roman"/>
                <a:ea typeface="Times New Roman"/>
                <a:cs typeface="Times New Roman"/>
                <a:sym typeface="Times New Roman"/>
              </a:rPr>
              <a:t> = 1. The multiplicative cipher is a special case of affine cipher in which </a:t>
            </a:r>
            <a:r>
              <a:rPr b="1" i="1" lang="en-US" sz="2400" u="none" cap="none" strike="noStrike">
                <a:solidFill>
                  <a:schemeClr val="dk1"/>
                </a:solidFill>
                <a:latin typeface="Times New Roman"/>
                <a:ea typeface="Times New Roman"/>
                <a:cs typeface="Times New Roman"/>
                <a:sym typeface="Times New Roman"/>
              </a:rPr>
              <a:t>k</a:t>
            </a:r>
            <a:r>
              <a:rPr b="1" baseline="-25000" i="0" lang="en-US" sz="2400" u="none" cap="none" strike="noStrike">
                <a:solidFill>
                  <a:schemeClr val="dk1"/>
                </a:solidFill>
                <a:latin typeface="Times New Roman"/>
                <a:ea typeface="Times New Roman"/>
                <a:cs typeface="Times New Roman"/>
                <a:sym typeface="Times New Roman"/>
              </a:rPr>
              <a:t>2</a:t>
            </a:r>
            <a:r>
              <a:rPr b="1" i="0" lang="en-US" sz="2400" u="none" cap="none" strike="noStrike">
                <a:solidFill>
                  <a:schemeClr val="dk1"/>
                </a:solidFill>
                <a:latin typeface="Times New Roman"/>
                <a:ea typeface="Times New Roman"/>
                <a:cs typeface="Times New Roman"/>
                <a:sym typeface="Times New Roman"/>
              </a:rPr>
              <a:t> = 0.</a:t>
            </a:r>
            <a:endParaRPr b="0" i="0" sz="1400" u="none" cap="none" strike="noStrike">
              <a:solidFill>
                <a:srgbClr val="000000"/>
              </a:solidFill>
              <a:latin typeface="Arial"/>
              <a:ea typeface="Arial"/>
              <a:cs typeface="Arial"/>
              <a:sym typeface="Arial"/>
            </a:endParaRPr>
          </a:p>
        </p:txBody>
      </p:sp>
      <p:sp>
        <p:nvSpPr>
          <p:cNvPr id="620" name="Google Shape;620;p36"/>
          <p:cNvSpPr txBox="1"/>
          <p:nvPr/>
        </p:nvSpPr>
        <p:spPr>
          <a:xfrm>
            <a:off x="381000" y="49530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3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27" name="Google Shape;627;p3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28" name="Google Shape;628;p3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29" name="Google Shape;629;p3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30" name="Google Shape;630;p3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31" name="Google Shape;631;p3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32" name="Google Shape;632;p3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33" name="Google Shape;633;p3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34" name="Google Shape;634;p3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635" name="Google Shape;635;p37"/>
          <p:cNvSpPr txBox="1"/>
          <p:nvPr/>
        </p:nvSpPr>
        <p:spPr>
          <a:xfrm>
            <a:off x="1230312" y="692150"/>
            <a:ext cx="7729537" cy="461962"/>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Cryptanalysis of Affine Cipher – chosen plain text attack </a:t>
            </a:r>
            <a:endParaRPr b="0" i="0" sz="1400" u="none" cap="none" strike="noStrike">
              <a:solidFill>
                <a:srgbClr val="000000"/>
              </a:solidFill>
              <a:latin typeface="Arial"/>
              <a:ea typeface="Arial"/>
              <a:cs typeface="Arial"/>
              <a:sym typeface="Arial"/>
            </a:endParaRPr>
          </a:p>
        </p:txBody>
      </p:sp>
      <p:sp>
        <p:nvSpPr>
          <p:cNvPr id="636" name="Google Shape;636;p37"/>
          <p:cNvSpPr txBox="1"/>
          <p:nvPr/>
        </p:nvSpPr>
        <p:spPr>
          <a:xfrm>
            <a:off x="496887" y="2225675"/>
            <a:ext cx="7910400" cy="210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Assume eve intercepts the following cipher text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New Roman"/>
              <a:buNone/>
            </a:pPr>
            <a:r>
              <a:t/>
            </a:r>
            <a:endParaRPr b="1" baseline="-25000" i="1"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PWUFFOGWCHFDWIWEJOUUNJORSMDWRHVCMWJUPVCCG”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New Roman"/>
              <a:buNone/>
            </a:pPr>
            <a:r>
              <a:t/>
            </a:r>
            <a:endParaRPr b="1" baseline="-25000" i="1"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She also briefly obtains access to alice’s computer and has enough time to type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 two – letters “et” . She receives two cipher text “WC” and  “WF”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Can she find what the key wa</a:t>
            </a:r>
            <a:r>
              <a:rPr b="1" baseline="-25000" i="1" lang="en-US" sz="2800" u="none" cap="none" strike="noStrike">
                <a:solidFill>
                  <a:schemeClr val="dk1"/>
                </a:solidFill>
                <a:latin typeface="Times New Roman"/>
                <a:ea typeface="Times New Roman"/>
                <a:cs typeface="Times New Roman"/>
                <a:sym typeface="Times New Roman"/>
              </a:rPr>
              <a:t>s</a:t>
            </a:r>
            <a:r>
              <a:rPr b="1" baseline="-25000" i="1" lang="en-US" sz="2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43" name="Google Shape;643;p3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44" name="Google Shape;644;p3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45" name="Google Shape;645;p3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46" name="Google Shape;646;p3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47" name="Google Shape;647;p3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48" name="Google Shape;648;p3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49" name="Google Shape;649;p3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50" name="Google Shape;650;p38"/>
          <p:cNvSpPr txBox="1"/>
          <p:nvPr/>
        </p:nvSpPr>
        <p:spPr>
          <a:xfrm>
            <a:off x="1143000" y="0"/>
            <a:ext cx="2065337"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651" name="Google Shape;651;p38"/>
          <p:cNvSpPr txBox="1"/>
          <p:nvPr/>
        </p:nvSpPr>
        <p:spPr>
          <a:xfrm>
            <a:off x="152400" y="2024062"/>
            <a:ext cx="8839200" cy="19399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Decipher the following message  using suitable Cryptanalysis. Assume Affine cipher is used and Plain text “</a:t>
            </a:r>
            <a:r>
              <a:rPr b="1" i="0" lang="en-US" sz="2400" u="none" cap="none" strike="noStrike">
                <a:solidFill>
                  <a:srgbClr val="FF0000"/>
                </a:solidFill>
                <a:latin typeface="Times New Roman"/>
                <a:ea typeface="Times New Roman"/>
                <a:cs typeface="Times New Roman"/>
                <a:sym typeface="Times New Roman"/>
              </a:rPr>
              <a:t>ab</a:t>
            </a:r>
            <a:r>
              <a:rPr b="1" i="0" lang="en-US" sz="2400" u="none" cap="none" strike="noStrike">
                <a:solidFill>
                  <a:schemeClr val="dk1"/>
                </a:solidFill>
                <a:latin typeface="Times New Roman"/>
                <a:ea typeface="Times New Roman"/>
                <a:cs typeface="Times New Roman"/>
                <a:sym typeface="Times New Roman"/>
              </a:rPr>
              <a:t>” is enciphered to Cipher text “</a:t>
            </a:r>
            <a:r>
              <a:rPr b="1" i="0" lang="en-US" sz="2400" u="none" cap="none" strike="noStrike">
                <a:solidFill>
                  <a:srgbClr val="FF0000"/>
                </a:solidFill>
                <a:latin typeface="Times New Roman"/>
                <a:ea typeface="Times New Roman"/>
                <a:cs typeface="Times New Roman"/>
                <a:sym typeface="Times New Roman"/>
              </a:rPr>
              <a:t>GL</a:t>
            </a:r>
            <a:r>
              <a:rPr b="1"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Times New Roman"/>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      “XPALASXYFGFUKPXUSOGEUTKCDGFXANMGNVS”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58" name="Google Shape;658;p3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59" name="Google Shape;659;p3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0" name="Google Shape;660;p3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1" name="Google Shape;661;p3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2" name="Google Shape;662;p3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3" name="Google Shape;663;p3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4" name="Google Shape;664;p3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5" name="Google Shape;665;p39"/>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666" name="Google Shape;666;p39"/>
          <p:cNvSpPr txBox="1"/>
          <p:nvPr/>
        </p:nvSpPr>
        <p:spPr>
          <a:xfrm>
            <a:off x="152400" y="117475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Because additive, multiplicative, and affine ciphers have small key domains, they are very vulnerable to brute-force attack. </a:t>
            </a:r>
            <a:endParaRPr b="0" i="0" sz="1400" u="none" cap="none" strike="noStrike">
              <a:solidFill>
                <a:srgbClr val="000000"/>
              </a:solidFill>
              <a:latin typeface="Arial"/>
              <a:ea typeface="Arial"/>
              <a:cs typeface="Arial"/>
              <a:sym typeface="Arial"/>
            </a:endParaRPr>
          </a:p>
        </p:txBody>
      </p:sp>
      <p:sp>
        <p:nvSpPr>
          <p:cNvPr id="667" name="Google Shape;667;p39"/>
          <p:cNvSpPr txBox="1"/>
          <p:nvPr/>
        </p:nvSpPr>
        <p:spPr>
          <a:xfrm>
            <a:off x="1143000" y="533400"/>
            <a:ext cx="49609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Monoalphabetic Substitution Cipher</a:t>
            </a:r>
            <a:endParaRPr b="0" i="0" sz="1400" u="none" cap="none" strike="noStrike">
              <a:solidFill>
                <a:srgbClr val="000000"/>
              </a:solidFill>
              <a:latin typeface="Arial"/>
              <a:ea typeface="Arial"/>
              <a:cs typeface="Arial"/>
              <a:sym typeface="Arial"/>
            </a:endParaRPr>
          </a:p>
        </p:txBody>
      </p:sp>
      <p:sp>
        <p:nvSpPr>
          <p:cNvPr id="668" name="Google Shape;668;p39"/>
          <p:cNvSpPr txBox="1"/>
          <p:nvPr/>
        </p:nvSpPr>
        <p:spPr>
          <a:xfrm>
            <a:off x="152400" y="22098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A better solution is to create a mapping between each plaintext character and the corresponding ciphertext character. Alice and Bob can agree on a table showing the mapping for each character. </a:t>
            </a:r>
            <a:endParaRPr b="0" i="0" sz="1400" u="none" cap="none" strike="noStrike">
              <a:solidFill>
                <a:srgbClr val="000000"/>
              </a:solidFill>
              <a:latin typeface="Arial"/>
              <a:ea typeface="Arial"/>
              <a:cs typeface="Arial"/>
              <a:sym typeface="Arial"/>
            </a:endParaRPr>
          </a:p>
        </p:txBody>
      </p:sp>
      <p:pic>
        <p:nvPicPr>
          <p:cNvPr id="669" name="Google Shape;669;p39"/>
          <p:cNvPicPr preferRelativeResize="0"/>
          <p:nvPr/>
        </p:nvPicPr>
        <p:blipFill rotWithShape="1">
          <a:blip r:embed="rId3">
            <a:alphaModFix/>
          </a:blip>
          <a:srcRect b="0" l="0" r="0" t="0"/>
          <a:stretch/>
        </p:blipFill>
        <p:spPr>
          <a:xfrm>
            <a:off x="265112" y="4551362"/>
            <a:ext cx="8345487" cy="630237"/>
          </a:xfrm>
          <a:prstGeom prst="rect">
            <a:avLst/>
          </a:prstGeom>
          <a:noFill/>
          <a:ln>
            <a:noFill/>
          </a:ln>
        </p:spPr>
      </p:pic>
      <p:sp>
        <p:nvSpPr>
          <p:cNvPr id="670" name="Google Shape;670;p39"/>
          <p:cNvSpPr txBox="1"/>
          <p:nvPr/>
        </p:nvSpPr>
        <p:spPr>
          <a:xfrm>
            <a:off x="533400" y="3733800"/>
            <a:ext cx="75977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3.12  </a:t>
            </a:r>
            <a:r>
              <a:rPr b="1" i="1" lang="en-US" sz="2000" u="none" cap="none" strike="noStrike">
                <a:solidFill>
                  <a:schemeClr val="dk1"/>
                </a:solidFill>
                <a:latin typeface="Times New Roman"/>
                <a:ea typeface="Times New Roman"/>
                <a:cs typeface="Times New Roman"/>
                <a:sym typeface="Times New Roman"/>
              </a:rPr>
              <a:t>An example key for monoalphabetic substitution cipher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77" name="Google Shape;677;p4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78" name="Google Shape;678;p4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79" name="Google Shape;679;p4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0" name="Google Shape;680;p4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1" name="Google Shape;681;p4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2" name="Google Shape;682;p4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3" name="Google Shape;683;p4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4" name="Google Shape;684;p40"/>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685" name="Google Shape;685;p40"/>
          <p:cNvSpPr txBox="1"/>
          <p:nvPr/>
        </p:nvSpPr>
        <p:spPr>
          <a:xfrm>
            <a:off x="152400" y="1447800"/>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We can use the key in Figure 3.12 to encrypt the message</a:t>
            </a:r>
            <a:endParaRPr b="0" i="0" sz="1400" u="none" cap="none" strike="noStrike">
              <a:solidFill>
                <a:srgbClr val="000000"/>
              </a:solidFill>
              <a:latin typeface="Arial"/>
              <a:ea typeface="Arial"/>
              <a:cs typeface="Arial"/>
              <a:sym typeface="Arial"/>
            </a:endParaRPr>
          </a:p>
        </p:txBody>
      </p:sp>
      <p:sp>
        <p:nvSpPr>
          <p:cNvPr id="686" name="Google Shape;686;p40"/>
          <p:cNvSpPr txBox="1"/>
          <p:nvPr/>
        </p:nvSpPr>
        <p:spPr>
          <a:xfrm>
            <a:off x="304800" y="10668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3.13</a:t>
            </a:r>
            <a:endParaRPr b="0" i="0" sz="1400" u="none" cap="none" strike="noStrike">
              <a:solidFill>
                <a:srgbClr val="000000"/>
              </a:solidFill>
              <a:latin typeface="Arial"/>
              <a:ea typeface="Arial"/>
              <a:cs typeface="Arial"/>
              <a:sym typeface="Arial"/>
            </a:endParaRPr>
          </a:p>
        </p:txBody>
      </p:sp>
      <p:sp>
        <p:nvSpPr>
          <p:cNvPr id="687" name="Google Shape;687;p40"/>
          <p:cNvSpPr txBox="1"/>
          <p:nvPr/>
        </p:nvSpPr>
        <p:spPr>
          <a:xfrm>
            <a:off x="152400" y="2971800"/>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ciphertext is</a:t>
            </a:r>
            <a:endParaRPr b="0" i="0" sz="1400" u="none" cap="none" strike="noStrike">
              <a:solidFill>
                <a:srgbClr val="000000"/>
              </a:solidFill>
              <a:latin typeface="Arial"/>
              <a:ea typeface="Arial"/>
              <a:cs typeface="Arial"/>
              <a:sym typeface="Arial"/>
            </a:endParaRPr>
          </a:p>
        </p:txBody>
      </p:sp>
      <p:pic>
        <p:nvPicPr>
          <p:cNvPr id="688" name="Google Shape;688;p40"/>
          <p:cNvPicPr preferRelativeResize="0"/>
          <p:nvPr/>
        </p:nvPicPr>
        <p:blipFill rotWithShape="1">
          <a:blip r:embed="rId3">
            <a:alphaModFix/>
          </a:blip>
          <a:srcRect b="0" l="0" r="0" t="0"/>
          <a:stretch/>
        </p:blipFill>
        <p:spPr>
          <a:xfrm>
            <a:off x="815975" y="2209800"/>
            <a:ext cx="7185025" cy="485775"/>
          </a:xfrm>
          <a:prstGeom prst="rect">
            <a:avLst/>
          </a:prstGeom>
          <a:noFill/>
          <a:ln>
            <a:noFill/>
          </a:ln>
        </p:spPr>
      </p:pic>
      <p:pic>
        <p:nvPicPr>
          <p:cNvPr id="689" name="Google Shape;689;p40"/>
          <p:cNvPicPr preferRelativeResize="0"/>
          <p:nvPr/>
        </p:nvPicPr>
        <p:blipFill rotWithShape="1">
          <a:blip r:embed="rId4">
            <a:alphaModFix/>
          </a:blip>
          <a:srcRect b="0" l="0" r="0" t="0"/>
          <a:stretch/>
        </p:blipFill>
        <p:spPr>
          <a:xfrm>
            <a:off x="298450" y="4038600"/>
            <a:ext cx="8464550" cy="388937"/>
          </a:xfrm>
          <a:prstGeom prst="rect">
            <a:avLst/>
          </a:prstGeom>
          <a:noFill/>
          <a:ln>
            <a:noFill/>
          </a:ln>
        </p:spPr>
      </p:pic>
      <p:sp>
        <p:nvSpPr>
          <p:cNvPr id="690" name="Google Shape;690;p40"/>
          <p:cNvSpPr txBox="1"/>
          <p:nvPr/>
        </p:nvSpPr>
        <p:spPr>
          <a:xfrm>
            <a:off x="2741612" y="5037137"/>
            <a:ext cx="1771650" cy="379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baseline="-25000" i="1" lang="en-US" sz="2800" u="none" cap="none" strike="noStrike">
                <a:solidFill>
                  <a:schemeClr val="dk1"/>
                </a:solidFill>
                <a:latin typeface="Times New Roman"/>
                <a:ea typeface="Times New Roman"/>
                <a:cs typeface="Times New Roman"/>
                <a:sym typeface="Times New Roman"/>
              </a:rPr>
              <a:t>Key space is 26!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4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97" name="Google Shape;697;p4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98" name="Google Shape;698;p4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99" name="Google Shape;699;p4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00" name="Google Shape;700;p4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01" name="Google Shape;701;p4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02" name="Google Shape;702;p4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03" name="Google Shape;703;p4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04" name="Google Shape;704;p41"/>
          <p:cNvSpPr txBox="1"/>
          <p:nvPr/>
        </p:nvSpPr>
        <p:spPr>
          <a:xfrm>
            <a:off x="1143000" y="0"/>
            <a:ext cx="540067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3.2.2     Polyalphabetic Ciphers</a:t>
            </a:r>
            <a:endParaRPr b="0" i="0" sz="1400" u="none" cap="none" strike="noStrike">
              <a:solidFill>
                <a:srgbClr val="000000"/>
              </a:solidFill>
              <a:latin typeface="Arial"/>
              <a:ea typeface="Arial"/>
              <a:cs typeface="Arial"/>
              <a:sym typeface="Arial"/>
            </a:endParaRPr>
          </a:p>
        </p:txBody>
      </p:sp>
      <p:sp>
        <p:nvSpPr>
          <p:cNvPr id="705" name="Google Shape;705;p41"/>
          <p:cNvSpPr txBox="1"/>
          <p:nvPr/>
        </p:nvSpPr>
        <p:spPr>
          <a:xfrm>
            <a:off x="152400" y="990600"/>
            <a:ext cx="8839200" cy="18002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In polyalphabetic substitution, each occurrence of a character may have a different substitute. The relationship between a character in the plaintext to a character in the ciphertext is one-to-many. </a:t>
            </a:r>
            <a:endParaRPr b="0" i="0" sz="1400" u="none" cap="none" strike="noStrike">
              <a:solidFill>
                <a:srgbClr val="000000"/>
              </a:solidFill>
              <a:latin typeface="Arial"/>
              <a:ea typeface="Arial"/>
              <a:cs typeface="Arial"/>
              <a:sym typeface="Arial"/>
            </a:endParaRPr>
          </a:p>
        </p:txBody>
      </p:sp>
      <p:sp>
        <p:nvSpPr>
          <p:cNvPr id="706" name="Google Shape;706;p41"/>
          <p:cNvSpPr txBox="1"/>
          <p:nvPr/>
        </p:nvSpPr>
        <p:spPr>
          <a:xfrm>
            <a:off x="3438525" y="3733800"/>
            <a:ext cx="22764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Autokey Cipher</a:t>
            </a:r>
            <a:endParaRPr b="0" i="0" sz="1400" u="none" cap="none" strike="noStrike">
              <a:solidFill>
                <a:srgbClr val="000000"/>
              </a:solidFill>
              <a:latin typeface="Arial"/>
              <a:ea typeface="Arial"/>
              <a:cs typeface="Arial"/>
              <a:sym typeface="Arial"/>
            </a:endParaRPr>
          </a:p>
        </p:txBody>
      </p:sp>
      <p:pic>
        <p:nvPicPr>
          <p:cNvPr id="707" name="Google Shape;707;p41"/>
          <p:cNvPicPr preferRelativeResize="0"/>
          <p:nvPr/>
        </p:nvPicPr>
        <p:blipFill rotWithShape="1">
          <a:blip r:embed="rId3">
            <a:alphaModFix/>
          </a:blip>
          <a:srcRect b="0" l="0" r="0" t="0"/>
          <a:stretch/>
        </p:blipFill>
        <p:spPr>
          <a:xfrm>
            <a:off x="152400" y="4667250"/>
            <a:ext cx="8756650" cy="10477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14" name="Google Shape;714;p4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5" name="Google Shape;715;p4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6" name="Google Shape;716;p4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7" name="Google Shape;717;p4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8" name="Google Shape;718;p4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9" name="Google Shape;719;p4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20" name="Google Shape;720;p4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21" name="Google Shape;721;p42"/>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722" name="Google Shape;722;p42"/>
          <p:cNvSpPr txBox="1"/>
          <p:nvPr/>
        </p:nvSpPr>
        <p:spPr>
          <a:xfrm>
            <a:off x="152400" y="1082675"/>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Assume that Alice and Bob agreed to use an autokey cipher with initial key value </a:t>
            </a:r>
            <a:r>
              <a:rPr b="1" i="1" lang="en-US" sz="2400" u="none" cap="none" strike="noStrike">
                <a:solidFill>
                  <a:schemeClr val="dk1"/>
                </a:solidFill>
                <a:latin typeface="Times New Roman"/>
                <a:ea typeface="Times New Roman"/>
                <a:cs typeface="Times New Roman"/>
                <a:sym typeface="Times New Roman"/>
              </a:rPr>
              <a:t>k</a:t>
            </a:r>
            <a:r>
              <a:rPr b="1" baseline="-25000" i="0" lang="en-US" sz="2400" u="none" cap="none" strike="noStrike">
                <a:solidFill>
                  <a:schemeClr val="dk1"/>
                </a:solidFill>
                <a:latin typeface="Times New Roman"/>
                <a:ea typeface="Times New Roman"/>
                <a:cs typeface="Times New Roman"/>
                <a:sym typeface="Times New Roman"/>
              </a:rPr>
              <a:t>1</a:t>
            </a:r>
            <a:r>
              <a:rPr b="1" i="0" lang="en-US" sz="2400" u="none" cap="none" strike="noStrike">
                <a:solidFill>
                  <a:schemeClr val="dk1"/>
                </a:solidFill>
                <a:latin typeface="Times New Roman"/>
                <a:ea typeface="Times New Roman"/>
                <a:cs typeface="Times New Roman"/>
                <a:sym typeface="Times New Roman"/>
              </a:rPr>
              <a:t> = 12. Now Alice wants to send Bob the message “Attack is today”. Enciphering is done character by character.</a:t>
            </a:r>
            <a:endParaRPr b="0" i="0" sz="1400" u="none" cap="none" strike="noStrike">
              <a:solidFill>
                <a:srgbClr val="000000"/>
              </a:solidFill>
              <a:latin typeface="Arial"/>
              <a:ea typeface="Arial"/>
              <a:cs typeface="Arial"/>
              <a:sym typeface="Arial"/>
            </a:endParaRPr>
          </a:p>
        </p:txBody>
      </p:sp>
      <p:sp>
        <p:nvSpPr>
          <p:cNvPr id="723" name="Google Shape;723;p42"/>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3.14</a:t>
            </a:r>
            <a:endParaRPr b="0" i="0" sz="1400" u="none" cap="none" strike="noStrike">
              <a:solidFill>
                <a:srgbClr val="000000"/>
              </a:solidFill>
              <a:latin typeface="Arial"/>
              <a:ea typeface="Arial"/>
              <a:cs typeface="Arial"/>
              <a:sym typeface="Arial"/>
            </a:endParaRPr>
          </a:p>
        </p:txBody>
      </p:sp>
      <p:pic>
        <p:nvPicPr>
          <p:cNvPr id="724" name="Google Shape;724;p42"/>
          <p:cNvPicPr preferRelativeResize="0"/>
          <p:nvPr/>
        </p:nvPicPr>
        <p:blipFill rotWithShape="1">
          <a:blip r:embed="rId3">
            <a:alphaModFix/>
          </a:blip>
          <a:srcRect b="0" l="0" r="0" t="0"/>
          <a:stretch/>
        </p:blipFill>
        <p:spPr>
          <a:xfrm>
            <a:off x="381000" y="2647950"/>
            <a:ext cx="8153400" cy="14668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4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31" name="Google Shape;731;p4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2" name="Google Shape;732;p4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3" name="Google Shape;733;p4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4" name="Google Shape;734;p4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5" name="Google Shape;735;p4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6" name="Google Shape;736;p4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7" name="Google Shape;737;p4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8" name="Google Shape;738;p4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739" name="Google Shape;739;p43"/>
          <p:cNvSpPr txBox="1"/>
          <p:nvPr/>
        </p:nvSpPr>
        <p:spPr>
          <a:xfrm>
            <a:off x="1143000" y="533400"/>
            <a:ext cx="3216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Playfair Cipher</a:t>
            </a:r>
            <a:endParaRPr b="0" i="0" sz="1400" u="none" cap="none" strike="noStrike">
              <a:solidFill>
                <a:srgbClr val="000000"/>
              </a:solidFill>
              <a:latin typeface="Arial"/>
              <a:ea typeface="Arial"/>
              <a:cs typeface="Arial"/>
              <a:sym typeface="Arial"/>
            </a:endParaRPr>
          </a:p>
        </p:txBody>
      </p:sp>
      <p:pic>
        <p:nvPicPr>
          <p:cNvPr id="740" name="Google Shape;740;p43"/>
          <p:cNvPicPr preferRelativeResize="0"/>
          <p:nvPr/>
        </p:nvPicPr>
        <p:blipFill rotWithShape="1">
          <a:blip r:embed="rId3">
            <a:alphaModFix/>
          </a:blip>
          <a:srcRect b="0" l="0" r="0" t="0"/>
          <a:stretch/>
        </p:blipFill>
        <p:spPr>
          <a:xfrm>
            <a:off x="1371600" y="1757362"/>
            <a:ext cx="4805362" cy="2357437"/>
          </a:xfrm>
          <a:prstGeom prst="rect">
            <a:avLst/>
          </a:prstGeom>
          <a:noFill/>
          <a:ln>
            <a:noFill/>
          </a:ln>
        </p:spPr>
      </p:pic>
      <p:sp>
        <p:nvSpPr>
          <p:cNvPr id="741" name="Google Shape;741;p43"/>
          <p:cNvSpPr txBox="1"/>
          <p:nvPr/>
        </p:nvSpPr>
        <p:spPr>
          <a:xfrm>
            <a:off x="1066800" y="1066800"/>
            <a:ext cx="69008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3.13  </a:t>
            </a:r>
            <a:r>
              <a:rPr b="1" i="1" lang="en-US" sz="2000" u="none" cap="none" strike="noStrike">
                <a:solidFill>
                  <a:schemeClr val="dk1"/>
                </a:solidFill>
                <a:latin typeface="Times New Roman"/>
                <a:ea typeface="Times New Roman"/>
                <a:cs typeface="Times New Roman"/>
                <a:sym typeface="Times New Roman"/>
              </a:rPr>
              <a:t>An example of a secret key in the Playfair cipher</a:t>
            </a:r>
            <a:endParaRPr b="0" i="0" sz="1400" u="none" cap="none" strike="noStrike">
              <a:solidFill>
                <a:srgbClr val="000000"/>
              </a:solidFill>
              <a:latin typeface="Arial"/>
              <a:ea typeface="Arial"/>
              <a:cs typeface="Arial"/>
              <a:sym typeface="Arial"/>
            </a:endParaRPr>
          </a:p>
        </p:txBody>
      </p:sp>
      <p:sp>
        <p:nvSpPr>
          <p:cNvPr id="742" name="Google Shape;742;p43"/>
          <p:cNvSpPr txBox="1"/>
          <p:nvPr/>
        </p:nvSpPr>
        <p:spPr>
          <a:xfrm>
            <a:off x="152400" y="4800600"/>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Let us encrypt the plaintext “hello” using the key in Figure 3.13. </a:t>
            </a:r>
            <a:endParaRPr b="0" i="0" sz="1400" u="none" cap="none" strike="noStrike">
              <a:solidFill>
                <a:srgbClr val="000000"/>
              </a:solidFill>
              <a:latin typeface="Arial"/>
              <a:ea typeface="Arial"/>
              <a:cs typeface="Arial"/>
              <a:sym typeface="Arial"/>
            </a:endParaRPr>
          </a:p>
        </p:txBody>
      </p:sp>
      <p:pic>
        <p:nvPicPr>
          <p:cNvPr id="743" name="Google Shape;743;p43"/>
          <p:cNvPicPr preferRelativeResize="0"/>
          <p:nvPr/>
        </p:nvPicPr>
        <p:blipFill rotWithShape="1">
          <a:blip r:embed="rId4">
            <a:alphaModFix/>
          </a:blip>
          <a:srcRect b="0" l="0" r="0" t="0"/>
          <a:stretch/>
        </p:blipFill>
        <p:spPr>
          <a:xfrm>
            <a:off x="457200" y="5334000"/>
            <a:ext cx="8062912" cy="958850"/>
          </a:xfrm>
          <a:prstGeom prst="rect">
            <a:avLst/>
          </a:prstGeom>
          <a:noFill/>
          <a:ln>
            <a:noFill/>
          </a:ln>
        </p:spPr>
      </p:pic>
      <p:sp>
        <p:nvSpPr>
          <p:cNvPr id="744" name="Google Shape;744;p43"/>
          <p:cNvSpPr txBox="1"/>
          <p:nvPr/>
        </p:nvSpPr>
        <p:spPr>
          <a:xfrm>
            <a:off x="228600" y="42672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cf781e8b50_0_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51" name="Google Shape;751;g3cf781e8b50_0_5"/>
          <p:cNvSpPr txBox="1"/>
          <p:nvPr/>
        </p:nvSpPr>
        <p:spPr>
          <a:xfrm>
            <a:off x="366712" y="107950"/>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2" name="Google Shape;752;g3cf781e8b50_0_5"/>
          <p:cNvSpPr txBox="1"/>
          <p:nvPr/>
        </p:nvSpPr>
        <p:spPr>
          <a:xfrm>
            <a:off x="749300" y="107950"/>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3" name="Google Shape;753;g3cf781e8b50_0_5"/>
          <p:cNvSpPr txBox="1"/>
          <p:nvPr/>
        </p:nvSpPr>
        <p:spPr>
          <a:xfrm>
            <a:off x="490537" y="530225"/>
            <a:ext cx="4224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4" name="Google Shape;754;g3cf781e8b50_0_5"/>
          <p:cNvSpPr txBox="1"/>
          <p:nvPr/>
        </p:nvSpPr>
        <p:spPr>
          <a:xfrm>
            <a:off x="860425" y="530225"/>
            <a:ext cx="3684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5" name="Google Shape;755;g3cf781e8b50_0_5"/>
          <p:cNvSpPr txBox="1"/>
          <p:nvPr/>
        </p:nvSpPr>
        <p:spPr>
          <a:xfrm>
            <a:off x="76200" y="457200"/>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6" name="Google Shape;756;g3cf781e8b50_0_5"/>
          <p:cNvSpPr txBox="1"/>
          <p:nvPr/>
        </p:nvSpPr>
        <p:spPr>
          <a:xfrm>
            <a:off x="711200" y="0"/>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7" name="Google Shape;757;g3cf781e8b50_0_5"/>
          <p:cNvSpPr txBox="1"/>
          <p:nvPr/>
        </p:nvSpPr>
        <p:spPr>
          <a:xfrm>
            <a:off x="442912" y="533400"/>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8" name="Google Shape;758;g3cf781e8b50_0_5"/>
          <p:cNvSpPr txBox="1"/>
          <p:nvPr/>
        </p:nvSpPr>
        <p:spPr>
          <a:xfrm>
            <a:off x="1143000" y="0"/>
            <a:ext cx="32655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759" name="Google Shape;759;g3cf781e8b50_0_5"/>
          <p:cNvSpPr txBox="1"/>
          <p:nvPr/>
        </p:nvSpPr>
        <p:spPr>
          <a:xfrm>
            <a:off x="1143000" y="533400"/>
            <a:ext cx="3216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Playfair Cipher</a:t>
            </a:r>
            <a:endParaRPr b="0" i="0" sz="1400" u="none" cap="none" strike="noStrike">
              <a:solidFill>
                <a:srgbClr val="000000"/>
              </a:solidFill>
              <a:latin typeface="Arial"/>
              <a:ea typeface="Arial"/>
              <a:cs typeface="Arial"/>
              <a:sym typeface="Arial"/>
            </a:endParaRPr>
          </a:p>
        </p:txBody>
      </p:sp>
      <p:sp>
        <p:nvSpPr>
          <p:cNvPr id="760" name="Google Shape;760;g3cf781e8b50_0_5"/>
          <p:cNvSpPr txBox="1"/>
          <p:nvPr/>
        </p:nvSpPr>
        <p:spPr>
          <a:xfrm>
            <a:off x="1066800" y="1066800"/>
            <a:ext cx="6900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t/>
            </a:r>
            <a:endParaRPr b="0" i="0" sz="1400" u="none" cap="none" strike="noStrike">
              <a:solidFill>
                <a:srgbClr val="000000"/>
              </a:solidFill>
              <a:latin typeface="Arial"/>
              <a:ea typeface="Arial"/>
              <a:cs typeface="Arial"/>
              <a:sym typeface="Arial"/>
            </a:endParaRPr>
          </a:p>
        </p:txBody>
      </p:sp>
      <p:sp>
        <p:nvSpPr>
          <p:cNvPr id="761" name="Google Shape;761;g3cf781e8b50_0_5"/>
          <p:cNvSpPr txBox="1"/>
          <p:nvPr/>
        </p:nvSpPr>
        <p:spPr>
          <a:xfrm>
            <a:off x="152400" y="4800600"/>
            <a:ext cx="8839200" cy="3078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t/>
            </a:r>
            <a:endParaRPr b="0" i="0" sz="1400" u="none" cap="none" strike="noStrike">
              <a:solidFill>
                <a:srgbClr val="000000"/>
              </a:solidFill>
              <a:latin typeface="Arial"/>
              <a:ea typeface="Arial"/>
              <a:cs typeface="Arial"/>
              <a:sym typeface="Arial"/>
            </a:endParaRPr>
          </a:p>
        </p:txBody>
      </p:sp>
      <p:sp>
        <p:nvSpPr>
          <p:cNvPr id="762" name="Google Shape;762;g3cf781e8b50_0_5"/>
          <p:cNvSpPr txBox="1"/>
          <p:nvPr/>
        </p:nvSpPr>
        <p:spPr>
          <a:xfrm>
            <a:off x="219150" y="735575"/>
            <a:ext cx="8596200" cy="649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dk1"/>
                </a:solidFill>
              </a:rPr>
              <a:t>Encryption Rules</a:t>
            </a:r>
            <a:endParaRPr b="1" sz="2000">
              <a:solidFill>
                <a:schemeClr val="dk1"/>
              </a:solidFill>
            </a:endParaRPr>
          </a:p>
          <a:p>
            <a:pPr indent="0" lvl="0" marL="0" rtl="0" algn="l">
              <a:lnSpc>
                <a:spcPct val="115000"/>
              </a:lnSpc>
              <a:spcBef>
                <a:spcPts val="1200"/>
              </a:spcBef>
              <a:spcAft>
                <a:spcPts val="0"/>
              </a:spcAft>
              <a:buNone/>
            </a:pPr>
            <a:r>
              <a:rPr b="1" lang="en-US" sz="1550">
                <a:solidFill>
                  <a:schemeClr val="dk1"/>
                </a:solidFill>
              </a:rPr>
              <a:t>Rule 1: Same Row</a:t>
            </a:r>
            <a:endParaRPr b="1" sz="1550">
              <a:solidFill>
                <a:schemeClr val="dk1"/>
              </a:solidFill>
            </a:endParaRPr>
          </a:p>
          <a:p>
            <a:pPr indent="0" lvl="0" marL="0" rtl="0" algn="l">
              <a:lnSpc>
                <a:spcPct val="115000"/>
              </a:lnSpc>
              <a:spcBef>
                <a:spcPts val="1200"/>
              </a:spcBef>
              <a:spcAft>
                <a:spcPts val="0"/>
              </a:spcAft>
              <a:buNone/>
            </a:pPr>
            <a:r>
              <a:rPr lang="en-US">
                <a:solidFill>
                  <a:schemeClr val="dk1"/>
                </a:solidFill>
              </a:rPr>
              <a:t>If both letters are in the same row:</a:t>
            </a:r>
            <a:endParaRPr sz="15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a:solidFill>
                  <a:schemeClr val="dk1"/>
                </a:solidFill>
              </a:rPr>
              <a:t>Replace each letter with the letter to its right.</a:t>
            </a:r>
            <a:endParaRPr>
              <a:solidFill>
                <a:schemeClr val="dk1"/>
              </a:solidFill>
            </a:endParaRPr>
          </a:p>
          <a:p>
            <a:pPr indent="-311150" lvl="0" marL="457200" rtl="0" algn="l">
              <a:lnSpc>
                <a:spcPct val="115000"/>
              </a:lnSpc>
              <a:spcBef>
                <a:spcPts val="0"/>
              </a:spcBef>
              <a:spcAft>
                <a:spcPts val="0"/>
              </a:spcAft>
              <a:buClr>
                <a:schemeClr val="dk1"/>
              </a:buClr>
              <a:buSzPts val="1300"/>
              <a:buChar char="●"/>
            </a:pPr>
            <a:r>
              <a:rPr lang="en-US">
                <a:solidFill>
                  <a:schemeClr val="dk1"/>
                </a:solidFill>
              </a:rPr>
              <a:t>If at the end, wrap around to the first column.</a:t>
            </a:r>
            <a:endParaRPr>
              <a:solidFill>
                <a:schemeClr val="dk1"/>
              </a:solidFill>
            </a:endParaRPr>
          </a:p>
          <a:p>
            <a:pPr indent="0" lvl="0" marL="0" rtl="0" algn="l">
              <a:lnSpc>
                <a:spcPct val="115000"/>
              </a:lnSpc>
              <a:spcBef>
                <a:spcPts val="1200"/>
              </a:spcBef>
              <a:spcAft>
                <a:spcPts val="0"/>
              </a:spcAft>
              <a:buNone/>
            </a:pPr>
            <a:r>
              <a:rPr b="1" lang="en-US" sz="1550">
                <a:solidFill>
                  <a:schemeClr val="dk1"/>
                </a:solidFill>
              </a:rPr>
              <a:t>Rule 2: Same Column</a:t>
            </a:r>
            <a:endParaRPr b="1" sz="1550">
              <a:solidFill>
                <a:schemeClr val="dk1"/>
              </a:solidFill>
            </a:endParaRPr>
          </a:p>
          <a:p>
            <a:pPr indent="0" lvl="0" marL="0" rtl="0" algn="l">
              <a:lnSpc>
                <a:spcPct val="115000"/>
              </a:lnSpc>
              <a:spcBef>
                <a:spcPts val="1200"/>
              </a:spcBef>
              <a:spcAft>
                <a:spcPts val="0"/>
              </a:spcAft>
              <a:buNone/>
            </a:pPr>
            <a:r>
              <a:rPr lang="en-US">
                <a:solidFill>
                  <a:schemeClr val="dk1"/>
                </a:solidFill>
              </a:rPr>
              <a:t>If both letters are in the same column:</a:t>
            </a:r>
            <a:endParaRPr>
              <a:solidFill>
                <a:schemeClr val="dk1"/>
              </a:solidFill>
            </a:endParaRPr>
          </a:p>
          <a:p>
            <a:pPr indent="-311150" lvl="0" marL="457200" rtl="0" algn="l">
              <a:lnSpc>
                <a:spcPct val="115000"/>
              </a:lnSpc>
              <a:spcBef>
                <a:spcPts val="0"/>
              </a:spcBef>
              <a:spcAft>
                <a:spcPts val="0"/>
              </a:spcAft>
              <a:buClr>
                <a:schemeClr val="dk1"/>
              </a:buClr>
              <a:buSzPts val="1300"/>
              <a:buChar char="●"/>
            </a:pPr>
            <a:r>
              <a:rPr lang="en-US">
                <a:solidFill>
                  <a:schemeClr val="dk1"/>
                </a:solidFill>
              </a:rPr>
              <a:t>Replace each letter with the letter below it.</a:t>
            </a:r>
            <a:endParaRPr>
              <a:solidFill>
                <a:schemeClr val="dk1"/>
              </a:solidFill>
            </a:endParaRPr>
          </a:p>
          <a:p>
            <a:pPr indent="-311150" lvl="0" marL="457200" rtl="0" algn="l">
              <a:lnSpc>
                <a:spcPct val="115000"/>
              </a:lnSpc>
              <a:spcBef>
                <a:spcPts val="0"/>
              </a:spcBef>
              <a:spcAft>
                <a:spcPts val="0"/>
              </a:spcAft>
              <a:buClr>
                <a:schemeClr val="dk1"/>
              </a:buClr>
              <a:buSzPts val="1300"/>
              <a:buChar char="●"/>
            </a:pPr>
            <a:r>
              <a:rPr lang="en-US">
                <a:solidFill>
                  <a:schemeClr val="dk1"/>
                </a:solidFill>
              </a:rPr>
              <a:t>If at the bottom, wrap to the top.</a:t>
            </a:r>
            <a:endParaRPr>
              <a:solidFill>
                <a:schemeClr val="dk1"/>
              </a:solidFill>
            </a:endParaRPr>
          </a:p>
          <a:p>
            <a:pPr indent="0" lvl="0" marL="0" rtl="0" algn="l">
              <a:lnSpc>
                <a:spcPct val="115000"/>
              </a:lnSpc>
              <a:spcBef>
                <a:spcPts val="1200"/>
              </a:spcBef>
              <a:spcAft>
                <a:spcPts val="0"/>
              </a:spcAft>
              <a:buNone/>
            </a:pPr>
            <a:r>
              <a:rPr b="1" lang="en-US" sz="1550">
                <a:solidFill>
                  <a:schemeClr val="dk1"/>
                </a:solidFill>
              </a:rPr>
              <a:t>Rule 3: Rectangle Rule</a:t>
            </a:r>
            <a:endParaRPr b="1" sz="1550">
              <a:solidFill>
                <a:schemeClr val="dk1"/>
              </a:solidFill>
            </a:endParaRPr>
          </a:p>
          <a:p>
            <a:pPr indent="0" lvl="0" marL="0" rtl="0" algn="l">
              <a:lnSpc>
                <a:spcPct val="115000"/>
              </a:lnSpc>
              <a:spcBef>
                <a:spcPts val="1200"/>
              </a:spcBef>
              <a:spcAft>
                <a:spcPts val="0"/>
              </a:spcAft>
              <a:buNone/>
            </a:pPr>
            <a:r>
              <a:rPr lang="en-US">
                <a:solidFill>
                  <a:schemeClr val="dk1"/>
                </a:solidFill>
              </a:rPr>
              <a:t>If letters form a rectangle:</a:t>
            </a:r>
            <a:endParaRPr>
              <a:solidFill>
                <a:schemeClr val="dk1"/>
              </a:solidFill>
            </a:endParaRPr>
          </a:p>
          <a:p>
            <a:pPr indent="-311150" lvl="0" marL="457200" rtl="0" algn="l">
              <a:lnSpc>
                <a:spcPct val="115000"/>
              </a:lnSpc>
              <a:spcBef>
                <a:spcPts val="0"/>
              </a:spcBef>
              <a:spcAft>
                <a:spcPts val="0"/>
              </a:spcAft>
              <a:buClr>
                <a:schemeClr val="dk1"/>
              </a:buClr>
              <a:buSzPts val="1300"/>
              <a:buChar char="●"/>
            </a:pPr>
            <a:r>
              <a:rPr lang="en-US">
                <a:solidFill>
                  <a:schemeClr val="dk1"/>
                </a:solidFill>
              </a:rPr>
              <a:t>Replace each letter with the letter in the same row but in the column of the other letter.</a:t>
            </a:r>
            <a:endParaRPr>
              <a:solidFill>
                <a:schemeClr val="dk1"/>
              </a:solidFill>
            </a:endParaRPr>
          </a:p>
          <a:p>
            <a:pPr indent="0" lvl="0" marL="0" rtl="0" algn="l">
              <a:lnSpc>
                <a:spcPct val="115000"/>
              </a:lnSpc>
              <a:spcBef>
                <a:spcPts val="1200"/>
              </a:spcBef>
              <a:spcAft>
                <a:spcPts val="0"/>
              </a:spcAft>
              <a:buNone/>
            </a:pPr>
            <a:r>
              <a:rPr lang="en-US" sz="1300">
                <a:solidFill>
                  <a:schemeClr val="dk1"/>
                </a:solidFill>
              </a:rPr>
              <a:t> </a:t>
            </a:r>
            <a:endParaRPr sz="1300">
              <a:solidFill>
                <a:schemeClr val="dk1"/>
              </a:solidFill>
            </a:endParaRPr>
          </a:p>
          <a:p>
            <a:pPr indent="0" lvl="0" marL="0" rtl="0" algn="l">
              <a:lnSpc>
                <a:spcPct val="115000"/>
              </a:lnSpc>
              <a:spcBef>
                <a:spcPts val="1200"/>
              </a:spcBef>
              <a:spcAft>
                <a:spcPts val="0"/>
              </a:spcAft>
              <a:buNone/>
            </a:pPr>
            <a:r>
              <a:rPr b="1" lang="en-US" sz="1900">
                <a:solidFill>
                  <a:schemeClr val="dk1"/>
                </a:solidFill>
              </a:rPr>
              <a:t>Decryption Rules</a:t>
            </a:r>
            <a:endParaRPr b="1" sz="1900">
              <a:solidFill>
                <a:schemeClr val="dk1"/>
              </a:solidFill>
            </a:endParaRPr>
          </a:p>
          <a:p>
            <a:pPr indent="0" lvl="0" marL="0" rtl="0" algn="l">
              <a:lnSpc>
                <a:spcPct val="115000"/>
              </a:lnSpc>
              <a:spcBef>
                <a:spcPts val="0"/>
              </a:spcBef>
              <a:spcAft>
                <a:spcPts val="0"/>
              </a:spcAft>
              <a:buNone/>
            </a:pPr>
            <a:r>
              <a:rPr lang="en-US" sz="1300">
                <a:solidFill>
                  <a:schemeClr val="dk1"/>
                </a:solidFill>
              </a:rPr>
              <a:t>Decryption uses the </a:t>
            </a:r>
            <a:r>
              <a:rPr b="1" lang="en-US" sz="1300">
                <a:solidFill>
                  <a:schemeClr val="dk1"/>
                </a:solidFill>
              </a:rPr>
              <a:t>reverse operations</a:t>
            </a:r>
            <a:r>
              <a:rPr lang="en-US" sz="1300">
                <a:solidFill>
                  <a:schemeClr val="dk1"/>
                </a:solidFill>
              </a:rPr>
              <a:t>:</a:t>
            </a:r>
            <a:endParaRPr sz="1300">
              <a:solidFill>
                <a:schemeClr val="dk1"/>
              </a:solidFill>
            </a:endParaRPr>
          </a:p>
          <a:p>
            <a:pPr indent="0" lvl="0" marL="0" rtl="0" algn="l">
              <a:lnSpc>
                <a:spcPct val="115000"/>
              </a:lnSpc>
              <a:spcBef>
                <a:spcPts val="0"/>
              </a:spcBef>
              <a:spcAft>
                <a:spcPts val="0"/>
              </a:spcAft>
              <a:buNone/>
            </a:pPr>
            <a:r>
              <a:rPr lang="en-US" sz="1300">
                <a:solidFill>
                  <a:schemeClr val="dk1"/>
                </a:solidFill>
              </a:rPr>
              <a:t>Same Row - Move left</a:t>
            </a:r>
            <a:endParaRPr sz="1300">
              <a:solidFill>
                <a:schemeClr val="dk1"/>
              </a:solidFill>
            </a:endParaRPr>
          </a:p>
          <a:p>
            <a:pPr indent="0" lvl="0" marL="0" rtl="0" algn="l">
              <a:lnSpc>
                <a:spcPct val="115000"/>
              </a:lnSpc>
              <a:spcBef>
                <a:spcPts val="0"/>
              </a:spcBef>
              <a:spcAft>
                <a:spcPts val="0"/>
              </a:spcAft>
              <a:buNone/>
            </a:pPr>
            <a:r>
              <a:rPr lang="en-US" sz="1300">
                <a:solidFill>
                  <a:schemeClr val="dk1"/>
                </a:solidFill>
              </a:rPr>
              <a:t>Same Column – Move up</a:t>
            </a:r>
            <a:endParaRPr sz="1300">
              <a:solidFill>
                <a:schemeClr val="dk1"/>
              </a:solidFill>
            </a:endParaRPr>
          </a:p>
          <a:p>
            <a:pPr indent="0" lvl="0" marL="0" rtl="0" algn="l">
              <a:lnSpc>
                <a:spcPct val="115000"/>
              </a:lnSpc>
              <a:spcBef>
                <a:spcPts val="0"/>
              </a:spcBef>
              <a:spcAft>
                <a:spcPts val="0"/>
              </a:spcAft>
              <a:buNone/>
            </a:pPr>
            <a:r>
              <a:rPr lang="en-US" sz="1300">
                <a:solidFill>
                  <a:schemeClr val="dk1"/>
                </a:solidFill>
              </a:rPr>
              <a:t>Rectangle - Same rectangle swap</a:t>
            </a:r>
            <a:endParaRPr sz="1300">
              <a:solidFill>
                <a:schemeClr val="dk1"/>
              </a:solidFill>
            </a:endParaRPr>
          </a:p>
          <a:p>
            <a:pPr indent="0" lvl="0" marL="0" rtl="0" algn="l">
              <a:lnSpc>
                <a:spcPct val="115000"/>
              </a:lnSpc>
              <a:spcBef>
                <a:spcPts val="1200"/>
              </a:spcBef>
              <a:spcAft>
                <a:spcPts val="0"/>
              </a:spcAft>
              <a:buNone/>
            </a:pPr>
            <a:r>
              <a:t/>
            </a:r>
            <a:endParaRPr b="1" sz="18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4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69" name="Google Shape;769;p4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70" name="Google Shape;770;p4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71" name="Google Shape;771;p4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72" name="Google Shape;772;p4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73" name="Google Shape;773;p4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74" name="Google Shape;774;p4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75" name="Google Shape;775;p4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76" name="Google Shape;776;p4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 </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777" name="Google Shape;777;p44"/>
          <p:cNvSpPr txBox="1"/>
          <p:nvPr/>
        </p:nvSpPr>
        <p:spPr>
          <a:xfrm>
            <a:off x="3144837" y="609600"/>
            <a:ext cx="23415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Vigenere Cipher</a:t>
            </a:r>
            <a:endParaRPr b="0" i="0" sz="1400" u="none" cap="none" strike="noStrike">
              <a:solidFill>
                <a:srgbClr val="000000"/>
              </a:solidFill>
              <a:latin typeface="Arial"/>
              <a:ea typeface="Arial"/>
              <a:cs typeface="Arial"/>
              <a:sym typeface="Arial"/>
            </a:endParaRPr>
          </a:p>
        </p:txBody>
      </p:sp>
      <p:pic>
        <p:nvPicPr>
          <p:cNvPr id="778" name="Google Shape;778;p44"/>
          <p:cNvPicPr preferRelativeResize="0"/>
          <p:nvPr/>
        </p:nvPicPr>
        <p:blipFill rotWithShape="1">
          <a:blip r:embed="rId3">
            <a:alphaModFix/>
          </a:blip>
          <a:srcRect b="0" l="0" r="0" t="0"/>
          <a:stretch/>
        </p:blipFill>
        <p:spPr>
          <a:xfrm>
            <a:off x="274637" y="1219200"/>
            <a:ext cx="8564562" cy="809625"/>
          </a:xfrm>
          <a:prstGeom prst="rect">
            <a:avLst/>
          </a:prstGeom>
          <a:noFill/>
          <a:ln>
            <a:noFill/>
          </a:ln>
        </p:spPr>
      </p:pic>
      <p:sp>
        <p:nvSpPr>
          <p:cNvPr id="779" name="Google Shape;779;p44"/>
          <p:cNvSpPr txBox="1"/>
          <p:nvPr/>
        </p:nvSpPr>
        <p:spPr>
          <a:xfrm>
            <a:off x="152400" y="29718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We can encrypt the message “She is listening” using the 6-character keyword “PASCAL”. </a:t>
            </a:r>
            <a:endParaRPr b="0" i="0" sz="1400" u="none" cap="none" strike="noStrike">
              <a:solidFill>
                <a:srgbClr val="000000"/>
              </a:solidFill>
              <a:latin typeface="Arial"/>
              <a:ea typeface="Arial"/>
              <a:cs typeface="Arial"/>
              <a:sym typeface="Arial"/>
            </a:endParaRPr>
          </a:p>
        </p:txBody>
      </p:sp>
      <p:sp>
        <p:nvSpPr>
          <p:cNvPr id="780" name="Google Shape;780;p44"/>
          <p:cNvSpPr txBox="1"/>
          <p:nvPr/>
        </p:nvSpPr>
        <p:spPr>
          <a:xfrm>
            <a:off x="228600" y="2438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3.16</a:t>
            </a:r>
            <a:endParaRPr b="0" i="0" sz="1400" u="none" cap="none" strike="noStrike">
              <a:solidFill>
                <a:srgbClr val="000000"/>
              </a:solidFill>
              <a:latin typeface="Arial"/>
              <a:ea typeface="Arial"/>
              <a:cs typeface="Arial"/>
              <a:sym typeface="Arial"/>
            </a:endParaRPr>
          </a:p>
        </p:txBody>
      </p:sp>
      <p:pic>
        <p:nvPicPr>
          <p:cNvPr id="781" name="Google Shape;781;p44"/>
          <p:cNvPicPr preferRelativeResize="0"/>
          <p:nvPr/>
        </p:nvPicPr>
        <p:blipFill rotWithShape="1">
          <a:blip r:embed="rId4">
            <a:alphaModFix/>
          </a:blip>
          <a:srcRect b="0" l="0" r="0" t="0"/>
          <a:stretch/>
        </p:blipFill>
        <p:spPr>
          <a:xfrm>
            <a:off x="85725" y="3886200"/>
            <a:ext cx="8829675" cy="217011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4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88" name="Google Shape;788;p4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89" name="Google Shape;789;p4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90" name="Google Shape;790;p4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91" name="Google Shape;791;p4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92" name="Google Shape;792;p4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93" name="Google Shape;793;p4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94" name="Google Shape;794;p4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95" name="Google Shape;795;p4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796" name="Google Shape;796;p45"/>
          <p:cNvSpPr txBox="1"/>
          <p:nvPr/>
        </p:nvSpPr>
        <p:spPr>
          <a:xfrm>
            <a:off x="152400" y="1038225"/>
            <a:ext cx="8839200" cy="15525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Let us see how we can encrypt the message “She is listening” using the 6-character keyword “PASCAL”. The initial key stream is (15, 0, 18, 2, 0, 11). The key stream is the repetition of this initial key stream (as many times as needed).</a:t>
            </a:r>
            <a:endParaRPr b="0" i="0" sz="1400" u="none" cap="none" strike="noStrike">
              <a:solidFill>
                <a:srgbClr val="000000"/>
              </a:solidFill>
              <a:latin typeface="Arial"/>
              <a:ea typeface="Arial"/>
              <a:cs typeface="Arial"/>
              <a:sym typeface="Arial"/>
            </a:endParaRPr>
          </a:p>
        </p:txBody>
      </p:sp>
      <p:sp>
        <p:nvSpPr>
          <p:cNvPr id="797" name="Google Shape;797;p45"/>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3.16</a:t>
            </a:r>
            <a:endParaRPr b="0" i="0" sz="1400" u="none" cap="none" strike="noStrike">
              <a:solidFill>
                <a:srgbClr val="000000"/>
              </a:solidFill>
              <a:latin typeface="Arial"/>
              <a:ea typeface="Arial"/>
              <a:cs typeface="Arial"/>
              <a:sym typeface="Arial"/>
            </a:endParaRPr>
          </a:p>
        </p:txBody>
      </p:sp>
      <p:pic>
        <p:nvPicPr>
          <p:cNvPr id="798" name="Google Shape;798;p45"/>
          <p:cNvPicPr preferRelativeResize="0"/>
          <p:nvPr/>
        </p:nvPicPr>
        <p:blipFill rotWithShape="1">
          <a:blip r:embed="rId3">
            <a:alphaModFix/>
          </a:blip>
          <a:srcRect b="0" l="0" r="0" t="0"/>
          <a:stretch/>
        </p:blipFill>
        <p:spPr>
          <a:xfrm>
            <a:off x="85725" y="2743200"/>
            <a:ext cx="8829675" cy="21701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4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05" name="Google Shape;805;p4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6" name="Google Shape;806;p4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7" name="Google Shape;807;p4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8" name="Google Shape;808;p4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9" name="Google Shape;809;p4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10" name="Google Shape;810;p4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11" name="Google Shape;811;p4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12" name="Google Shape;812;p4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813" name="Google Shape;813;p46"/>
          <p:cNvSpPr txBox="1"/>
          <p:nvPr/>
        </p:nvSpPr>
        <p:spPr>
          <a:xfrm>
            <a:off x="152400" y="11430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Vigenere cipher can be seen as combinations of m additive ciphers.</a:t>
            </a:r>
            <a:endParaRPr b="0" i="0" sz="1400" u="none" cap="none" strike="noStrike">
              <a:solidFill>
                <a:srgbClr val="000000"/>
              </a:solidFill>
              <a:latin typeface="Arial"/>
              <a:ea typeface="Arial"/>
              <a:cs typeface="Arial"/>
              <a:sym typeface="Arial"/>
            </a:endParaRPr>
          </a:p>
        </p:txBody>
      </p:sp>
      <p:sp>
        <p:nvSpPr>
          <p:cNvPr id="814" name="Google Shape;814;p46"/>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3.17</a:t>
            </a:r>
            <a:endParaRPr b="0" i="0" sz="1400" u="none" cap="none" strike="noStrike">
              <a:solidFill>
                <a:srgbClr val="000000"/>
              </a:solidFill>
              <a:latin typeface="Arial"/>
              <a:ea typeface="Arial"/>
              <a:cs typeface="Arial"/>
              <a:sym typeface="Arial"/>
            </a:endParaRPr>
          </a:p>
        </p:txBody>
      </p:sp>
      <p:pic>
        <p:nvPicPr>
          <p:cNvPr id="815" name="Google Shape;815;p46"/>
          <p:cNvPicPr preferRelativeResize="0"/>
          <p:nvPr/>
        </p:nvPicPr>
        <p:blipFill rotWithShape="1">
          <a:blip r:embed="rId3">
            <a:alphaModFix/>
          </a:blip>
          <a:srcRect b="0" l="0" r="0" t="0"/>
          <a:stretch/>
        </p:blipFill>
        <p:spPr>
          <a:xfrm>
            <a:off x="1209675" y="2965450"/>
            <a:ext cx="6105525" cy="3435350"/>
          </a:xfrm>
          <a:prstGeom prst="rect">
            <a:avLst/>
          </a:prstGeom>
          <a:noFill/>
          <a:ln>
            <a:noFill/>
          </a:ln>
        </p:spPr>
      </p:pic>
      <p:sp>
        <p:nvSpPr>
          <p:cNvPr id="816" name="Google Shape;816;p46"/>
          <p:cNvSpPr txBox="1"/>
          <p:nvPr/>
        </p:nvSpPr>
        <p:spPr>
          <a:xfrm>
            <a:off x="609600" y="2209800"/>
            <a:ext cx="78025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3.14  </a:t>
            </a:r>
            <a:r>
              <a:rPr b="1" i="1" lang="en-US" sz="2000" u="none" cap="none" strike="noStrike">
                <a:solidFill>
                  <a:schemeClr val="dk1"/>
                </a:solidFill>
                <a:latin typeface="Times New Roman"/>
                <a:ea typeface="Times New Roman"/>
                <a:cs typeface="Times New Roman"/>
                <a:sym typeface="Times New Roman"/>
              </a:rPr>
              <a:t>A Vigenere cipher as a combination of m additive ciphers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4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23" name="Google Shape;823;p4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4" name="Google Shape;824;p4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5" name="Google Shape;825;p4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6" name="Google Shape;826;p4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7" name="Google Shape;827;p4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8" name="Google Shape;828;p4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9" name="Google Shape;829;p4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30" name="Google Shape;830;p4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831" name="Google Shape;831;p47"/>
          <p:cNvSpPr txBox="1"/>
          <p:nvPr/>
        </p:nvSpPr>
        <p:spPr>
          <a:xfrm>
            <a:off x="152400" y="11430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Using Example 3.18, we can say that the additive cipher is a special case of Vigenere cipher in which </a:t>
            </a:r>
            <a:r>
              <a:rPr b="1" i="1" lang="en-US" sz="2400" u="none" cap="none" strike="noStrike">
                <a:solidFill>
                  <a:schemeClr val="dk1"/>
                </a:solidFill>
                <a:latin typeface="Times New Roman"/>
                <a:ea typeface="Times New Roman"/>
                <a:cs typeface="Times New Roman"/>
                <a:sym typeface="Times New Roman"/>
              </a:rPr>
              <a:t>m</a:t>
            </a:r>
            <a:r>
              <a:rPr b="1" i="0" lang="en-US" sz="2400" u="none" cap="none" strike="noStrike">
                <a:solidFill>
                  <a:schemeClr val="dk1"/>
                </a:solidFill>
                <a:latin typeface="Times New Roman"/>
                <a:ea typeface="Times New Roman"/>
                <a:cs typeface="Times New Roman"/>
                <a:sym typeface="Times New Roman"/>
              </a:rPr>
              <a:t> = 1.</a:t>
            </a:r>
            <a:endParaRPr b="0" i="0" sz="1400" u="none" cap="none" strike="noStrike">
              <a:solidFill>
                <a:srgbClr val="000000"/>
              </a:solidFill>
              <a:latin typeface="Arial"/>
              <a:ea typeface="Arial"/>
              <a:cs typeface="Arial"/>
              <a:sym typeface="Arial"/>
            </a:endParaRPr>
          </a:p>
        </p:txBody>
      </p:sp>
      <p:sp>
        <p:nvSpPr>
          <p:cNvPr id="832" name="Google Shape;832;p47"/>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3.18</a:t>
            </a:r>
            <a:endParaRPr b="0" i="0" sz="1400" u="none" cap="none" strike="noStrike">
              <a:solidFill>
                <a:srgbClr val="000000"/>
              </a:solidFill>
              <a:latin typeface="Arial"/>
              <a:ea typeface="Arial"/>
              <a:cs typeface="Arial"/>
              <a:sym typeface="Arial"/>
            </a:endParaRPr>
          </a:p>
        </p:txBody>
      </p:sp>
      <p:pic>
        <p:nvPicPr>
          <p:cNvPr id="833" name="Google Shape;833;p47"/>
          <p:cNvPicPr preferRelativeResize="0"/>
          <p:nvPr/>
        </p:nvPicPr>
        <p:blipFill rotWithShape="1">
          <a:blip r:embed="rId3">
            <a:alphaModFix/>
          </a:blip>
          <a:srcRect b="0" l="0" r="0" t="0"/>
          <a:stretch/>
        </p:blipFill>
        <p:spPr>
          <a:xfrm>
            <a:off x="3124200" y="2135187"/>
            <a:ext cx="4789487" cy="4570412"/>
          </a:xfrm>
          <a:prstGeom prst="rect">
            <a:avLst/>
          </a:prstGeom>
          <a:noFill/>
          <a:ln>
            <a:noFill/>
          </a:ln>
        </p:spPr>
      </p:pic>
      <p:sp>
        <p:nvSpPr>
          <p:cNvPr id="834" name="Google Shape;834;p47"/>
          <p:cNvSpPr txBox="1"/>
          <p:nvPr/>
        </p:nvSpPr>
        <p:spPr>
          <a:xfrm>
            <a:off x="609600" y="4114800"/>
            <a:ext cx="2286000" cy="7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Table 3.3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A Vigenere Tableau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4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41" name="Google Shape;841;p4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2" name="Google Shape;842;p4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3" name="Google Shape;843;p4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4" name="Google Shape;844;p4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5" name="Google Shape;845;p4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6" name="Google Shape;846;p4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7" name="Google Shape;847;p4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8" name="Google Shape;848;p48"/>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 </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849" name="Google Shape;849;p48"/>
          <p:cNvSpPr txBox="1"/>
          <p:nvPr/>
        </p:nvSpPr>
        <p:spPr>
          <a:xfrm>
            <a:off x="1143000" y="533400"/>
            <a:ext cx="43322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Vigenere Cipher (Crypanalysis)</a:t>
            </a:r>
            <a:endParaRPr b="0" i="0" sz="1400" u="none" cap="none" strike="noStrike">
              <a:solidFill>
                <a:srgbClr val="000000"/>
              </a:solidFill>
              <a:latin typeface="Arial"/>
              <a:ea typeface="Arial"/>
              <a:cs typeface="Arial"/>
              <a:sym typeface="Arial"/>
            </a:endParaRPr>
          </a:p>
        </p:txBody>
      </p:sp>
      <p:sp>
        <p:nvSpPr>
          <p:cNvPr id="850" name="Google Shape;850;p48"/>
          <p:cNvSpPr txBox="1"/>
          <p:nvPr/>
        </p:nvSpPr>
        <p:spPr>
          <a:xfrm>
            <a:off x="152400" y="1752600"/>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Let us assume we have intercepted the following ciphertext:</a:t>
            </a:r>
            <a:endParaRPr b="0" i="0" sz="1400" u="none" cap="none" strike="noStrike">
              <a:solidFill>
                <a:srgbClr val="000000"/>
              </a:solidFill>
              <a:latin typeface="Arial"/>
              <a:ea typeface="Arial"/>
              <a:cs typeface="Arial"/>
              <a:sym typeface="Arial"/>
            </a:endParaRPr>
          </a:p>
        </p:txBody>
      </p:sp>
      <p:sp>
        <p:nvSpPr>
          <p:cNvPr id="851" name="Google Shape;851;p48"/>
          <p:cNvSpPr txBox="1"/>
          <p:nvPr/>
        </p:nvSpPr>
        <p:spPr>
          <a:xfrm>
            <a:off x="76200" y="12192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3.19</a:t>
            </a:r>
            <a:endParaRPr b="0" i="0" sz="1400" u="none" cap="none" strike="noStrike">
              <a:solidFill>
                <a:srgbClr val="000000"/>
              </a:solidFill>
              <a:latin typeface="Arial"/>
              <a:ea typeface="Arial"/>
              <a:cs typeface="Arial"/>
              <a:sym typeface="Arial"/>
            </a:endParaRPr>
          </a:p>
        </p:txBody>
      </p:sp>
      <p:pic>
        <p:nvPicPr>
          <p:cNvPr id="852" name="Google Shape;852;p48"/>
          <p:cNvPicPr preferRelativeResize="0"/>
          <p:nvPr/>
        </p:nvPicPr>
        <p:blipFill rotWithShape="1">
          <a:blip r:embed="rId3">
            <a:alphaModFix/>
          </a:blip>
          <a:srcRect b="0" l="0" r="0" t="0"/>
          <a:stretch/>
        </p:blipFill>
        <p:spPr>
          <a:xfrm>
            <a:off x="76200" y="2255837"/>
            <a:ext cx="8647112" cy="1209675"/>
          </a:xfrm>
          <a:prstGeom prst="rect">
            <a:avLst/>
          </a:prstGeom>
          <a:noFill/>
          <a:ln>
            <a:noFill/>
          </a:ln>
        </p:spPr>
      </p:pic>
      <p:sp>
        <p:nvSpPr>
          <p:cNvPr id="853" name="Google Shape;853;p48"/>
          <p:cNvSpPr txBox="1"/>
          <p:nvPr/>
        </p:nvSpPr>
        <p:spPr>
          <a:xfrm>
            <a:off x="228600" y="36576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Kasiski test for repetition of three-character segments yields the results shown in Table 3.4.</a:t>
            </a:r>
            <a:endParaRPr b="0" i="0" sz="1400" u="none" cap="none" strike="noStrike">
              <a:solidFill>
                <a:srgbClr val="000000"/>
              </a:solidFill>
              <a:latin typeface="Arial"/>
              <a:ea typeface="Arial"/>
              <a:cs typeface="Arial"/>
              <a:sym typeface="Arial"/>
            </a:endParaRPr>
          </a:p>
        </p:txBody>
      </p:sp>
      <p:pic>
        <p:nvPicPr>
          <p:cNvPr id="854" name="Google Shape;854;p48"/>
          <p:cNvPicPr preferRelativeResize="0"/>
          <p:nvPr/>
        </p:nvPicPr>
        <p:blipFill rotWithShape="1">
          <a:blip r:embed="rId4">
            <a:alphaModFix/>
          </a:blip>
          <a:srcRect b="0" l="0" r="0" t="0"/>
          <a:stretch/>
        </p:blipFill>
        <p:spPr>
          <a:xfrm>
            <a:off x="228600" y="4572000"/>
            <a:ext cx="8491537" cy="2019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4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61" name="Google Shape;861;p4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62" name="Google Shape;862;p4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63" name="Google Shape;863;p4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64" name="Google Shape;864;p4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65" name="Google Shape;865;p4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66" name="Google Shape;866;p4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67" name="Google Shape;867;p4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68" name="Google Shape;868;p49"/>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869" name="Google Shape;869;p49"/>
          <p:cNvSpPr txBox="1"/>
          <p:nvPr/>
        </p:nvSpPr>
        <p:spPr>
          <a:xfrm>
            <a:off x="152400" y="1325562"/>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Let us assume we have intercepted the following ciphertext:</a:t>
            </a:r>
            <a:endParaRPr b="0" i="0" sz="1400" u="none" cap="none" strike="noStrike">
              <a:solidFill>
                <a:srgbClr val="000000"/>
              </a:solidFill>
              <a:latin typeface="Arial"/>
              <a:ea typeface="Arial"/>
              <a:cs typeface="Arial"/>
              <a:sym typeface="Arial"/>
            </a:endParaRPr>
          </a:p>
        </p:txBody>
      </p:sp>
      <p:sp>
        <p:nvSpPr>
          <p:cNvPr id="870" name="Google Shape;870;p49"/>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3.19</a:t>
            </a:r>
            <a:endParaRPr b="0" i="0" sz="1400" u="none" cap="none" strike="noStrike">
              <a:solidFill>
                <a:srgbClr val="000000"/>
              </a:solidFill>
              <a:latin typeface="Arial"/>
              <a:ea typeface="Arial"/>
              <a:cs typeface="Arial"/>
              <a:sym typeface="Arial"/>
            </a:endParaRPr>
          </a:p>
        </p:txBody>
      </p:sp>
      <p:pic>
        <p:nvPicPr>
          <p:cNvPr id="871" name="Google Shape;871;p49"/>
          <p:cNvPicPr preferRelativeResize="0"/>
          <p:nvPr/>
        </p:nvPicPr>
        <p:blipFill rotWithShape="1">
          <a:blip r:embed="rId3">
            <a:alphaModFix/>
          </a:blip>
          <a:srcRect b="0" l="0" r="0" t="0"/>
          <a:stretch/>
        </p:blipFill>
        <p:spPr>
          <a:xfrm>
            <a:off x="76200" y="1981200"/>
            <a:ext cx="8647112" cy="1209675"/>
          </a:xfrm>
          <a:prstGeom prst="rect">
            <a:avLst/>
          </a:prstGeom>
          <a:noFill/>
          <a:ln>
            <a:noFill/>
          </a:ln>
        </p:spPr>
      </p:pic>
      <p:sp>
        <p:nvSpPr>
          <p:cNvPr id="872" name="Google Shape;872;p49"/>
          <p:cNvSpPr txBox="1"/>
          <p:nvPr/>
        </p:nvSpPr>
        <p:spPr>
          <a:xfrm>
            <a:off x="228600" y="3246437"/>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Kasiski test for repetition of three-character segments yields the results shown in Table 3.4.</a:t>
            </a:r>
            <a:endParaRPr b="0" i="0" sz="1400" u="none" cap="none" strike="noStrike">
              <a:solidFill>
                <a:srgbClr val="000000"/>
              </a:solidFill>
              <a:latin typeface="Arial"/>
              <a:ea typeface="Arial"/>
              <a:cs typeface="Arial"/>
              <a:sym typeface="Arial"/>
            </a:endParaRPr>
          </a:p>
        </p:txBody>
      </p:sp>
      <p:pic>
        <p:nvPicPr>
          <p:cNvPr id="873" name="Google Shape;873;p49"/>
          <p:cNvPicPr preferRelativeResize="0"/>
          <p:nvPr/>
        </p:nvPicPr>
        <p:blipFill rotWithShape="1">
          <a:blip r:embed="rId4">
            <a:alphaModFix/>
          </a:blip>
          <a:srcRect b="0" l="0" r="0" t="0"/>
          <a:stretch/>
        </p:blipFill>
        <p:spPr>
          <a:xfrm>
            <a:off x="228600" y="4305300"/>
            <a:ext cx="8491537" cy="20193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5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80" name="Google Shape;880;p5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1" name="Google Shape;881;p5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2" name="Google Shape;882;p5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3" name="Google Shape;883;p5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4" name="Google Shape;884;p5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5" name="Google Shape;885;p5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6" name="Google Shape;886;p5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7" name="Google Shape;887;p50"/>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888" name="Google Shape;888;p50"/>
          <p:cNvSpPr txBox="1"/>
          <p:nvPr/>
        </p:nvSpPr>
        <p:spPr>
          <a:xfrm>
            <a:off x="152400" y="10668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greatest common divisor of differences is 4, which means that the key length is multiple of 4. First try </a:t>
            </a:r>
            <a:r>
              <a:rPr b="1" i="1" lang="en-US" sz="2400" u="none" cap="none" strike="noStrike">
                <a:solidFill>
                  <a:schemeClr val="dk1"/>
                </a:solidFill>
                <a:latin typeface="Times New Roman"/>
                <a:ea typeface="Times New Roman"/>
                <a:cs typeface="Times New Roman"/>
                <a:sym typeface="Times New Roman"/>
              </a:rPr>
              <a:t>m</a:t>
            </a:r>
            <a:r>
              <a:rPr b="1" i="0" lang="en-US" sz="2400" u="none" cap="none" strike="noStrike">
                <a:solidFill>
                  <a:schemeClr val="dk1"/>
                </a:solidFill>
                <a:latin typeface="Times New Roman"/>
                <a:ea typeface="Times New Roman"/>
                <a:cs typeface="Times New Roman"/>
                <a:sym typeface="Times New Roman"/>
              </a:rPr>
              <a:t> = 4. </a:t>
            </a:r>
            <a:endParaRPr b="0" i="0" sz="1400" u="none" cap="none" strike="noStrike">
              <a:solidFill>
                <a:srgbClr val="000000"/>
              </a:solidFill>
              <a:latin typeface="Arial"/>
              <a:ea typeface="Arial"/>
              <a:cs typeface="Arial"/>
              <a:sym typeface="Arial"/>
            </a:endParaRPr>
          </a:p>
        </p:txBody>
      </p:sp>
      <p:sp>
        <p:nvSpPr>
          <p:cNvPr id="889" name="Google Shape;889;p50"/>
          <p:cNvSpPr txBox="1"/>
          <p:nvPr/>
        </p:nvSpPr>
        <p:spPr>
          <a:xfrm>
            <a:off x="10668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3.19</a:t>
            </a:r>
            <a:endParaRPr b="0" i="0" sz="1400" u="none" cap="none" strike="noStrike">
              <a:solidFill>
                <a:srgbClr val="000000"/>
              </a:solidFill>
              <a:latin typeface="Arial"/>
              <a:ea typeface="Arial"/>
              <a:cs typeface="Arial"/>
              <a:sym typeface="Arial"/>
            </a:endParaRPr>
          </a:p>
        </p:txBody>
      </p:sp>
      <p:pic>
        <p:nvPicPr>
          <p:cNvPr id="890" name="Google Shape;890;p50"/>
          <p:cNvPicPr preferRelativeResize="0"/>
          <p:nvPr/>
        </p:nvPicPr>
        <p:blipFill rotWithShape="1">
          <a:blip r:embed="rId3">
            <a:alphaModFix/>
          </a:blip>
          <a:srcRect b="0" l="0" r="0" t="0"/>
          <a:stretch/>
        </p:blipFill>
        <p:spPr>
          <a:xfrm>
            <a:off x="842962" y="2057400"/>
            <a:ext cx="7386637" cy="2519362"/>
          </a:xfrm>
          <a:prstGeom prst="rect">
            <a:avLst/>
          </a:prstGeom>
          <a:noFill/>
          <a:ln>
            <a:noFill/>
          </a:ln>
        </p:spPr>
      </p:pic>
      <p:sp>
        <p:nvSpPr>
          <p:cNvPr id="891" name="Google Shape;891;p50"/>
          <p:cNvSpPr txBox="1"/>
          <p:nvPr/>
        </p:nvSpPr>
        <p:spPr>
          <a:xfrm>
            <a:off x="3124200" y="533400"/>
            <a:ext cx="17605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892" name="Google Shape;892;p50"/>
          <p:cNvSpPr txBox="1"/>
          <p:nvPr/>
        </p:nvSpPr>
        <p:spPr>
          <a:xfrm>
            <a:off x="152400" y="4876800"/>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In this case, the plaintext makes sense.</a:t>
            </a:r>
            <a:endParaRPr b="0" i="0" sz="1400" u="none" cap="none" strike="noStrike">
              <a:solidFill>
                <a:srgbClr val="000000"/>
              </a:solidFill>
              <a:latin typeface="Arial"/>
              <a:ea typeface="Arial"/>
              <a:cs typeface="Arial"/>
              <a:sym typeface="Arial"/>
            </a:endParaRPr>
          </a:p>
        </p:txBody>
      </p:sp>
      <p:pic>
        <p:nvPicPr>
          <p:cNvPr id="893" name="Google Shape;893;p50"/>
          <p:cNvPicPr preferRelativeResize="0"/>
          <p:nvPr/>
        </p:nvPicPr>
        <p:blipFill rotWithShape="1">
          <a:blip r:embed="rId4">
            <a:alphaModFix/>
          </a:blip>
          <a:srcRect b="0" l="0" r="0" t="0"/>
          <a:stretch/>
        </p:blipFill>
        <p:spPr>
          <a:xfrm>
            <a:off x="271462" y="5410200"/>
            <a:ext cx="8491537" cy="12096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5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00" name="Google Shape;900;p5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01" name="Google Shape;901;p5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02" name="Google Shape;902;p5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03" name="Google Shape;903;p5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04" name="Google Shape;904;p5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05" name="Google Shape;905;p5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06" name="Google Shape;906;p5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07" name="Google Shape;907;p51"/>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908" name="Google Shape;908;p51"/>
          <p:cNvSpPr txBox="1"/>
          <p:nvPr/>
        </p:nvSpPr>
        <p:spPr>
          <a:xfrm>
            <a:off x="1143000" y="533400"/>
            <a:ext cx="1663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Hill Cipher</a:t>
            </a:r>
            <a:endParaRPr b="0" i="0" sz="1400" u="none" cap="none" strike="noStrike">
              <a:solidFill>
                <a:srgbClr val="000000"/>
              </a:solidFill>
              <a:latin typeface="Arial"/>
              <a:ea typeface="Arial"/>
              <a:cs typeface="Arial"/>
              <a:sym typeface="Arial"/>
            </a:endParaRPr>
          </a:p>
        </p:txBody>
      </p:sp>
      <p:pic>
        <p:nvPicPr>
          <p:cNvPr id="909" name="Google Shape;909;p51"/>
          <p:cNvPicPr preferRelativeResize="0"/>
          <p:nvPr/>
        </p:nvPicPr>
        <p:blipFill rotWithShape="1">
          <a:blip r:embed="rId3">
            <a:alphaModFix/>
          </a:blip>
          <a:srcRect b="0" l="0" r="0" t="0"/>
          <a:stretch/>
        </p:blipFill>
        <p:spPr>
          <a:xfrm>
            <a:off x="228600" y="1828800"/>
            <a:ext cx="3684587" cy="2544762"/>
          </a:xfrm>
          <a:prstGeom prst="rect">
            <a:avLst/>
          </a:prstGeom>
          <a:noFill/>
          <a:ln>
            <a:noFill/>
          </a:ln>
        </p:spPr>
      </p:pic>
      <p:sp>
        <p:nvSpPr>
          <p:cNvPr id="910" name="Google Shape;910;p51"/>
          <p:cNvSpPr txBox="1"/>
          <p:nvPr/>
        </p:nvSpPr>
        <p:spPr>
          <a:xfrm>
            <a:off x="76200" y="1143000"/>
            <a:ext cx="4060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3.15  </a:t>
            </a:r>
            <a:r>
              <a:rPr b="1" i="1" lang="en-US" sz="2000" u="none" cap="none" strike="noStrike">
                <a:solidFill>
                  <a:schemeClr val="dk1"/>
                </a:solidFill>
                <a:latin typeface="Times New Roman"/>
                <a:ea typeface="Times New Roman"/>
                <a:cs typeface="Times New Roman"/>
                <a:sym typeface="Times New Roman"/>
              </a:rPr>
              <a:t>Key in the Hill cipher</a:t>
            </a:r>
            <a:endParaRPr b="0" i="0" sz="1400" u="none" cap="none" strike="noStrike">
              <a:solidFill>
                <a:srgbClr val="000000"/>
              </a:solidFill>
              <a:latin typeface="Arial"/>
              <a:ea typeface="Arial"/>
              <a:cs typeface="Arial"/>
              <a:sym typeface="Arial"/>
            </a:endParaRPr>
          </a:p>
        </p:txBody>
      </p:sp>
      <p:pic>
        <p:nvPicPr>
          <p:cNvPr id="911" name="Google Shape;911;p51"/>
          <p:cNvPicPr preferRelativeResize="0"/>
          <p:nvPr/>
        </p:nvPicPr>
        <p:blipFill rotWithShape="1">
          <a:blip r:embed="rId4">
            <a:alphaModFix/>
          </a:blip>
          <a:srcRect b="0" l="0" r="0" t="0"/>
          <a:stretch/>
        </p:blipFill>
        <p:spPr>
          <a:xfrm>
            <a:off x="4267200" y="2286000"/>
            <a:ext cx="4387850" cy="1498600"/>
          </a:xfrm>
          <a:prstGeom prst="rect">
            <a:avLst/>
          </a:prstGeom>
          <a:noFill/>
          <a:ln>
            <a:noFill/>
          </a:ln>
        </p:spPr>
      </p:pic>
      <p:cxnSp>
        <p:nvCxnSpPr>
          <p:cNvPr id="912" name="Google Shape;912;p51"/>
          <p:cNvCxnSpPr/>
          <p:nvPr/>
        </p:nvCxnSpPr>
        <p:spPr>
          <a:xfrm>
            <a:off x="457200" y="51816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913" name="Google Shape;913;p51"/>
          <p:cNvCxnSpPr/>
          <p:nvPr/>
        </p:nvCxnSpPr>
        <p:spPr>
          <a:xfrm>
            <a:off x="458787" y="64770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914" name="Google Shape;914;p51"/>
          <p:cNvSpPr txBox="1"/>
          <p:nvPr/>
        </p:nvSpPr>
        <p:spPr>
          <a:xfrm>
            <a:off x="495300" y="5257800"/>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The key matrix in the Hill cipher needs to have a multiplicative inverse.</a:t>
            </a:r>
            <a:endParaRPr b="0" i="0" sz="1400" u="none" cap="none" strike="noStrike">
              <a:solidFill>
                <a:srgbClr val="000000"/>
              </a:solidFill>
              <a:latin typeface="Arial"/>
              <a:ea typeface="Arial"/>
              <a:cs typeface="Arial"/>
              <a:sym typeface="Arial"/>
            </a:endParaRPr>
          </a:p>
        </p:txBody>
      </p:sp>
      <p:grpSp>
        <p:nvGrpSpPr>
          <p:cNvPr id="915" name="Google Shape;915;p51"/>
          <p:cNvGrpSpPr/>
          <p:nvPr/>
        </p:nvGrpSpPr>
        <p:grpSpPr>
          <a:xfrm>
            <a:off x="457200" y="4572000"/>
            <a:ext cx="1143000" cy="566737"/>
            <a:chOff x="1200" y="1248"/>
            <a:chExt cx="720" cy="357"/>
          </a:xfrm>
        </p:grpSpPr>
        <p:pic>
          <p:nvPicPr>
            <p:cNvPr id="916" name="Google Shape;916;p51"/>
            <p:cNvPicPr preferRelativeResize="0"/>
            <p:nvPr/>
          </p:nvPicPr>
          <p:blipFill rotWithShape="1">
            <a:blip r:embed="rId5">
              <a:alphaModFix/>
            </a:blip>
            <a:srcRect b="0" l="0" r="0" t="0"/>
            <a:stretch/>
          </p:blipFill>
          <p:spPr>
            <a:xfrm>
              <a:off x="1200" y="1248"/>
              <a:ext cx="720" cy="357"/>
            </a:xfrm>
            <a:prstGeom prst="rect">
              <a:avLst/>
            </a:prstGeom>
            <a:noFill/>
            <a:ln>
              <a:noFill/>
            </a:ln>
          </p:spPr>
        </p:pic>
        <p:sp>
          <p:nvSpPr>
            <p:cNvPr id="917" name="Google Shape;917;p51"/>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5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24" name="Google Shape;924;p5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25" name="Google Shape;925;p5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26" name="Google Shape;926;p5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27" name="Google Shape;927;p5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28" name="Google Shape;928;p5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29" name="Google Shape;929;p5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30" name="Google Shape;930;p5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31" name="Google Shape;931;p52"/>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932" name="Google Shape;932;p52"/>
          <p:cNvSpPr txBox="1"/>
          <p:nvPr/>
        </p:nvSpPr>
        <p:spPr>
          <a:xfrm>
            <a:off x="152400" y="102235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For example, the plaintext “code is ready” can make a 3 × 4 matrix when adding extra bogus character “z” to the last block and removing the spaces. The ciphertext is “OHKNIHGKLISS”.</a:t>
            </a:r>
            <a:endParaRPr b="0" i="0" sz="1400" u="none" cap="none" strike="noStrike">
              <a:solidFill>
                <a:srgbClr val="000000"/>
              </a:solidFill>
              <a:latin typeface="Arial"/>
              <a:ea typeface="Arial"/>
              <a:cs typeface="Arial"/>
              <a:sym typeface="Arial"/>
            </a:endParaRPr>
          </a:p>
        </p:txBody>
      </p:sp>
      <p:sp>
        <p:nvSpPr>
          <p:cNvPr id="933" name="Google Shape;933;p52"/>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3.20</a:t>
            </a:r>
            <a:endParaRPr b="0" i="0" sz="1400" u="none" cap="none" strike="noStrike">
              <a:solidFill>
                <a:srgbClr val="000000"/>
              </a:solidFill>
              <a:latin typeface="Arial"/>
              <a:ea typeface="Arial"/>
              <a:cs typeface="Arial"/>
              <a:sym typeface="Arial"/>
            </a:endParaRPr>
          </a:p>
        </p:txBody>
      </p:sp>
      <p:pic>
        <p:nvPicPr>
          <p:cNvPr id="934" name="Google Shape;934;p52"/>
          <p:cNvPicPr preferRelativeResize="0"/>
          <p:nvPr/>
        </p:nvPicPr>
        <p:blipFill rotWithShape="1">
          <a:blip r:embed="rId3">
            <a:alphaModFix/>
          </a:blip>
          <a:srcRect b="0" l="0" r="0" t="0"/>
          <a:stretch/>
        </p:blipFill>
        <p:spPr>
          <a:xfrm>
            <a:off x="1519237" y="3054350"/>
            <a:ext cx="5018087" cy="3498850"/>
          </a:xfrm>
          <a:prstGeom prst="rect">
            <a:avLst/>
          </a:prstGeom>
          <a:noFill/>
          <a:ln>
            <a:noFill/>
          </a:ln>
        </p:spPr>
      </p:pic>
      <p:sp>
        <p:nvSpPr>
          <p:cNvPr id="935" name="Google Shape;935;p52"/>
          <p:cNvSpPr txBox="1"/>
          <p:nvPr/>
        </p:nvSpPr>
        <p:spPr>
          <a:xfrm>
            <a:off x="2544762" y="2438400"/>
            <a:ext cx="32464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3.16  </a:t>
            </a:r>
            <a:r>
              <a:rPr b="1" i="1" lang="en-US" sz="2000" u="none" cap="none" strike="noStrike">
                <a:solidFill>
                  <a:schemeClr val="dk1"/>
                </a:solidFill>
                <a:latin typeface="Times New Roman"/>
                <a:ea typeface="Times New Roman"/>
                <a:cs typeface="Times New Roman"/>
                <a:sym typeface="Times New Roman"/>
              </a:rPr>
              <a:t>Example 3.20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5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42" name="Google Shape;942;p5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43" name="Google Shape;943;p5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44" name="Google Shape;944;p5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45" name="Google Shape;945;p5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46" name="Google Shape;946;p5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47" name="Google Shape;947;p5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48" name="Google Shape;948;p5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49" name="Google Shape;949;p5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950" name="Google Shape;950;p53"/>
          <p:cNvSpPr txBox="1"/>
          <p:nvPr/>
        </p:nvSpPr>
        <p:spPr>
          <a:xfrm>
            <a:off x="152400" y="102235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Assume that Eve knows that </a:t>
            </a:r>
            <a:r>
              <a:rPr b="1" i="1" lang="en-US" sz="2400" u="none" cap="none" strike="noStrike">
                <a:solidFill>
                  <a:schemeClr val="dk1"/>
                </a:solidFill>
                <a:latin typeface="Times New Roman"/>
                <a:ea typeface="Times New Roman"/>
                <a:cs typeface="Times New Roman"/>
                <a:sym typeface="Times New Roman"/>
              </a:rPr>
              <a:t>m</a:t>
            </a:r>
            <a:r>
              <a:rPr b="1" i="0" lang="en-US" sz="2400" u="none" cap="none" strike="noStrike">
                <a:solidFill>
                  <a:schemeClr val="dk1"/>
                </a:solidFill>
                <a:latin typeface="Times New Roman"/>
                <a:ea typeface="Times New Roman"/>
                <a:cs typeface="Times New Roman"/>
                <a:sym typeface="Times New Roman"/>
              </a:rPr>
              <a:t> = 3. She has intercepted three plaintext/ciphertext pair blocks (not necessarily from the same message) as shown in Figure 3.17.</a:t>
            </a:r>
            <a:endParaRPr b="0" i="0" sz="1400" u="none" cap="none" strike="noStrike">
              <a:solidFill>
                <a:srgbClr val="000000"/>
              </a:solidFill>
              <a:latin typeface="Arial"/>
              <a:ea typeface="Arial"/>
              <a:cs typeface="Arial"/>
              <a:sym typeface="Arial"/>
            </a:endParaRPr>
          </a:p>
        </p:txBody>
      </p:sp>
      <p:sp>
        <p:nvSpPr>
          <p:cNvPr id="951" name="Google Shape;951;p53"/>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3.21</a:t>
            </a:r>
            <a:endParaRPr b="0" i="0" sz="1400" u="none" cap="none" strike="noStrike">
              <a:solidFill>
                <a:srgbClr val="000000"/>
              </a:solidFill>
              <a:latin typeface="Arial"/>
              <a:ea typeface="Arial"/>
              <a:cs typeface="Arial"/>
              <a:sym typeface="Arial"/>
            </a:endParaRPr>
          </a:p>
        </p:txBody>
      </p:sp>
      <p:sp>
        <p:nvSpPr>
          <p:cNvPr id="952" name="Google Shape;952;p53"/>
          <p:cNvSpPr txBox="1"/>
          <p:nvPr/>
        </p:nvSpPr>
        <p:spPr>
          <a:xfrm>
            <a:off x="2544762" y="2438400"/>
            <a:ext cx="32464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3.17  </a:t>
            </a:r>
            <a:r>
              <a:rPr b="1" i="1" lang="en-US" sz="2000" u="none" cap="none" strike="noStrike">
                <a:solidFill>
                  <a:schemeClr val="dk1"/>
                </a:solidFill>
                <a:latin typeface="Times New Roman"/>
                <a:ea typeface="Times New Roman"/>
                <a:cs typeface="Times New Roman"/>
                <a:sym typeface="Times New Roman"/>
              </a:rPr>
              <a:t>Example 3.21</a:t>
            </a:r>
            <a:endParaRPr b="0" i="0" sz="1400" u="none" cap="none" strike="noStrike">
              <a:solidFill>
                <a:srgbClr val="000000"/>
              </a:solidFill>
              <a:latin typeface="Arial"/>
              <a:ea typeface="Arial"/>
              <a:cs typeface="Arial"/>
              <a:sym typeface="Arial"/>
            </a:endParaRPr>
          </a:p>
        </p:txBody>
      </p:sp>
      <p:pic>
        <p:nvPicPr>
          <p:cNvPr id="953" name="Google Shape;953;p53"/>
          <p:cNvPicPr preferRelativeResize="0"/>
          <p:nvPr/>
        </p:nvPicPr>
        <p:blipFill rotWithShape="1">
          <a:blip r:embed="rId3">
            <a:alphaModFix/>
          </a:blip>
          <a:srcRect b="0" l="0" r="0" t="0"/>
          <a:stretch/>
        </p:blipFill>
        <p:spPr>
          <a:xfrm>
            <a:off x="1095375" y="3194050"/>
            <a:ext cx="5915025" cy="31305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5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60" name="Google Shape;960;p5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1" name="Google Shape;961;p5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2" name="Google Shape;962;p5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3" name="Google Shape;963;p5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4" name="Google Shape;964;p5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5" name="Google Shape;965;p5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6" name="Google Shape;966;p5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7" name="Google Shape;967;p5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 </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968" name="Google Shape;968;p54"/>
          <p:cNvSpPr txBox="1"/>
          <p:nvPr/>
        </p:nvSpPr>
        <p:spPr>
          <a:xfrm>
            <a:off x="152400" y="117475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She makes matrices P and C from these pairs. Because P is invertible, she inverts the P matrix and multiplies it by C to get the K matrix as shown in Figure 3.18.</a:t>
            </a:r>
            <a:endParaRPr b="0" i="0" sz="1400" u="none" cap="none" strike="noStrike">
              <a:solidFill>
                <a:srgbClr val="000000"/>
              </a:solidFill>
              <a:latin typeface="Arial"/>
              <a:ea typeface="Arial"/>
              <a:cs typeface="Arial"/>
              <a:sym typeface="Arial"/>
            </a:endParaRPr>
          </a:p>
        </p:txBody>
      </p:sp>
      <p:sp>
        <p:nvSpPr>
          <p:cNvPr id="969" name="Google Shape;969;p54"/>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3.21</a:t>
            </a:r>
            <a:endParaRPr b="0" i="0" sz="1400" u="none" cap="none" strike="noStrike">
              <a:solidFill>
                <a:srgbClr val="000000"/>
              </a:solidFill>
              <a:latin typeface="Arial"/>
              <a:ea typeface="Arial"/>
              <a:cs typeface="Arial"/>
              <a:sym typeface="Arial"/>
            </a:endParaRPr>
          </a:p>
        </p:txBody>
      </p:sp>
      <p:sp>
        <p:nvSpPr>
          <p:cNvPr id="970" name="Google Shape;970;p54"/>
          <p:cNvSpPr txBox="1"/>
          <p:nvPr/>
        </p:nvSpPr>
        <p:spPr>
          <a:xfrm>
            <a:off x="2544762" y="2514600"/>
            <a:ext cx="32464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3.18  </a:t>
            </a:r>
            <a:r>
              <a:rPr b="1" i="1" lang="en-US" sz="2000" u="none" cap="none" strike="noStrike">
                <a:solidFill>
                  <a:schemeClr val="dk1"/>
                </a:solidFill>
                <a:latin typeface="Times New Roman"/>
                <a:ea typeface="Times New Roman"/>
                <a:cs typeface="Times New Roman"/>
                <a:sym typeface="Times New Roman"/>
              </a:rPr>
              <a:t>Example 3.21</a:t>
            </a:r>
            <a:endParaRPr b="0" i="0" sz="1400" u="none" cap="none" strike="noStrike">
              <a:solidFill>
                <a:srgbClr val="000000"/>
              </a:solidFill>
              <a:latin typeface="Arial"/>
              <a:ea typeface="Arial"/>
              <a:cs typeface="Arial"/>
              <a:sym typeface="Arial"/>
            </a:endParaRPr>
          </a:p>
        </p:txBody>
      </p:sp>
      <p:pic>
        <p:nvPicPr>
          <p:cNvPr id="971" name="Google Shape;971;p54"/>
          <p:cNvPicPr preferRelativeResize="0"/>
          <p:nvPr/>
        </p:nvPicPr>
        <p:blipFill rotWithShape="1">
          <a:blip r:embed="rId3">
            <a:alphaModFix/>
          </a:blip>
          <a:srcRect b="0" l="0" r="0" t="0"/>
          <a:stretch/>
        </p:blipFill>
        <p:spPr>
          <a:xfrm>
            <a:off x="768350" y="3124200"/>
            <a:ext cx="7605712" cy="2339975"/>
          </a:xfrm>
          <a:prstGeom prst="rect">
            <a:avLst/>
          </a:prstGeom>
          <a:noFill/>
          <a:ln>
            <a:noFill/>
          </a:ln>
        </p:spPr>
      </p:pic>
      <p:sp>
        <p:nvSpPr>
          <p:cNvPr id="972" name="Google Shape;972;p54"/>
          <p:cNvSpPr txBox="1"/>
          <p:nvPr/>
        </p:nvSpPr>
        <p:spPr>
          <a:xfrm>
            <a:off x="152400" y="5776912"/>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Now she has the key and can break any ciphertext encrypted with that key.</a:t>
            </a:r>
            <a:endParaRPr b="0" i="0" sz="1400" u="none" cap="none" strike="noStrike">
              <a:solidFill>
                <a:srgbClr val="000000"/>
              </a:solidFill>
              <a:latin typeface="Arial"/>
              <a:ea typeface="Arial"/>
              <a:cs typeface="Arial"/>
              <a:sym typeface="Arial"/>
            </a:endParaRPr>
          </a:p>
        </p:txBody>
      </p:sp>
      <p:sp>
        <p:nvSpPr>
          <p:cNvPr id="973" name="Google Shape;973;p54"/>
          <p:cNvSpPr txBox="1"/>
          <p:nvPr/>
        </p:nvSpPr>
        <p:spPr>
          <a:xfrm>
            <a:off x="3200400" y="533400"/>
            <a:ext cx="17605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5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80" name="Google Shape;980;p5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1" name="Google Shape;981;p5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2" name="Google Shape;982;p5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3" name="Google Shape;983;p5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4" name="Google Shape;984;p5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5" name="Google Shape;985;p5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6" name="Google Shape;986;p5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7" name="Google Shape;987;p5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988" name="Google Shape;988;p55"/>
          <p:cNvSpPr txBox="1"/>
          <p:nvPr/>
        </p:nvSpPr>
        <p:spPr>
          <a:xfrm>
            <a:off x="152400" y="1295400"/>
            <a:ext cx="8839200" cy="222726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One of the goals of cryptography is perfect secrecy. A study by Shannon has shown that perfect secrecy can be achieved if each plaintext symbol is encrypted with a key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randomly chosen from a key domain. This idea is used in a cipher called one-time pad, invented by </a:t>
            </a:r>
            <a:r>
              <a:rPr b="1" i="0" lang="en-US" sz="2800" u="none" cap="none" strike="noStrike">
                <a:solidFill>
                  <a:schemeClr val="hlink"/>
                </a:solidFill>
                <a:latin typeface="Times New Roman"/>
                <a:ea typeface="Times New Roman"/>
                <a:cs typeface="Times New Roman"/>
                <a:sym typeface="Times New Roman"/>
              </a:rPr>
              <a:t>Vernam</a:t>
            </a:r>
            <a:r>
              <a:rPr b="1" i="0" lang="en-US" sz="2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989" name="Google Shape;989;p55"/>
          <p:cNvSpPr txBox="1"/>
          <p:nvPr/>
        </p:nvSpPr>
        <p:spPr>
          <a:xfrm>
            <a:off x="1143000" y="533400"/>
            <a:ext cx="20875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One-Time Pad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5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96" name="Google Shape;996;p5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97" name="Google Shape;997;p5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98" name="Google Shape;998;p5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99" name="Google Shape;999;p5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00" name="Google Shape;1000;p5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01" name="Google Shape;1001;p5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02" name="Google Shape;1002;p5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03" name="Google Shape;1003;p5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 </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004" name="Google Shape;1004;p56"/>
          <p:cNvSpPr txBox="1"/>
          <p:nvPr/>
        </p:nvSpPr>
        <p:spPr>
          <a:xfrm>
            <a:off x="1143000" y="533400"/>
            <a:ext cx="1936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Rotor Cipher</a:t>
            </a:r>
            <a:endParaRPr b="0" i="0" sz="1400" u="none" cap="none" strike="noStrike">
              <a:solidFill>
                <a:srgbClr val="000000"/>
              </a:solidFill>
              <a:latin typeface="Arial"/>
              <a:ea typeface="Arial"/>
              <a:cs typeface="Arial"/>
              <a:sym typeface="Arial"/>
            </a:endParaRPr>
          </a:p>
        </p:txBody>
      </p:sp>
      <p:pic>
        <p:nvPicPr>
          <p:cNvPr id="1005" name="Google Shape;1005;p56"/>
          <p:cNvPicPr preferRelativeResize="0"/>
          <p:nvPr/>
        </p:nvPicPr>
        <p:blipFill rotWithShape="1">
          <a:blip r:embed="rId3">
            <a:alphaModFix/>
          </a:blip>
          <a:srcRect b="0" l="0" r="0" t="0"/>
          <a:stretch/>
        </p:blipFill>
        <p:spPr>
          <a:xfrm>
            <a:off x="1452562" y="2360612"/>
            <a:ext cx="6243637" cy="2363787"/>
          </a:xfrm>
          <a:prstGeom prst="rect">
            <a:avLst/>
          </a:prstGeom>
          <a:noFill/>
          <a:ln>
            <a:noFill/>
          </a:ln>
        </p:spPr>
      </p:pic>
      <p:sp>
        <p:nvSpPr>
          <p:cNvPr id="1006" name="Google Shape;1006;p56"/>
          <p:cNvSpPr txBox="1"/>
          <p:nvPr/>
        </p:nvSpPr>
        <p:spPr>
          <a:xfrm>
            <a:off x="2503487" y="1676400"/>
            <a:ext cx="32877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3.19  </a:t>
            </a:r>
            <a:r>
              <a:rPr b="1" i="1" lang="en-US" sz="2000" u="none" cap="none" strike="noStrike">
                <a:solidFill>
                  <a:schemeClr val="dk1"/>
                </a:solidFill>
                <a:latin typeface="Times New Roman"/>
                <a:ea typeface="Times New Roman"/>
                <a:cs typeface="Times New Roman"/>
                <a:sym typeface="Times New Roman"/>
              </a:rPr>
              <a:t>A rotor cipher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5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13" name="Google Shape;1013;p5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14" name="Google Shape;1014;p5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15" name="Google Shape;1015;p5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16" name="Google Shape;1016;p5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17" name="Google Shape;1017;p5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18" name="Google Shape;1018;p5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19" name="Google Shape;1019;p5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20" name="Google Shape;1020;p5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3.2.2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021" name="Google Shape;1021;p57"/>
          <p:cNvSpPr txBox="1"/>
          <p:nvPr/>
        </p:nvSpPr>
        <p:spPr>
          <a:xfrm>
            <a:off x="1143000" y="533400"/>
            <a:ext cx="2409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Enigma Machine</a:t>
            </a:r>
            <a:endParaRPr b="0" i="0" sz="1400" u="none" cap="none" strike="noStrike">
              <a:solidFill>
                <a:srgbClr val="000000"/>
              </a:solidFill>
              <a:latin typeface="Arial"/>
              <a:ea typeface="Arial"/>
              <a:cs typeface="Arial"/>
              <a:sym typeface="Arial"/>
            </a:endParaRPr>
          </a:p>
        </p:txBody>
      </p:sp>
      <p:sp>
        <p:nvSpPr>
          <p:cNvPr id="1022" name="Google Shape;1022;p57"/>
          <p:cNvSpPr txBox="1"/>
          <p:nvPr/>
        </p:nvSpPr>
        <p:spPr>
          <a:xfrm>
            <a:off x="1676400" y="1524000"/>
            <a:ext cx="56689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3.20  </a:t>
            </a:r>
            <a:r>
              <a:rPr b="1" i="1" lang="en-US" sz="2000" u="none" cap="none" strike="noStrike">
                <a:solidFill>
                  <a:schemeClr val="dk1"/>
                </a:solidFill>
                <a:latin typeface="Times New Roman"/>
                <a:ea typeface="Times New Roman"/>
                <a:cs typeface="Times New Roman"/>
                <a:sym typeface="Times New Roman"/>
              </a:rPr>
              <a:t>A schematic of the  Enigma machine</a:t>
            </a:r>
            <a:endParaRPr b="0" i="0" sz="1400" u="none" cap="none" strike="noStrike">
              <a:solidFill>
                <a:srgbClr val="000000"/>
              </a:solidFill>
              <a:latin typeface="Arial"/>
              <a:ea typeface="Arial"/>
              <a:cs typeface="Arial"/>
              <a:sym typeface="Arial"/>
            </a:endParaRPr>
          </a:p>
        </p:txBody>
      </p:sp>
      <p:pic>
        <p:nvPicPr>
          <p:cNvPr id="1023" name="Google Shape;1023;p57"/>
          <p:cNvPicPr preferRelativeResize="0"/>
          <p:nvPr/>
        </p:nvPicPr>
        <p:blipFill rotWithShape="1">
          <a:blip r:embed="rId3">
            <a:alphaModFix/>
          </a:blip>
          <a:srcRect b="0" l="0" r="0" t="0"/>
          <a:stretch/>
        </p:blipFill>
        <p:spPr>
          <a:xfrm>
            <a:off x="2667000" y="2438400"/>
            <a:ext cx="3913187" cy="322421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5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30" name="Google Shape;1030;p58"/>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31" name="Google Shape;1031;p58"/>
          <p:cNvSpPr txBox="1"/>
          <p:nvPr/>
        </p:nvSpPr>
        <p:spPr>
          <a:xfrm>
            <a:off x="228600" y="76200"/>
            <a:ext cx="63039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3-3   TRANSPOSITION CIPHERS</a:t>
            </a:r>
            <a:endParaRPr b="0" i="0" sz="1400" u="none" cap="none" strike="noStrike">
              <a:solidFill>
                <a:srgbClr val="000000"/>
              </a:solidFill>
              <a:latin typeface="Arial"/>
              <a:ea typeface="Arial"/>
              <a:cs typeface="Arial"/>
              <a:sym typeface="Arial"/>
            </a:endParaRPr>
          </a:p>
        </p:txBody>
      </p:sp>
      <p:sp>
        <p:nvSpPr>
          <p:cNvPr id="1032" name="Google Shape;1032;p5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33" name="Google Shape;1033;p58"/>
          <p:cNvSpPr txBox="1"/>
          <p:nvPr/>
        </p:nvSpPr>
        <p:spPr>
          <a:xfrm>
            <a:off x="76200" y="914400"/>
            <a:ext cx="86106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transposition cipher does not substitute one symbol for another, instead it changes the location of the symbols. </a:t>
            </a:r>
            <a:endParaRPr b="0" i="0" sz="1400" u="none" cap="none" strike="noStrike">
              <a:solidFill>
                <a:srgbClr val="000000"/>
              </a:solidFill>
              <a:latin typeface="Arial"/>
              <a:ea typeface="Arial"/>
              <a:cs typeface="Arial"/>
              <a:sym typeface="Arial"/>
            </a:endParaRPr>
          </a:p>
        </p:txBody>
      </p:sp>
      <p:sp>
        <p:nvSpPr>
          <p:cNvPr id="1034" name="Google Shape;1034;p58"/>
          <p:cNvSpPr txBox="1"/>
          <p:nvPr/>
        </p:nvSpPr>
        <p:spPr>
          <a:xfrm>
            <a:off x="228600" y="5076825"/>
            <a:ext cx="64008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cap="none" strike="noStrike">
                <a:solidFill>
                  <a:schemeClr val="hlink"/>
                </a:solidFill>
                <a:latin typeface="Times New Roman"/>
                <a:ea typeface="Times New Roman"/>
                <a:cs typeface="Times New Roman"/>
                <a:sym typeface="Times New Roman"/>
              </a:rPr>
              <a:t>3.3.1</a:t>
            </a:r>
            <a:r>
              <a:rPr b="1" i="0" lang="en-US" sz="2400" u="none" cap="none" strike="noStrike">
                <a:solidFill>
                  <a:srgbClr val="0033CC"/>
                </a:solidFill>
                <a:latin typeface="Times New Roman"/>
                <a:ea typeface="Times New Roman"/>
                <a:cs typeface="Times New Roman"/>
                <a:sym typeface="Times New Roman"/>
              </a:rPr>
              <a:t>	Keyless Transposition Ciphers</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chemeClr val="hlink"/>
                </a:solidFill>
                <a:latin typeface="Times New Roman"/>
                <a:ea typeface="Times New Roman"/>
                <a:cs typeface="Times New Roman"/>
                <a:sym typeface="Times New Roman"/>
              </a:rPr>
              <a:t>3.3.2</a:t>
            </a:r>
            <a:r>
              <a:rPr b="1" i="0" lang="en-US" sz="2400" u="none" cap="none" strike="noStrike">
                <a:solidFill>
                  <a:srgbClr val="0033CC"/>
                </a:solidFill>
                <a:latin typeface="Times New Roman"/>
                <a:ea typeface="Times New Roman"/>
                <a:cs typeface="Times New Roman"/>
                <a:sym typeface="Times New Roman"/>
              </a:rPr>
              <a:t>	Keyed Transposition Ciphers</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chemeClr val="hlink"/>
                </a:solidFill>
                <a:latin typeface="Times New Roman"/>
                <a:ea typeface="Times New Roman"/>
                <a:cs typeface="Times New Roman"/>
                <a:sym typeface="Times New Roman"/>
              </a:rPr>
              <a:t>3.3.3</a:t>
            </a:r>
            <a:r>
              <a:rPr b="1" i="0" lang="en-US" sz="2400" u="none" cap="none" strike="noStrike">
                <a:solidFill>
                  <a:srgbClr val="0033CC"/>
                </a:solidFill>
                <a:latin typeface="Times New Roman"/>
                <a:ea typeface="Times New Roman"/>
                <a:cs typeface="Times New Roman"/>
                <a:sym typeface="Times New Roman"/>
              </a:rPr>
              <a:t>	Combining Two Approaches</a:t>
            </a:r>
            <a:endParaRPr b="0" i="0" sz="1400" u="none" cap="none" strike="noStrike">
              <a:solidFill>
                <a:srgbClr val="000000"/>
              </a:solidFill>
              <a:latin typeface="Arial"/>
              <a:ea typeface="Arial"/>
              <a:cs typeface="Arial"/>
              <a:sym typeface="Arial"/>
            </a:endParaRPr>
          </a:p>
        </p:txBody>
      </p:sp>
      <p:sp>
        <p:nvSpPr>
          <p:cNvPr id="1035" name="Google Shape;1035;p58"/>
          <p:cNvSpPr txBox="1"/>
          <p:nvPr/>
        </p:nvSpPr>
        <p:spPr>
          <a:xfrm>
            <a:off x="165100" y="45720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cxnSp>
        <p:nvCxnSpPr>
          <p:cNvPr id="1036" name="Google Shape;1036;p58"/>
          <p:cNvCxnSpPr/>
          <p:nvPr/>
        </p:nvCxnSpPr>
        <p:spPr>
          <a:xfrm>
            <a:off x="457200" y="3462337"/>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037" name="Google Shape;1037;p58"/>
          <p:cNvCxnSpPr/>
          <p:nvPr/>
        </p:nvCxnSpPr>
        <p:spPr>
          <a:xfrm>
            <a:off x="458787" y="4148137"/>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038" name="Google Shape;1038;p58"/>
          <p:cNvSpPr txBox="1"/>
          <p:nvPr/>
        </p:nvSpPr>
        <p:spPr>
          <a:xfrm>
            <a:off x="495300" y="3538537"/>
            <a:ext cx="8077200" cy="51911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 transposition cipher reorders symbols.</a:t>
            </a:r>
            <a:endParaRPr b="0" i="0" sz="1400" u="none" cap="none" strike="noStrike">
              <a:solidFill>
                <a:srgbClr val="000000"/>
              </a:solidFill>
              <a:latin typeface="Arial"/>
              <a:ea typeface="Arial"/>
              <a:cs typeface="Arial"/>
              <a:sym typeface="Arial"/>
            </a:endParaRPr>
          </a:p>
        </p:txBody>
      </p:sp>
      <p:grpSp>
        <p:nvGrpSpPr>
          <p:cNvPr id="1039" name="Google Shape;1039;p58"/>
          <p:cNvGrpSpPr/>
          <p:nvPr/>
        </p:nvGrpSpPr>
        <p:grpSpPr>
          <a:xfrm>
            <a:off x="457200" y="2819400"/>
            <a:ext cx="1143000" cy="566737"/>
            <a:chOff x="1200" y="1248"/>
            <a:chExt cx="720" cy="357"/>
          </a:xfrm>
        </p:grpSpPr>
        <p:pic>
          <p:nvPicPr>
            <p:cNvPr id="1040" name="Google Shape;1040;p5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041" name="Google Shape;1041;p58"/>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5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48" name="Google Shape;1048;p5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49" name="Google Shape;1049;p5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50" name="Google Shape;1050;p5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51" name="Google Shape;1051;p5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52" name="Google Shape;1052;p5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53" name="Google Shape;1053;p5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54" name="Google Shape;1054;p5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55" name="Google Shape;1055;p59"/>
          <p:cNvSpPr txBox="1"/>
          <p:nvPr/>
        </p:nvSpPr>
        <p:spPr>
          <a:xfrm>
            <a:off x="1143000" y="0"/>
            <a:ext cx="65897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3.3.1     Keyless Transposition Ciphers</a:t>
            </a:r>
            <a:endParaRPr b="0" i="0" sz="1400" u="none" cap="none" strike="noStrike">
              <a:solidFill>
                <a:srgbClr val="000000"/>
              </a:solidFill>
              <a:latin typeface="Arial"/>
              <a:ea typeface="Arial"/>
              <a:cs typeface="Arial"/>
              <a:sym typeface="Arial"/>
            </a:endParaRPr>
          </a:p>
        </p:txBody>
      </p:sp>
      <p:sp>
        <p:nvSpPr>
          <p:cNvPr id="1056" name="Google Shape;1056;p59"/>
          <p:cNvSpPr txBox="1"/>
          <p:nvPr/>
        </p:nvSpPr>
        <p:spPr>
          <a:xfrm>
            <a:off x="152400" y="1143000"/>
            <a:ext cx="88392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Simple transposition ciphers, which were used in the past, are keyless. </a:t>
            </a:r>
            <a:endParaRPr b="0" i="0" sz="1400" u="none" cap="none" strike="noStrike">
              <a:solidFill>
                <a:srgbClr val="000000"/>
              </a:solidFill>
              <a:latin typeface="Arial"/>
              <a:ea typeface="Arial"/>
              <a:cs typeface="Arial"/>
              <a:sym typeface="Arial"/>
            </a:endParaRPr>
          </a:p>
        </p:txBody>
      </p:sp>
      <p:sp>
        <p:nvSpPr>
          <p:cNvPr id="1057" name="Google Shape;1057;p59"/>
          <p:cNvSpPr txBox="1"/>
          <p:nvPr/>
        </p:nvSpPr>
        <p:spPr>
          <a:xfrm>
            <a:off x="228600" y="2895600"/>
            <a:ext cx="8839200" cy="15525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A good example of a keyless cipher using the first method is the </a:t>
            </a:r>
            <a:r>
              <a:rPr b="1" i="0" lang="en-US" sz="2400" u="none" cap="none" strike="noStrike">
                <a:solidFill>
                  <a:schemeClr val="hlink"/>
                </a:solidFill>
                <a:latin typeface="Times New Roman"/>
                <a:ea typeface="Times New Roman"/>
                <a:cs typeface="Times New Roman"/>
                <a:sym typeface="Times New Roman"/>
              </a:rPr>
              <a:t>rail fence cipher</a:t>
            </a:r>
            <a:r>
              <a:rPr b="1" i="0" lang="en-US" sz="2400" u="none" cap="none" strike="noStrike">
                <a:solidFill>
                  <a:schemeClr val="dk1"/>
                </a:solidFill>
                <a:latin typeface="Times New Roman"/>
                <a:ea typeface="Times New Roman"/>
                <a:cs typeface="Times New Roman"/>
                <a:sym typeface="Times New Roman"/>
              </a:rPr>
              <a:t>. The ciphertext is created reading the pattern row by row. For example, to send the message “Meet me at the park” to Bob, Alice writes</a:t>
            </a:r>
            <a:endParaRPr b="0" i="0" sz="1400" u="none" cap="none" strike="noStrike">
              <a:solidFill>
                <a:srgbClr val="000000"/>
              </a:solidFill>
              <a:latin typeface="Arial"/>
              <a:ea typeface="Arial"/>
              <a:cs typeface="Arial"/>
              <a:sym typeface="Arial"/>
            </a:endParaRPr>
          </a:p>
        </p:txBody>
      </p:sp>
      <p:sp>
        <p:nvSpPr>
          <p:cNvPr id="1058" name="Google Shape;1058;p59"/>
          <p:cNvSpPr txBox="1"/>
          <p:nvPr/>
        </p:nvSpPr>
        <p:spPr>
          <a:xfrm>
            <a:off x="304800" y="22860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3.22</a:t>
            </a:r>
            <a:endParaRPr b="0" i="0" sz="1400" u="none" cap="none" strike="noStrike">
              <a:solidFill>
                <a:srgbClr val="000000"/>
              </a:solidFill>
              <a:latin typeface="Arial"/>
              <a:ea typeface="Arial"/>
              <a:cs typeface="Arial"/>
              <a:sym typeface="Arial"/>
            </a:endParaRPr>
          </a:p>
        </p:txBody>
      </p:sp>
      <p:sp>
        <p:nvSpPr>
          <p:cNvPr id="1059" name="Google Shape;1059;p59"/>
          <p:cNvSpPr txBox="1"/>
          <p:nvPr/>
        </p:nvSpPr>
        <p:spPr>
          <a:xfrm>
            <a:off x="228600" y="5791200"/>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She then creates the ciphertext “</a:t>
            </a:r>
            <a:r>
              <a:rPr b="1" i="0" lang="en-US" sz="2400" u="none" cap="none" strike="noStrike">
                <a:solidFill>
                  <a:schemeClr val="hlink"/>
                </a:solidFill>
                <a:latin typeface="Times New Roman"/>
                <a:ea typeface="Times New Roman"/>
                <a:cs typeface="Times New Roman"/>
                <a:sym typeface="Times New Roman"/>
              </a:rPr>
              <a:t>MEMATEAKETETHPR</a:t>
            </a:r>
            <a:r>
              <a:rPr b="1"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pic>
        <p:nvPicPr>
          <p:cNvPr id="1060" name="Google Shape;1060;p59"/>
          <p:cNvPicPr preferRelativeResize="0"/>
          <p:nvPr/>
        </p:nvPicPr>
        <p:blipFill rotWithShape="1">
          <a:blip r:embed="rId3">
            <a:alphaModFix/>
          </a:blip>
          <a:srcRect b="0" l="0" r="0" t="0"/>
          <a:stretch/>
        </p:blipFill>
        <p:spPr>
          <a:xfrm>
            <a:off x="693737" y="4786312"/>
            <a:ext cx="7916862" cy="77311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6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67" name="Google Shape;1067;p6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68" name="Google Shape;1068;p6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69" name="Google Shape;1069;p6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0" name="Google Shape;1070;p6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1" name="Google Shape;1071;p6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2" name="Google Shape;1072;p6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3" name="Google Shape;1073;p6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4" name="Google Shape;1074;p60"/>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3.3.1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075" name="Google Shape;1075;p60"/>
          <p:cNvSpPr txBox="1"/>
          <p:nvPr/>
        </p:nvSpPr>
        <p:spPr>
          <a:xfrm>
            <a:off x="152400" y="117475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Alice and Bob can agree on the number of columns and use the second method. Alice writes the same plaintext, row by row, in a table of four columns.</a:t>
            </a:r>
            <a:endParaRPr b="0" i="0" sz="1400" u="none" cap="none" strike="noStrike">
              <a:solidFill>
                <a:srgbClr val="000000"/>
              </a:solidFill>
              <a:latin typeface="Arial"/>
              <a:ea typeface="Arial"/>
              <a:cs typeface="Arial"/>
              <a:sym typeface="Arial"/>
            </a:endParaRPr>
          </a:p>
        </p:txBody>
      </p:sp>
      <p:sp>
        <p:nvSpPr>
          <p:cNvPr id="1076" name="Google Shape;1076;p60"/>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3.23</a:t>
            </a:r>
            <a:endParaRPr b="0" i="0" sz="1400" u="none" cap="none" strike="noStrike">
              <a:solidFill>
                <a:srgbClr val="000000"/>
              </a:solidFill>
              <a:latin typeface="Arial"/>
              <a:ea typeface="Arial"/>
              <a:cs typeface="Arial"/>
              <a:sym typeface="Arial"/>
            </a:endParaRPr>
          </a:p>
        </p:txBody>
      </p:sp>
      <p:sp>
        <p:nvSpPr>
          <p:cNvPr id="1077" name="Google Shape;1077;p60"/>
          <p:cNvSpPr txBox="1"/>
          <p:nvPr/>
        </p:nvSpPr>
        <p:spPr>
          <a:xfrm>
            <a:off x="152400" y="5959475"/>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She then creates the ciphertext </a:t>
            </a:r>
            <a:r>
              <a:rPr b="1" i="0" lang="en-US" sz="2400" u="none" cap="none" strike="noStrike">
                <a:solidFill>
                  <a:schemeClr val="hlink"/>
                </a:solidFill>
                <a:latin typeface="Times New Roman"/>
                <a:ea typeface="Times New Roman"/>
                <a:cs typeface="Times New Roman"/>
                <a:sym typeface="Times New Roman"/>
              </a:rPr>
              <a:t>“MMTAEEHREAEKTTP”</a:t>
            </a:r>
            <a:r>
              <a:rPr b="1"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pic>
        <p:nvPicPr>
          <p:cNvPr id="1078" name="Google Shape;1078;p60"/>
          <p:cNvPicPr preferRelativeResize="0"/>
          <p:nvPr/>
        </p:nvPicPr>
        <p:blipFill rotWithShape="1">
          <a:blip r:embed="rId3">
            <a:alphaModFix/>
          </a:blip>
          <a:srcRect b="0" l="0" r="0" t="0"/>
          <a:stretch/>
        </p:blipFill>
        <p:spPr>
          <a:xfrm>
            <a:off x="3003550" y="2667000"/>
            <a:ext cx="2787650" cy="23717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6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85" name="Google Shape;1085;p6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86" name="Google Shape;1086;p6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87" name="Google Shape;1087;p6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88" name="Google Shape;1088;p6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89" name="Google Shape;1089;p6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90" name="Google Shape;1090;p6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91" name="Google Shape;1091;p6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92" name="Google Shape;1092;p61"/>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3.3.1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093" name="Google Shape;1093;p61"/>
          <p:cNvSpPr txBox="1"/>
          <p:nvPr/>
        </p:nvSpPr>
        <p:spPr>
          <a:xfrm>
            <a:off x="152400" y="117475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cipher in Example 3.23 is actually a transposition cipher. The following shows the permutation of each character in the plaintext into the ciphertext based on the positions.</a:t>
            </a:r>
            <a:endParaRPr b="0" i="0" sz="1400" u="none" cap="none" strike="noStrike">
              <a:solidFill>
                <a:srgbClr val="000000"/>
              </a:solidFill>
              <a:latin typeface="Arial"/>
              <a:ea typeface="Arial"/>
              <a:cs typeface="Arial"/>
              <a:sym typeface="Arial"/>
            </a:endParaRPr>
          </a:p>
        </p:txBody>
      </p:sp>
      <p:sp>
        <p:nvSpPr>
          <p:cNvPr id="1094" name="Google Shape;1094;p61"/>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3.24</a:t>
            </a:r>
            <a:endParaRPr b="0" i="0" sz="1400" u="none" cap="none" strike="noStrike">
              <a:solidFill>
                <a:srgbClr val="000000"/>
              </a:solidFill>
              <a:latin typeface="Arial"/>
              <a:ea typeface="Arial"/>
              <a:cs typeface="Arial"/>
              <a:sym typeface="Arial"/>
            </a:endParaRPr>
          </a:p>
        </p:txBody>
      </p:sp>
      <p:sp>
        <p:nvSpPr>
          <p:cNvPr id="1095" name="Google Shape;1095;p61"/>
          <p:cNvSpPr txBox="1"/>
          <p:nvPr/>
        </p:nvSpPr>
        <p:spPr>
          <a:xfrm>
            <a:off x="152400" y="4191000"/>
            <a:ext cx="8839200" cy="22828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second character in the plaintext has moved to the fifth position in the ciphertext; the third character has moved to the ninth position; and so on. Although the characters are permuted,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there is a pattern in the permutation: (01, 05, 09, 13), (02, 06, 10, 13), (03, 07, 11, 15), and (08, 12). In each section, the difference between the two adjacent numbers is 4.</a:t>
            </a:r>
            <a:endParaRPr b="0" i="0" sz="1400" u="none" cap="none" strike="noStrike">
              <a:solidFill>
                <a:srgbClr val="000000"/>
              </a:solidFill>
              <a:latin typeface="Arial"/>
              <a:ea typeface="Arial"/>
              <a:cs typeface="Arial"/>
              <a:sym typeface="Arial"/>
            </a:endParaRPr>
          </a:p>
        </p:txBody>
      </p:sp>
      <p:pic>
        <p:nvPicPr>
          <p:cNvPr id="1096" name="Google Shape;1096;p61"/>
          <p:cNvPicPr preferRelativeResize="0"/>
          <p:nvPr/>
        </p:nvPicPr>
        <p:blipFill rotWithShape="1">
          <a:blip r:embed="rId3">
            <a:alphaModFix/>
          </a:blip>
          <a:srcRect b="0" l="0" r="0" t="0"/>
          <a:stretch/>
        </p:blipFill>
        <p:spPr>
          <a:xfrm>
            <a:off x="401637" y="2871787"/>
            <a:ext cx="8208962" cy="99536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6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03" name="Google Shape;1103;p6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04" name="Google Shape;1104;p6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05" name="Google Shape;1105;p6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06" name="Google Shape;1106;p6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07" name="Google Shape;1107;p6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08" name="Google Shape;1108;p6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09" name="Google Shape;1109;p6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10" name="Google Shape;1110;p62"/>
          <p:cNvSpPr txBox="1"/>
          <p:nvPr/>
        </p:nvSpPr>
        <p:spPr>
          <a:xfrm>
            <a:off x="1143000" y="0"/>
            <a:ext cx="63627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3.3.2     Keyed Transposition Ciphers</a:t>
            </a:r>
            <a:endParaRPr b="0" i="0" sz="1400" u="none" cap="none" strike="noStrike">
              <a:solidFill>
                <a:srgbClr val="000000"/>
              </a:solidFill>
              <a:latin typeface="Arial"/>
              <a:ea typeface="Arial"/>
              <a:cs typeface="Arial"/>
              <a:sym typeface="Arial"/>
            </a:endParaRPr>
          </a:p>
        </p:txBody>
      </p:sp>
      <p:sp>
        <p:nvSpPr>
          <p:cNvPr id="1111" name="Google Shape;1111;p62"/>
          <p:cNvSpPr txBox="1"/>
          <p:nvPr/>
        </p:nvSpPr>
        <p:spPr>
          <a:xfrm>
            <a:off x="152400" y="1066800"/>
            <a:ext cx="8839200" cy="308133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The keyless ciphers permute the characters by using writing plaintext in one way and reading it in another way The permutation is done on the whole plaintext to create the whole ciphertext. Another method is to divide the plaintext into groups of predetermined size, called blocks, and then use a key to permute the characters in each block separately.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6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18" name="Google Shape;1118;p6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19" name="Google Shape;1119;p6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20" name="Google Shape;1120;p6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21" name="Google Shape;1121;p6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22" name="Google Shape;1122;p6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23" name="Google Shape;1123;p6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24" name="Google Shape;1124;p6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25" name="Google Shape;1125;p6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3.3.2</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126" name="Google Shape;1126;p63"/>
          <p:cNvSpPr txBox="1"/>
          <p:nvPr/>
        </p:nvSpPr>
        <p:spPr>
          <a:xfrm>
            <a:off x="152400" y="1189037"/>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Alice needs to send the message “Enemy attacks tonight” to Bob..</a:t>
            </a:r>
            <a:endParaRPr b="0" i="0" sz="1400" u="none" cap="none" strike="noStrike">
              <a:solidFill>
                <a:srgbClr val="000000"/>
              </a:solidFill>
              <a:latin typeface="Arial"/>
              <a:ea typeface="Arial"/>
              <a:cs typeface="Arial"/>
              <a:sym typeface="Arial"/>
            </a:endParaRPr>
          </a:p>
        </p:txBody>
      </p:sp>
      <p:sp>
        <p:nvSpPr>
          <p:cNvPr id="1127" name="Google Shape;1127;p63"/>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3.25</a:t>
            </a:r>
            <a:endParaRPr b="0" i="0" sz="1400" u="none" cap="none" strike="noStrike">
              <a:solidFill>
                <a:srgbClr val="000000"/>
              </a:solidFill>
              <a:latin typeface="Arial"/>
              <a:ea typeface="Arial"/>
              <a:cs typeface="Arial"/>
              <a:sym typeface="Arial"/>
            </a:endParaRPr>
          </a:p>
        </p:txBody>
      </p:sp>
      <p:sp>
        <p:nvSpPr>
          <p:cNvPr id="1128" name="Google Shape;1128;p63"/>
          <p:cNvSpPr txBox="1"/>
          <p:nvPr/>
        </p:nvSpPr>
        <p:spPr>
          <a:xfrm>
            <a:off x="152400" y="22860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key used for encryption and decryption is a permutation key, which shows how the character are permuted. </a:t>
            </a:r>
            <a:endParaRPr b="0" i="0" sz="1400" u="none" cap="none" strike="noStrike">
              <a:solidFill>
                <a:srgbClr val="000000"/>
              </a:solidFill>
              <a:latin typeface="Arial"/>
              <a:ea typeface="Arial"/>
              <a:cs typeface="Arial"/>
              <a:sym typeface="Arial"/>
            </a:endParaRPr>
          </a:p>
        </p:txBody>
      </p:sp>
      <p:pic>
        <p:nvPicPr>
          <p:cNvPr id="1129" name="Google Shape;1129;p63"/>
          <p:cNvPicPr preferRelativeResize="0"/>
          <p:nvPr/>
        </p:nvPicPr>
        <p:blipFill rotWithShape="1">
          <a:blip r:embed="rId3">
            <a:alphaModFix/>
          </a:blip>
          <a:srcRect b="0" l="0" r="0" t="0"/>
          <a:stretch/>
        </p:blipFill>
        <p:spPr>
          <a:xfrm>
            <a:off x="533400" y="1752600"/>
            <a:ext cx="8153400" cy="258762"/>
          </a:xfrm>
          <a:prstGeom prst="rect">
            <a:avLst/>
          </a:prstGeom>
          <a:noFill/>
          <a:ln>
            <a:noFill/>
          </a:ln>
        </p:spPr>
      </p:pic>
      <p:pic>
        <p:nvPicPr>
          <p:cNvPr id="1130" name="Google Shape;1130;p63"/>
          <p:cNvPicPr preferRelativeResize="0"/>
          <p:nvPr/>
        </p:nvPicPr>
        <p:blipFill rotWithShape="1">
          <a:blip r:embed="rId4">
            <a:alphaModFix/>
          </a:blip>
          <a:srcRect b="0" l="0" r="0" t="0"/>
          <a:stretch/>
        </p:blipFill>
        <p:spPr>
          <a:xfrm>
            <a:off x="1066800" y="3343275"/>
            <a:ext cx="6370637" cy="1228725"/>
          </a:xfrm>
          <a:prstGeom prst="rect">
            <a:avLst/>
          </a:prstGeom>
          <a:noFill/>
          <a:ln>
            <a:noFill/>
          </a:ln>
        </p:spPr>
      </p:pic>
      <p:sp>
        <p:nvSpPr>
          <p:cNvPr id="1131" name="Google Shape;1131;p63"/>
          <p:cNvSpPr txBox="1"/>
          <p:nvPr/>
        </p:nvSpPr>
        <p:spPr>
          <a:xfrm>
            <a:off x="152400" y="4695825"/>
            <a:ext cx="88392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permutation yields</a:t>
            </a:r>
            <a:endParaRPr b="0" i="0" sz="1400" u="none" cap="none" strike="noStrike">
              <a:solidFill>
                <a:srgbClr val="000000"/>
              </a:solidFill>
              <a:latin typeface="Arial"/>
              <a:ea typeface="Arial"/>
              <a:cs typeface="Arial"/>
              <a:sym typeface="Arial"/>
            </a:endParaRPr>
          </a:p>
        </p:txBody>
      </p:sp>
      <p:pic>
        <p:nvPicPr>
          <p:cNvPr id="1132" name="Google Shape;1132;p63"/>
          <p:cNvPicPr preferRelativeResize="0"/>
          <p:nvPr/>
        </p:nvPicPr>
        <p:blipFill rotWithShape="1">
          <a:blip r:embed="rId5">
            <a:alphaModFix/>
          </a:blip>
          <a:srcRect b="0" l="0" r="0" t="0"/>
          <a:stretch/>
        </p:blipFill>
        <p:spPr>
          <a:xfrm>
            <a:off x="304800" y="5410200"/>
            <a:ext cx="8208962" cy="2571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6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39" name="Google Shape;1139;p6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0" name="Google Shape;1140;p6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1" name="Google Shape;1141;p6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2" name="Google Shape;1142;p6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3" name="Google Shape;1143;p6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4" name="Google Shape;1144;p6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5" name="Google Shape;1145;p6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6" name="Google Shape;1146;p64"/>
          <p:cNvSpPr txBox="1"/>
          <p:nvPr/>
        </p:nvSpPr>
        <p:spPr>
          <a:xfrm>
            <a:off x="1143000" y="0"/>
            <a:ext cx="619125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3.3.3    Combining Two Approaches</a:t>
            </a:r>
            <a:endParaRPr b="0" i="0" sz="1400" u="none" cap="none" strike="noStrike">
              <a:solidFill>
                <a:srgbClr val="000000"/>
              </a:solidFill>
              <a:latin typeface="Arial"/>
              <a:ea typeface="Arial"/>
              <a:cs typeface="Arial"/>
              <a:sym typeface="Arial"/>
            </a:endParaRPr>
          </a:p>
        </p:txBody>
      </p:sp>
      <p:sp>
        <p:nvSpPr>
          <p:cNvPr id="1147" name="Google Shape;1147;p64"/>
          <p:cNvSpPr txBox="1"/>
          <p:nvPr/>
        </p:nvSpPr>
        <p:spPr>
          <a:xfrm>
            <a:off x="417512" y="10668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3.26</a:t>
            </a:r>
            <a:endParaRPr b="0" i="0" sz="1400" u="none" cap="none" strike="noStrike">
              <a:solidFill>
                <a:srgbClr val="000000"/>
              </a:solidFill>
              <a:latin typeface="Arial"/>
              <a:ea typeface="Arial"/>
              <a:cs typeface="Arial"/>
              <a:sym typeface="Arial"/>
            </a:endParaRPr>
          </a:p>
        </p:txBody>
      </p:sp>
      <p:pic>
        <p:nvPicPr>
          <p:cNvPr id="1148" name="Google Shape;1148;p64"/>
          <p:cNvPicPr preferRelativeResize="0"/>
          <p:nvPr/>
        </p:nvPicPr>
        <p:blipFill rotWithShape="1">
          <a:blip r:embed="rId3">
            <a:alphaModFix/>
          </a:blip>
          <a:srcRect b="0" l="0" r="0" t="0"/>
          <a:stretch/>
        </p:blipFill>
        <p:spPr>
          <a:xfrm>
            <a:off x="1295400" y="1828800"/>
            <a:ext cx="6937375" cy="4656137"/>
          </a:xfrm>
          <a:prstGeom prst="rect">
            <a:avLst/>
          </a:prstGeom>
          <a:noFill/>
          <a:ln>
            <a:noFill/>
          </a:ln>
        </p:spPr>
      </p:pic>
      <p:sp>
        <p:nvSpPr>
          <p:cNvPr id="1149" name="Google Shape;1149;p64"/>
          <p:cNvSpPr txBox="1"/>
          <p:nvPr/>
        </p:nvSpPr>
        <p:spPr>
          <a:xfrm>
            <a:off x="3449637" y="1295400"/>
            <a:ext cx="17319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3.21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6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56" name="Google Shape;1156;p65"/>
          <p:cNvSpPr txBox="1"/>
          <p:nvPr/>
        </p:nvSpPr>
        <p:spPr>
          <a:xfrm>
            <a:off x="577850" y="3344862"/>
            <a:ext cx="73850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3.22  </a:t>
            </a:r>
            <a:r>
              <a:rPr b="1" i="1" lang="en-US" sz="2000" u="none" cap="none" strike="noStrike">
                <a:solidFill>
                  <a:schemeClr val="dk1"/>
                </a:solidFill>
                <a:latin typeface="Times New Roman"/>
                <a:ea typeface="Times New Roman"/>
                <a:cs typeface="Times New Roman"/>
                <a:sym typeface="Times New Roman"/>
              </a:rPr>
              <a:t>Encryption/decryption keys in transpositional ciphers</a:t>
            </a:r>
            <a:endParaRPr b="0" i="0" sz="1400" u="none" cap="none" strike="noStrike">
              <a:solidFill>
                <a:srgbClr val="000000"/>
              </a:solidFill>
              <a:latin typeface="Arial"/>
              <a:ea typeface="Arial"/>
              <a:cs typeface="Arial"/>
              <a:sym typeface="Arial"/>
            </a:endParaRPr>
          </a:p>
        </p:txBody>
      </p:sp>
      <p:pic>
        <p:nvPicPr>
          <p:cNvPr id="1157" name="Google Shape;1157;p65"/>
          <p:cNvPicPr preferRelativeResize="0"/>
          <p:nvPr/>
        </p:nvPicPr>
        <p:blipFill rotWithShape="1">
          <a:blip r:embed="rId3">
            <a:alphaModFix/>
          </a:blip>
          <a:srcRect b="0" l="0" r="0" t="0"/>
          <a:stretch/>
        </p:blipFill>
        <p:spPr>
          <a:xfrm>
            <a:off x="685800" y="4030662"/>
            <a:ext cx="7294562" cy="1303337"/>
          </a:xfrm>
          <a:prstGeom prst="rect">
            <a:avLst/>
          </a:prstGeom>
          <a:noFill/>
          <a:ln>
            <a:noFill/>
          </a:ln>
        </p:spPr>
      </p:pic>
      <p:sp>
        <p:nvSpPr>
          <p:cNvPr id="1158" name="Google Shape;1158;p6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59" name="Google Shape;1159;p6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0" name="Google Shape;1160;p6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1" name="Google Shape;1161;p6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2" name="Google Shape;1162;p6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3" name="Google Shape;1163;p6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4" name="Google Shape;1164;p6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5" name="Google Shape;1165;p65"/>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3.3.3</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166" name="Google Shape;1166;p65"/>
          <p:cNvSpPr txBox="1"/>
          <p:nvPr/>
        </p:nvSpPr>
        <p:spPr>
          <a:xfrm>
            <a:off x="1143000" y="533400"/>
            <a:ext cx="827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Keys</a:t>
            </a:r>
            <a:endParaRPr b="0" i="0" sz="1400" u="none" cap="none" strike="noStrike">
              <a:solidFill>
                <a:srgbClr val="000000"/>
              </a:solidFill>
              <a:latin typeface="Arial"/>
              <a:ea typeface="Arial"/>
              <a:cs typeface="Arial"/>
              <a:sym typeface="Arial"/>
            </a:endParaRPr>
          </a:p>
        </p:txBody>
      </p:sp>
      <p:sp>
        <p:nvSpPr>
          <p:cNvPr id="1167" name="Google Shape;1167;p65"/>
          <p:cNvSpPr txBox="1"/>
          <p:nvPr/>
        </p:nvSpPr>
        <p:spPr>
          <a:xfrm>
            <a:off x="152400" y="11430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In Example 3.27, a single key was used in two directions for the column exchange: downward for encryption, upward for decryption. It is customary to create two keys.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6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74" name="Google Shape;1174;p66"/>
          <p:cNvSpPr txBox="1"/>
          <p:nvPr/>
        </p:nvSpPr>
        <p:spPr>
          <a:xfrm>
            <a:off x="1381125" y="1219200"/>
            <a:ext cx="5857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3.23  </a:t>
            </a:r>
            <a:r>
              <a:rPr b="1" i="1" lang="en-US" sz="2000" u="none" cap="none" strike="noStrike">
                <a:solidFill>
                  <a:schemeClr val="dk1"/>
                </a:solidFill>
                <a:latin typeface="Times New Roman"/>
                <a:ea typeface="Times New Roman"/>
                <a:cs typeface="Times New Roman"/>
                <a:sym typeface="Times New Roman"/>
              </a:rPr>
              <a:t>Key inversion in a transposition cipher</a:t>
            </a:r>
            <a:endParaRPr b="0" i="0" sz="1400" u="none" cap="none" strike="noStrike">
              <a:solidFill>
                <a:srgbClr val="000000"/>
              </a:solidFill>
              <a:latin typeface="Arial"/>
              <a:ea typeface="Arial"/>
              <a:cs typeface="Arial"/>
              <a:sym typeface="Arial"/>
            </a:endParaRPr>
          </a:p>
        </p:txBody>
      </p:sp>
      <p:pic>
        <p:nvPicPr>
          <p:cNvPr id="1175" name="Google Shape;1175;p66"/>
          <p:cNvPicPr preferRelativeResize="0"/>
          <p:nvPr/>
        </p:nvPicPr>
        <p:blipFill rotWithShape="1">
          <a:blip r:embed="rId3">
            <a:alphaModFix/>
          </a:blip>
          <a:srcRect b="0" l="0" r="0" t="0"/>
          <a:stretch/>
        </p:blipFill>
        <p:spPr>
          <a:xfrm>
            <a:off x="161925" y="2209800"/>
            <a:ext cx="8829675" cy="2767012"/>
          </a:xfrm>
          <a:prstGeom prst="rect">
            <a:avLst/>
          </a:prstGeom>
          <a:noFill/>
          <a:ln>
            <a:noFill/>
          </a:ln>
        </p:spPr>
      </p:pic>
      <p:sp>
        <p:nvSpPr>
          <p:cNvPr id="1176" name="Google Shape;1176;p6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77" name="Google Shape;1177;p6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78" name="Google Shape;1178;p6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79" name="Google Shape;1179;p6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0" name="Google Shape;1180;p6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1" name="Google Shape;1181;p6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2" name="Google Shape;1182;p6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3" name="Google Shape;1183;p6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3.3.3</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6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90" name="Google Shape;1190;p6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91" name="Google Shape;1191;p6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92" name="Google Shape;1192;p6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93" name="Google Shape;1193;p6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94" name="Google Shape;1194;p6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95" name="Google Shape;1195;p6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96" name="Google Shape;1196;p6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97" name="Google Shape;1197;p67"/>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3.3.3</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198" name="Google Shape;1198;p67"/>
          <p:cNvSpPr txBox="1"/>
          <p:nvPr/>
        </p:nvSpPr>
        <p:spPr>
          <a:xfrm>
            <a:off x="1143000" y="533400"/>
            <a:ext cx="2155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Using Matrices</a:t>
            </a:r>
            <a:endParaRPr b="0" i="0" sz="1400" u="none" cap="none" strike="noStrike">
              <a:solidFill>
                <a:srgbClr val="000000"/>
              </a:solidFill>
              <a:latin typeface="Arial"/>
              <a:ea typeface="Arial"/>
              <a:cs typeface="Arial"/>
              <a:sym typeface="Arial"/>
            </a:endParaRPr>
          </a:p>
        </p:txBody>
      </p:sp>
      <p:sp>
        <p:nvSpPr>
          <p:cNvPr id="1199" name="Google Shape;1199;p67"/>
          <p:cNvSpPr txBox="1"/>
          <p:nvPr/>
        </p:nvSpPr>
        <p:spPr>
          <a:xfrm>
            <a:off x="152400" y="11430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We can use matrices to show the encryption/decryption process for a transposition cipher. </a:t>
            </a:r>
            <a:endParaRPr b="0" i="0" sz="1400" u="none" cap="none" strike="noStrike">
              <a:solidFill>
                <a:srgbClr val="000000"/>
              </a:solidFill>
              <a:latin typeface="Arial"/>
              <a:ea typeface="Arial"/>
              <a:cs typeface="Arial"/>
              <a:sym typeface="Arial"/>
            </a:endParaRPr>
          </a:p>
        </p:txBody>
      </p:sp>
      <p:sp>
        <p:nvSpPr>
          <p:cNvPr id="1200" name="Google Shape;1200;p67"/>
          <p:cNvSpPr txBox="1"/>
          <p:nvPr/>
        </p:nvSpPr>
        <p:spPr>
          <a:xfrm>
            <a:off x="381000" y="2895600"/>
            <a:ext cx="85121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3.24  </a:t>
            </a:r>
            <a:r>
              <a:rPr b="1" i="1" lang="en-US" sz="2000" u="none" cap="none" strike="noStrike">
                <a:solidFill>
                  <a:schemeClr val="dk1"/>
                </a:solidFill>
                <a:latin typeface="Times New Roman"/>
                <a:ea typeface="Times New Roman"/>
                <a:cs typeface="Times New Roman"/>
                <a:sym typeface="Times New Roman"/>
              </a:rPr>
              <a:t>Representation of the key as a matrix in the transposition cipher</a:t>
            </a:r>
            <a:endParaRPr b="0" i="0" sz="1400" u="none" cap="none" strike="noStrike">
              <a:solidFill>
                <a:srgbClr val="000000"/>
              </a:solidFill>
              <a:latin typeface="Arial"/>
              <a:ea typeface="Arial"/>
              <a:cs typeface="Arial"/>
              <a:sym typeface="Arial"/>
            </a:endParaRPr>
          </a:p>
        </p:txBody>
      </p:sp>
      <p:pic>
        <p:nvPicPr>
          <p:cNvPr id="1201" name="Google Shape;1201;p67"/>
          <p:cNvPicPr preferRelativeResize="0"/>
          <p:nvPr/>
        </p:nvPicPr>
        <p:blipFill rotWithShape="1">
          <a:blip r:embed="rId3">
            <a:alphaModFix/>
          </a:blip>
          <a:srcRect b="0" l="0" r="0" t="0"/>
          <a:stretch/>
        </p:blipFill>
        <p:spPr>
          <a:xfrm>
            <a:off x="798512" y="3514725"/>
            <a:ext cx="7659687" cy="2962275"/>
          </a:xfrm>
          <a:prstGeom prst="rect">
            <a:avLst/>
          </a:prstGeom>
          <a:noFill/>
          <a:ln>
            <a:noFill/>
          </a:ln>
        </p:spPr>
      </p:pic>
      <p:sp>
        <p:nvSpPr>
          <p:cNvPr id="1202" name="Google Shape;1202;p67"/>
          <p:cNvSpPr txBox="1"/>
          <p:nvPr/>
        </p:nvSpPr>
        <p:spPr>
          <a:xfrm>
            <a:off x="381000" y="21336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6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09" name="Google Shape;1209;p68"/>
          <p:cNvSpPr txBox="1"/>
          <p:nvPr/>
        </p:nvSpPr>
        <p:spPr>
          <a:xfrm>
            <a:off x="381000" y="2895600"/>
            <a:ext cx="85121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3.24  </a:t>
            </a:r>
            <a:r>
              <a:rPr b="1" i="1" lang="en-US" sz="2000" u="none" cap="none" strike="noStrike">
                <a:solidFill>
                  <a:schemeClr val="dk1"/>
                </a:solidFill>
                <a:latin typeface="Times New Roman"/>
                <a:ea typeface="Times New Roman"/>
                <a:cs typeface="Times New Roman"/>
                <a:sym typeface="Times New Roman"/>
              </a:rPr>
              <a:t>Representation of the key as a matrix in the transposition cipher</a:t>
            </a:r>
            <a:endParaRPr b="0" i="0" sz="1400" u="none" cap="none" strike="noStrike">
              <a:solidFill>
                <a:srgbClr val="000000"/>
              </a:solidFill>
              <a:latin typeface="Arial"/>
              <a:ea typeface="Arial"/>
              <a:cs typeface="Arial"/>
              <a:sym typeface="Arial"/>
            </a:endParaRPr>
          </a:p>
        </p:txBody>
      </p:sp>
      <p:pic>
        <p:nvPicPr>
          <p:cNvPr id="1210" name="Google Shape;1210;p68"/>
          <p:cNvPicPr preferRelativeResize="0"/>
          <p:nvPr/>
        </p:nvPicPr>
        <p:blipFill rotWithShape="1">
          <a:blip r:embed="rId3">
            <a:alphaModFix/>
          </a:blip>
          <a:srcRect b="0" l="0" r="0" t="0"/>
          <a:stretch/>
        </p:blipFill>
        <p:spPr>
          <a:xfrm>
            <a:off x="798512" y="3514725"/>
            <a:ext cx="7659687" cy="2962275"/>
          </a:xfrm>
          <a:prstGeom prst="rect">
            <a:avLst/>
          </a:prstGeom>
          <a:noFill/>
          <a:ln>
            <a:noFill/>
          </a:ln>
        </p:spPr>
      </p:pic>
      <p:sp>
        <p:nvSpPr>
          <p:cNvPr id="1211" name="Google Shape;1211;p6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2" name="Google Shape;1212;p6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3" name="Google Shape;1213;p6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4" name="Google Shape;1214;p6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5" name="Google Shape;1215;p6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6" name="Google Shape;1216;p6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7" name="Google Shape;1217;p6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8" name="Google Shape;1218;p68"/>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3.3.3</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219" name="Google Shape;1219;p68"/>
          <p:cNvSpPr txBox="1"/>
          <p:nvPr/>
        </p:nvSpPr>
        <p:spPr>
          <a:xfrm>
            <a:off x="152400" y="11430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Figure 3.24 shows the encryption process. Multiplying the 4 × 5 plaintext matrix by the 5 × 5 encryption key gives the 4 × 5 ciphertext matrix. </a:t>
            </a:r>
            <a:endParaRPr b="0" i="0" sz="1400" u="none" cap="none" strike="noStrike">
              <a:solidFill>
                <a:srgbClr val="000000"/>
              </a:solidFill>
              <a:latin typeface="Arial"/>
              <a:ea typeface="Arial"/>
              <a:cs typeface="Arial"/>
              <a:sym typeface="Arial"/>
            </a:endParaRPr>
          </a:p>
        </p:txBody>
      </p:sp>
      <p:sp>
        <p:nvSpPr>
          <p:cNvPr id="1220" name="Google Shape;1220;p68"/>
          <p:cNvSpPr txBox="1"/>
          <p:nvPr/>
        </p:nvSpPr>
        <p:spPr>
          <a:xfrm>
            <a:off x="1143000" y="533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3.27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6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27" name="Google Shape;1227;p6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28" name="Google Shape;1228;p6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29" name="Google Shape;1229;p6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0" name="Google Shape;1230;p6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1" name="Google Shape;1231;p6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2" name="Google Shape;1232;p6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3" name="Google Shape;1233;p6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4" name="Google Shape;1234;p69"/>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3.3.3</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235" name="Google Shape;1235;p69"/>
          <p:cNvSpPr txBox="1"/>
          <p:nvPr/>
        </p:nvSpPr>
        <p:spPr>
          <a:xfrm>
            <a:off x="1143000" y="533400"/>
            <a:ext cx="4114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Double Transposition Ciphers</a:t>
            </a:r>
            <a:endParaRPr b="0" i="0" sz="1400" u="none" cap="none" strike="noStrike">
              <a:solidFill>
                <a:srgbClr val="000000"/>
              </a:solidFill>
              <a:latin typeface="Arial"/>
              <a:ea typeface="Arial"/>
              <a:cs typeface="Arial"/>
              <a:sym typeface="Arial"/>
            </a:endParaRPr>
          </a:p>
        </p:txBody>
      </p:sp>
      <p:sp>
        <p:nvSpPr>
          <p:cNvPr id="1236" name="Google Shape;1236;p69"/>
          <p:cNvSpPr txBox="1"/>
          <p:nvPr/>
        </p:nvSpPr>
        <p:spPr>
          <a:xfrm>
            <a:off x="152400" y="4832350"/>
            <a:ext cx="88392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7" name="Google Shape;1237;p69"/>
          <p:cNvSpPr txBox="1"/>
          <p:nvPr/>
        </p:nvSpPr>
        <p:spPr>
          <a:xfrm>
            <a:off x="1614487" y="990600"/>
            <a:ext cx="54721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3.25   </a:t>
            </a:r>
            <a:r>
              <a:rPr b="0" i="1" lang="en-US" sz="2400" u="none" cap="none" strike="noStrike">
                <a:solidFill>
                  <a:schemeClr val="dk1"/>
                </a:solidFill>
                <a:latin typeface="Times New Roman"/>
                <a:ea typeface="Times New Roman"/>
                <a:cs typeface="Times New Roman"/>
                <a:sym typeface="Times New Roman"/>
              </a:rPr>
              <a:t>Double transposition cipher</a:t>
            </a:r>
            <a:r>
              <a:rPr b="1" i="0" lang="en-US" sz="2400" u="none" cap="none" strike="noStrike">
                <a:solidFill>
                  <a:schemeClr val="folHlink"/>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pic>
        <p:nvPicPr>
          <p:cNvPr id="1238" name="Google Shape;1238;p69"/>
          <p:cNvPicPr preferRelativeResize="0"/>
          <p:nvPr/>
        </p:nvPicPr>
        <p:blipFill rotWithShape="1">
          <a:blip r:embed="rId3">
            <a:alphaModFix/>
          </a:blip>
          <a:srcRect b="0" l="0" r="0" t="0"/>
          <a:stretch/>
        </p:blipFill>
        <p:spPr>
          <a:xfrm>
            <a:off x="573087" y="1571625"/>
            <a:ext cx="8189912" cy="49053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7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45" name="Google Shape;1245;p70"/>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46" name="Google Shape;1246;p70"/>
          <p:cNvSpPr txBox="1"/>
          <p:nvPr/>
        </p:nvSpPr>
        <p:spPr>
          <a:xfrm>
            <a:off x="228600" y="76200"/>
            <a:ext cx="72310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3-4   STREAM AND BLOCK CIPHERS</a:t>
            </a:r>
            <a:endParaRPr b="0" i="0" sz="1400" u="none" cap="none" strike="noStrike">
              <a:solidFill>
                <a:srgbClr val="000000"/>
              </a:solidFill>
              <a:latin typeface="Arial"/>
              <a:ea typeface="Arial"/>
              <a:cs typeface="Arial"/>
              <a:sym typeface="Arial"/>
            </a:endParaRPr>
          </a:p>
        </p:txBody>
      </p:sp>
      <p:sp>
        <p:nvSpPr>
          <p:cNvPr id="1247" name="Google Shape;1247;p70"/>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48" name="Google Shape;1248;p70"/>
          <p:cNvSpPr txBox="1"/>
          <p:nvPr/>
        </p:nvSpPr>
        <p:spPr>
          <a:xfrm>
            <a:off x="76200" y="990600"/>
            <a:ext cx="8610600" cy="222726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literature divides the symmetric ciphers into two broad categories: stream ciphers and block ciphers. Although the definitions are normally applied to modern ciphers, this categorization also applies to traditional ciphers.</a:t>
            </a:r>
            <a:endParaRPr b="0" i="0" sz="1400" u="none" cap="none" strike="noStrike">
              <a:solidFill>
                <a:srgbClr val="000000"/>
              </a:solidFill>
              <a:latin typeface="Arial"/>
              <a:ea typeface="Arial"/>
              <a:cs typeface="Arial"/>
              <a:sym typeface="Arial"/>
            </a:endParaRPr>
          </a:p>
        </p:txBody>
      </p:sp>
      <p:sp>
        <p:nvSpPr>
          <p:cNvPr id="1249" name="Google Shape;1249;p70"/>
          <p:cNvSpPr txBox="1"/>
          <p:nvPr/>
        </p:nvSpPr>
        <p:spPr>
          <a:xfrm>
            <a:off x="152400" y="4819650"/>
            <a:ext cx="57150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Times New Roman"/>
              <a:buNone/>
            </a:pPr>
            <a:r>
              <a:rPr b="1" i="0" lang="en-US" sz="2400" u="none" cap="none" strike="noStrike">
                <a:solidFill>
                  <a:schemeClr val="hlink"/>
                </a:solidFill>
                <a:latin typeface="Times New Roman"/>
                <a:ea typeface="Times New Roman"/>
                <a:cs typeface="Times New Roman"/>
                <a:sym typeface="Times New Roman"/>
              </a:rPr>
              <a:t>3.4.1</a:t>
            </a:r>
            <a:r>
              <a:rPr b="1" i="0" lang="en-US" sz="2400" u="none" cap="none" strike="noStrike">
                <a:solidFill>
                  <a:srgbClr val="0033CC"/>
                </a:solidFill>
                <a:latin typeface="Times New Roman"/>
                <a:ea typeface="Times New Roman"/>
                <a:cs typeface="Times New Roman"/>
                <a:sym typeface="Times New Roman"/>
              </a:rPr>
              <a:t>	Stream Ciphers</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chemeClr val="hlink"/>
                </a:solidFill>
                <a:latin typeface="Times New Roman"/>
                <a:ea typeface="Times New Roman"/>
                <a:cs typeface="Times New Roman"/>
                <a:sym typeface="Times New Roman"/>
              </a:rPr>
              <a:t>3.4.2</a:t>
            </a:r>
            <a:r>
              <a:rPr b="1" i="0" lang="en-US" sz="2400" u="none" cap="none" strike="noStrike">
                <a:solidFill>
                  <a:srgbClr val="0033CC"/>
                </a:solidFill>
                <a:latin typeface="Times New Roman"/>
                <a:ea typeface="Times New Roman"/>
                <a:cs typeface="Times New Roman"/>
                <a:sym typeface="Times New Roman"/>
              </a:rPr>
              <a:t>	Block Ciphers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2400"/>
              <a:buFont typeface="Times New Roman"/>
              <a:buNone/>
            </a:pPr>
            <a:r>
              <a:rPr b="1" i="0" lang="en-US" sz="2400" u="none" cap="none" strike="noStrike">
                <a:solidFill>
                  <a:schemeClr val="hlink"/>
                </a:solidFill>
                <a:latin typeface="Times New Roman"/>
                <a:ea typeface="Times New Roman"/>
                <a:cs typeface="Times New Roman"/>
                <a:sym typeface="Times New Roman"/>
              </a:rPr>
              <a:t>3.4.3</a:t>
            </a:r>
            <a:r>
              <a:rPr b="1" i="0" lang="en-US" sz="2400" u="none" cap="none" strike="noStrike">
                <a:solidFill>
                  <a:srgbClr val="0033CC"/>
                </a:solidFill>
                <a:latin typeface="Times New Roman"/>
                <a:ea typeface="Times New Roman"/>
                <a:cs typeface="Times New Roman"/>
                <a:sym typeface="Times New Roman"/>
              </a:rPr>
              <a:t>	Combination</a:t>
            </a:r>
            <a:endParaRPr b="0" i="0" sz="1400" u="none" cap="none" strike="noStrike">
              <a:solidFill>
                <a:srgbClr val="000000"/>
              </a:solidFill>
              <a:latin typeface="Arial"/>
              <a:ea typeface="Arial"/>
              <a:cs typeface="Arial"/>
              <a:sym typeface="Arial"/>
            </a:endParaRPr>
          </a:p>
        </p:txBody>
      </p:sp>
      <p:sp>
        <p:nvSpPr>
          <p:cNvPr id="1250" name="Google Shape;1250;p70"/>
          <p:cNvSpPr txBox="1"/>
          <p:nvPr/>
        </p:nvSpPr>
        <p:spPr>
          <a:xfrm>
            <a:off x="165100" y="43434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7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57" name="Google Shape;1257;p7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58" name="Google Shape;1258;p7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59" name="Google Shape;1259;p7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60" name="Google Shape;1260;p7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61" name="Google Shape;1261;p7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62" name="Google Shape;1262;p7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63" name="Google Shape;1263;p7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64" name="Google Shape;1264;p71"/>
          <p:cNvSpPr txBox="1"/>
          <p:nvPr/>
        </p:nvSpPr>
        <p:spPr>
          <a:xfrm>
            <a:off x="1143000" y="0"/>
            <a:ext cx="3810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3.4.1</a:t>
            </a:r>
            <a:r>
              <a:rPr b="1" i="1" lang="en-US" sz="3200" u="none" cap="none" strike="noStrike">
                <a:solidFill>
                  <a:schemeClr val="hlink"/>
                </a:solidFill>
                <a:latin typeface="Times New Roman"/>
                <a:ea typeface="Times New Roman"/>
                <a:cs typeface="Times New Roman"/>
                <a:sym typeface="Times New Roman"/>
              </a:rPr>
              <a:t>  Stream Ciphers</a:t>
            </a:r>
            <a:endParaRPr b="0" i="0" sz="1400" u="none" cap="none" strike="noStrike">
              <a:solidFill>
                <a:srgbClr val="000000"/>
              </a:solidFill>
              <a:latin typeface="Arial"/>
              <a:ea typeface="Arial"/>
              <a:cs typeface="Arial"/>
              <a:sym typeface="Arial"/>
            </a:endParaRPr>
          </a:p>
        </p:txBody>
      </p:sp>
      <p:sp>
        <p:nvSpPr>
          <p:cNvPr id="1265" name="Google Shape;1265;p71"/>
          <p:cNvSpPr txBox="1"/>
          <p:nvPr/>
        </p:nvSpPr>
        <p:spPr>
          <a:xfrm>
            <a:off x="152400" y="1066800"/>
            <a:ext cx="8839200" cy="9461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Call the plaintext stream P, the ciphertext stream C, and the key stream K.</a:t>
            </a:r>
            <a:endParaRPr b="0" i="0" sz="1400" u="none" cap="none" strike="noStrike">
              <a:solidFill>
                <a:srgbClr val="000000"/>
              </a:solidFill>
              <a:latin typeface="Arial"/>
              <a:ea typeface="Arial"/>
              <a:cs typeface="Arial"/>
              <a:sym typeface="Arial"/>
            </a:endParaRPr>
          </a:p>
        </p:txBody>
      </p:sp>
      <p:pic>
        <p:nvPicPr>
          <p:cNvPr id="1266" name="Google Shape;1266;p71"/>
          <p:cNvPicPr preferRelativeResize="0"/>
          <p:nvPr/>
        </p:nvPicPr>
        <p:blipFill rotWithShape="1">
          <a:blip r:embed="rId3">
            <a:alphaModFix/>
          </a:blip>
          <a:srcRect b="0" l="0" r="0" t="0"/>
          <a:stretch/>
        </p:blipFill>
        <p:spPr>
          <a:xfrm>
            <a:off x="914400" y="2135187"/>
            <a:ext cx="7175500" cy="912812"/>
          </a:xfrm>
          <a:prstGeom prst="rect">
            <a:avLst/>
          </a:prstGeom>
          <a:noFill/>
          <a:ln>
            <a:noFill/>
          </a:ln>
        </p:spPr>
      </p:pic>
      <p:pic>
        <p:nvPicPr>
          <p:cNvPr id="1267" name="Google Shape;1267;p71"/>
          <p:cNvPicPr preferRelativeResize="0"/>
          <p:nvPr/>
        </p:nvPicPr>
        <p:blipFill rotWithShape="1">
          <a:blip r:embed="rId4">
            <a:alphaModFix/>
          </a:blip>
          <a:srcRect b="0" l="0" r="0" t="0"/>
          <a:stretch/>
        </p:blipFill>
        <p:spPr>
          <a:xfrm>
            <a:off x="1403350" y="4294187"/>
            <a:ext cx="5988050" cy="2411412"/>
          </a:xfrm>
          <a:prstGeom prst="rect">
            <a:avLst/>
          </a:prstGeom>
          <a:noFill/>
          <a:ln>
            <a:noFill/>
          </a:ln>
        </p:spPr>
      </p:pic>
      <p:sp>
        <p:nvSpPr>
          <p:cNvPr id="1268" name="Google Shape;1268;p71"/>
          <p:cNvSpPr txBox="1"/>
          <p:nvPr/>
        </p:nvSpPr>
        <p:spPr>
          <a:xfrm>
            <a:off x="2819400" y="3657600"/>
            <a:ext cx="32797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3.26  </a:t>
            </a:r>
            <a:r>
              <a:rPr b="1" i="1" lang="en-US" sz="2000" u="none" cap="none" strike="noStrike">
                <a:solidFill>
                  <a:schemeClr val="dk1"/>
                </a:solidFill>
                <a:latin typeface="Times New Roman"/>
                <a:ea typeface="Times New Roman"/>
                <a:cs typeface="Times New Roman"/>
                <a:sym typeface="Times New Roman"/>
              </a:rPr>
              <a:t>Stream cipher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7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75" name="Google Shape;1275;p7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76" name="Google Shape;1276;p7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77" name="Google Shape;1277;p7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78" name="Google Shape;1278;p7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79" name="Google Shape;1279;p7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80" name="Google Shape;1280;p7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81" name="Google Shape;1281;p7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82" name="Google Shape;1282;p72"/>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3.4.1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283" name="Google Shape;1283;p72"/>
          <p:cNvSpPr txBox="1"/>
          <p:nvPr/>
        </p:nvSpPr>
        <p:spPr>
          <a:xfrm>
            <a:off x="152400" y="1527175"/>
            <a:ext cx="8839200" cy="22828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Additive ciphers can be categorized as stream ciphers in which the key stream is the repeated value of the key. In other words, the key stream is considered as a predetermined stream of keys or </a:t>
            </a:r>
            <a:br>
              <a:rPr b="1" i="0" lang="en-US" sz="2400" u="none" cap="none" strike="noStrike">
                <a:solidFill>
                  <a:schemeClr val="dk1"/>
                </a:solidFill>
                <a:latin typeface="Times New Roman"/>
                <a:ea typeface="Times New Roman"/>
                <a:cs typeface="Times New Roman"/>
                <a:sym typeface="Times New Roman"/>
              </a:rPr>
            </a:br>
            <a:r>
              <a:rPr b="1" i="0" lang="en-US" sz="2400" u="none" cap="none" strike="noStrike">
                <a:solidFill>
                  <a:schemeClr val="dk1"/>
                </a:solidFill>
                <a:latin typeface="Times New Roman"/>
                <a:ea typeface="Times New Roman"/>
                <a:cs typeface="Times New Roman"/>
                <a:sym typeface="Times New Roman"/>
              </a:rPr>
              <a:t>K = (k, k, …, k). In this cipher, however, each character in the ciphertext depends only on the corresponding character in the plaintext, because the key stream is generated independently.</a:t>
            </a:r>
            <a:endParaRPr b="0" i="0" sz="1400" u="none" cap="none" strike="noStrike">
              <a:solidFill>
                <a:srgbClr val="000000"/>
              </a:solidFill>
              <a:latin typeface="Arial"/>
              <a:ea typeface="Arial"/>
              <a:cs typeface="Arial"/>
              <a:sym typeface="Arial"/>
            </a:endParaRPr>
          </a:p>
        </p:txBody>
      </p:sp>
      <p:sp>
        <p:nvSpPr>
          <p:cNvPr id="1284" name="Google Shape;1284;p72"/>
          <p:cNvSpPr txBox="1"/>
          <p:nvPr/>
        </p:nvSpPr>
        <p:spPr>
          <a:xfrm>
            <a:off x="152400" y="9906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3.30</a:t>
            </a:r>
            <a:endParaRPr b="0" i="0" sz="1400" u="none" cap="none" strike="noStrike">
              <a:solidFill>
                <a:srgbClr val="000000"/>
              </a:solidFill>
              <a:latin typeface="Arial"/>
              <a:ea typeface="Arial"/>
              <a:cs typeface="Arial"/>
              <a:sym typeface="Arial"/>
            </a:endParaRPr>
          </a:p>
        </p:txBody>
      </p:sp>
      <p:sp>
        <p:nvSpPr>
          <p:cNvPr id="1285" name="Google Shape;1285;p72"/>
          <p:cNvSpPr txBox="1"/>
          <p:nvPr/>
        </p:nvSpPr>
        <p:spPr>
          <a:xfrm>
            <a:off x="228600" y="4559300"/>
            <a:ext cx="8839200" cy="15525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The monoalphabetic substitution ciphers discussed in this chapter are also stream ciphers. However, each value of the key stream in this case is the mapping of the current plaintext character to the corresponding ciphertext character in the mapping table.</a:t>
            </a:r>
            <a:endParaRPr b="0" i="0" sz="1400" u="none" cap="none" strike="noStrike">
              <a:solidFill>
                <a:srgbClr val="000000"/>
              </a:solidFill>
              <a:latin typeface="Arial"/>
              <a:ea typeface="Arial"/>
              <a:cs typeface="Arial"/>
              <a:sym typeface="Arial"/>
            </a:endParaRPr>
          </a:p>
        </p:txBody>
      </p:sp>
      <p:sp>
        <p:nvSpPr>
          <p:cNvPr id="1286" name="Google Shape;1286;p72"/>
          <p:cNvSpPr txBox="1"/>
          <p:nvPr/>
        </p:nvSpPr>
        <p:spPr>
          <a:xfrm>
            <a:off x="228600" y="41148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3.31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7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93" name="Google Shape;1293;p7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94" name="Google Shape;1294;p7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95" name="Google Shape;1295;p7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96" name="Google Shape;1296;p7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97" name="Google Shape;1297;p7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98" name="Google Shape;1298;p7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99" name="Google Shape;1299;p7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00" name="Google Shape;1300;p73"/>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3.4.1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301" name="Google Shape;1301;p73"/>
          <p:cNvSpPr txBox="1"/>
          <p:nvPr/>
        </p:nvSpPr>
        <p:spPr>
          <a:xfrm>
            <a:off x="152400" y="1447800"/>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Vigenere ciphers are also stream ciphers according to the definition. In this case, the key stream is a repetition of m values, where </a:t>
            </a:r>
            <a:r>
              <a:rPr b="1" i="1" lang="en-US" sz="2400" u="none" cap="none" strike="noStrike">
                <a:solidFill>
                  <a:schemeClr val="dk1"/>
                </a:solidFill>
                <a:latin typeface="Times New Roman"/>
                <a:ea typeface="Times New Roman"/>
                <a:cs typeface="Times New Roman"/>
                <a:sym typeface="Times New Roman"/>
              </a:rPr>
              <a:t>m</a:t>
            </a:r>
            <a:r>
              <a:rPr b="1" i="0" lang="en-US" sz="2400" u="none" cap="none" strike="noStrike">
                <a:solidFill>
                  <a:schemeClr val="dk1"/>
                </a:solidFill>
                <a:latin typeface="Times New Roman"/>
                <a:ea typeface="Times New Roman"/>
                <a:cs typeface="Times New Roman"/>
                <a:sym typeface="Times New Roman"/>
              </a:rPr>
              <a:t> is the size of the keyword. In other words,</a:t>
            </a:r>
            <a:endParaRPr b="0" i="0" sz="1400" u="none" cap="none" strike="noStrike">
              <a:solidFill>
                <a:srgbClr val="000000"/>
              </a:solidFill>
              <a:latin typeface="Arial"/>
              <a:ea typeface="Arial"/>
              <a:cs typeface="Arial"/>
              <a:sym typeface="Arial"/>
            </a:endParaRPr>
          </a:p>
        </p:txBody>
      </p:sp>
      <p:sp>
        <p:nvSpPr>
          <p:cNvPr id="1302" name="Google Shape;1302;p73"/>
          <p:cNvSpPr txBox="1"/>
          <p:nvPr/>
        </p:nvSpPr>
        <p:spPr>
          <a:xfrm>
            <a:off x="152400" y="9906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3.32</a:t>
            </a:r>
            <a:endParaRPr b="0" i="0" sz="1400" u="none" cap="none" strike="noStrike">
              <a:solidFill>
                <a:srgbClr val="000000"/>
              </a:solidFill>
              <a:latin typeface="Arial"/>
              <a:ea typeface="Arial"/>
              <a:cs typeface="Arial"/>
              <a:sym typeface="Arial"/>
            </a:endParaRPr>
          </a:p>
        </p:txBody>
      </p:sp>
      <p:sp>
        <p:nvSpPr>
          <p:cNvPr id="1303" name="Google Shape;1303;p73"/>
          <p:cNvSpPr txBox="1"/>
          <p:nvPr/>
        </p:nvSpPr>
        <p:spPr>
          <a:xfrm>
            <a:off x="228600" y="4376737"/>
            <a:ext cx="8839200" cy="19177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We can establish a criterion to divide stream ciphers based on their key streams. We can say that a stream cipher is a monoalphabetic cipher if the value of </a:t>
            </a:r>
            <a:r>
              <a:rPr b="1" i="1" lang="en-US" sz="2400" u="none" cap="none" strike="noStrike">
                <a:solidFill>
                  <a:schemeClr val="dk1"/>
                </a:solidFill>
                <a:latin typeface="Times New Roman"/>
                <a:ea typeface="Times New Roman"/>
                <a:cs typeface="Times New Roman"/>
                <a:sym typeface="Times New Roman"/>
              </a:rPr>
              <a:t>k</a:t>
            </a:r>
            <a:r>
              <a:rPr b="1" baseline="-25000" i="0" lang="en-US" sz="2400" u="none" cap="none" strike="noStrike">
                <a:solidFill>
                  <a:schemeClr val="dk1"/>
                </a:solidFill>
                <a:latin typeface="Times New Roman"/>
                <a:ea typeface="Times New Roman"/>
                <a:cs typeface="Times New Roman"/>
                <a:sym typeface="Times New Roman"/>
              </a:rPr>
              <a:t>i</a:t>
            </a:r>
            <a:r>
              <a:rPr b="1" i="0" lang="en-US" sz="2400" u="none" cap="none" strike="noStrike">
                <a:solidFill>
                  <a:schemeClr val="dk1"/>
                </a:solidFill>
                <a:latin typeface="Times New Roman"/>
                <a:ea typeface="Times New Roman"/>
                <a:cs typeface="Times New Roman"/>
                <a:sym typeface="Times New Roman"/>
              </a:rPr>
              <a:t> does not depend on the position of the plaintext character in the plaintext stream; otherwise, the cipher is polyalphabetic.</a:t>
            </a:r>
            <a:endParaRPr b="0" i="0" sz="1400" u="none" cap="none" strike="noStrike">
              <a:solidFill>
                <a:srgbClr val="000000"/>
              </a:solidFill>
              <a:latin typeface="Arial"/>
              <a:ea typeface="Arial"/>
              <a:cs typeface="Arial"/>
              <a:sym typeface="Arial"/>
            </a:endParaRPr>
          </a:p>
        </p:txBody>
      </p:sp>
      <p:sp>
        <p:nvSpPr>
          <p:cNvPr id="1304" name="Google Shape;1304;p73"/>
          <p:cNvSpPr txBox="1"/>
          <p:nvPr/>
        </p:nvSpPr>
        <p:spPr>
          <a:xfrm>
            <a:off x="228600" y="3962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3.33</a:t>
            </a:r>
            <a:endParaRPr b="0" i="0" sz="1400" u="none" cap="none" strike="noStrike">
              <a:solidFill>
                <a:srgbClr val="000000"/>
              </a:solidFill>
              <a:latin typeface="Arial"/>
              <a:ea typeface="Arial"/>
              <a:cs typeface="Arial"/>
              <a:sym typeface="Arial"/>
            </a:endParaRPr>
          </a:p>
        </p:txBody>
      </p:sp>
      <p:pic>
        <p:nvPicPr>
          <p:cNvPr id="1305" name="Google Shape;1305;p73"/>
          <p:cNvPicPr preferRelativeResize="0"/>
          <p:nvPr/>
        </p:nvPicPr>
        <p:blipFill rotWithShape="1">
          <a:blip r:embed="rId3">
            <a:alphaModFix/>
          </a:blip>
          <a:srcRect b="0" l="0" r="0" t="0"/>
          <a:stretch/>
        </p:blipFill>
        <p:spPr>
          <a:xfrm>
            <a:off x="2055812" y="2743200"/>
            <a:ext cx="5030787" cy="51276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7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12" name="Google Shape;1312;p7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3" name="Google Shape;1313;p7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4" name="Google Shape;1314;p7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5" name="Google Shape;1315;p7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6" name="Google Shape;1316;p7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7" name="Google Shape;1317;p7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8" name="Google Shape;1318;p7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9" name="Google Shape;1319;p74"/>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1" lang="en-US" sz="3200" u="none" cap="none" strike="noStrike">
                <a:solidFill>
                  <a:schemeClr val="dk1"/>
                </a:solidFill>
                <a:latin typeface="Times New Roman"/>
                <a:ea typeface="Times New Roman"/>
                <a:cs typeface="Times New Roman"/>
                <a:sym typeface="Times New Roman"/>
              </a:rPr>
              <a:t>3.4.1</a:t>
            </a:r>
            <a:r>
              <a:rPr b="1" i="1" lang="en-US" sz="3200" u="none" cap="none" strike="noStrike">
                <a:solidFill>
                  <a:schemeClr val="hlink"/>
                </a:solidFill>
                <a:latin typeface="Times New Roman"/>
                <a:ea typeface="Times New Roman"/>
                <a:cs typeface="Times New Roman"/>
                <a:sym typeface="Times New Roman"/>
              </a:rPr>
              <a:t>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320" name="Google Shape;1320;p74"/>
          <p:cNvSpPr txBox="1"/>
          <p:nvPr/>
        </p:nvSpPr>
        <p:spPr>
          <a:xfrm>
            <a:off x="152400" y="1409700"/>
            <a:ext cx="8839200" cy="48387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 Additive ciphers are definitely monoalphabetic because </a:t>
            </a:r>
            <a:r>
              <a:rPr b="1" i="0" lang="en-US" sz="2400" u="none" cap="none" strike="noStrike">
                <a:solidFill>
                  <a:schemeClr val="hlink"/>
                </a:solidFill>
                <a:latin typeface="Times New Roman"/>
                <a:ea typeface="Times New Roman"/>
                <a:cs typeface="Times New Roman"/>
                <a:sym typeface="Times New Roman"/>
              </a:rPr>
              <a:t>k</a:t>
            </a:r>
            <a:r>
              <a:rPr b="1" baseline="-25000" i="0" lang="en-US" sz="2400" u="none" cap="none" strike="noStrike">
                <a:solidFill>
                  <a:schemeClr val="hlink"/>
                </a:solidFill>
                <a:latin typeface="Times New Roman"/>
                <a:ea typeface="Times New Roman"/>
                <a:cs typeface="Times New Roman"/>
                <a:sym typeface="Times New Roman"/>
              </a:rPr>
              <a:t>i</a:t>
            </a:r>
            <a:r>
              <a:rPr b="1" i="0" lang="en-US" sz="2400" u="none" cap="none" strike="noStrike">
                <a:solidFill>
                  <a:schemeClr val="dk1"/>
                </a:solidFill>
                <a:latin typeface="Times New Roman"/>
                <a:ea typeface="Times New Roman"/>
                <a:cs typeface="Times New Roman"/>
                <a:sym typeface="Times New Roman"/>
              </a:rPr>
              <a:t> in the key stream is fixed; it does not depend on the position of the character in the plaintext.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 Monoalphabetic substitution ciphers are monoalphabetic because </a:t>
            </a:r>
            <a:r>
              <a:rPr b="1" i="1" lang="en-US" sz="2400" u="none" cap="none" strike="noStrike">
                <a:solidFill>
                  <a:schemeClr val="hlink"/>
                </a:solidFill>
                <a:latin typeface="Times New Roman"/>
                <a:ea typeface="Times New Roman"/>
                <a:cs typeface="Times New Roman"/>
                <a:sym typeface="Times New Roman"/>
              </a:rPr>
              <a:t>k</a:t>
            </a:r>
            <a:r>
              <a:rPr b="1" baseline="-25000" i="0" lang="en-US" sz="2400" u="none" cap="none" strike="noStrike">
                <a:solidFill>
                  <a:schemeClr val="hlink"/>
                </a:solidFill>
                <a:latin typeface="Times New Roman"/>
                <a:ea typeface="Times New Roman"/>
                <a:cs typeface="Times New Roman"/>
                <a:sym typeface="Times New Roman"/>
              </a:rPr>
              <a:t>i</a:t>
            </a:r>
            <a:r>
              <a:rPr b="1" i="0" lang="en-US" sz="2400" u="none" cap="none" strike="noStrike">
                <a:solidFill>
                  <a:schemeClr val="dk1"/>
                </a:solidFill>
                <a:latin typeface="Times New Roman"/>
                <a:ea typeface="Times New Roman"/>
                <a:cs typeface="Times New Roman"/>
                <a:sym typeface="Times New Roman"/>
              </a:rPr>
              <a:t> does not depend on the position of the corresponding character in the plaintext stream; it depends only on the value of the plaintext character.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 Vigenere ciphers are polyalphabetic ciphers because </a:t>
            </a:r>
            <a:r>
              <a:rPr b="1" i="0" lang="en-US" sz="2400" u="none" cap="none" strike="noStrike">
                <a:solidFill>
                  <a:schemeClr val="hlink"/>
                </a:solidFill>
                <a:latin typeface="Times New Roman"/>
                <a:ea typeface="Times New Roman"/>
                <a:cs typeface="Times New Roman"/>
                <a:sym typeface="Times New Roman"/>
              </a:rPr>
              <a:t>k</a:t>
            </a:r>
            <a:r>
              <a:rPr b="1" baseline="-25000" i="0" lang="en-US" sz="2400" u="none" cap="none" strike="noStrike">
                <a:solidFill>
                  <a:schemeClr val="hlink"/>
                </a:solidFill>
                <a:latin typeface="Times New Roman"/>
                <a:ea typeface="Times New Roman"/>
                <a:cs typeface="Times New Roman"/>
                <a:sym typeface="Times New Roman"/>
              </a:rPr>
              <a:t>i</a:t>
            </a:r>
            <a:r>
              <a:rPr b="1" i="0" lang="en-US" sz="2400" u="none" cap="none" strike="noStrike">
                <a:solidFill>
                  <a:schemeClr val="dk1"/>
                </a:solidFill>
                <a:latin typeface="Times New Roman"/>
                <a:ea typeface="Times New Roman"/>
                <a:cs typeface="Times New Roman"/>
                <a:sym typeface="Times New Roman"/>
              </a:rPr>
              <a:t> definitely depends on the position of the plaintext character. However, the dependency is cyclic. The key is the same for two characters </a:t>
            </a:r>
            <a:r>
              <a:rPr b="1" i="1" lang="en-US" sz="2400" u="none" cap="none" strike="noStrike">
                <a:solidFill>
                  <a:schemeClr val="dk1"/>
                </a:solidFill>
                <a:latin typeface="Times New Roman"/>
                <a:ea typeface="Times New Roman"/>
                <a:cs typeface="Times New Roman"/>
                <a:sym typeface="Times New Roman"/>
              </a:rPr>
              <a:t>m</a:t>
            </a:r>
            <a:r>
              <a:rPr b="1" i="0" lang="en-US" sz="2400" u="none" cap="none" strike="noStrike">
                <a:solidFill>
                  <a:schemeClr val="dk1"/>
                </a:solidFill>
                <a:latin typeface="Times New Roman"/>
                <a:ea typeface="Times New Roman"/>
                <a:cs typeface="Times New Roman"/>
                <a:sym typeface="Times New Roman"/>
              </a:rPr>
              <a:t> positions apart.</a:t>
            </a:r>
            <a:endParaRPr b="0" i="0" sz="1400" u="none" cap="none" strike="noStrike">
              <a:solidFill>
                <a:srgbClr val="000000"/>
              </a:solidFill>
              <a:latin typeface="Arial"/>
              <a:ea typeface="Arial"/>
              <a:cs typeface="Arial"/>
              <a:sym typeface="Arial"/>
            </a:endParaRPr>
          </a:p>
        </p:txBody>
      </p:sp>
      <p:sp>
        <p:nvSpPr>
          <p:cNvPr id="1321" name="Google Shape;1321;p74"/>
          <p:cNvSpPr txBox="1"/>
          <p:nvPr/>
        </p:nvSpPr>
        <p:spPr>
          <a:xfrm>
            <a:off x="1179512" y="6096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3.33</a:t>
            </a:r>
            <a:endParaRPr b="0" i="0" sz="1400" u="none" cap="none" strike="noStrike">
              <a:solidFill>
                <a:srgbClr val="000000"/>
              </a:solidFill>
              <a:latin typeface="Arial"/>
              <a:ea typeface="Arial"/>
              <a:cs typeface="Arial"/>
              <a:sym typeface="Arial"/>
            </a:endParaRPr>
          </a:p>
        </p:txBody>
      </p:sp>
      <p:sp>
        <p:nvSpPr>
          <p:cNvPr id="1322" name="Google Shape;1322;p74"/>
          <p:cNvSpPr txBox="1"/>
          <p:nvPr/>
        </p:nvSpPr>
        <p:spPr>
          <a:xfrm>
            <a:off x="3200400" y="609600"/>
            <a:ext cx="17605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7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29" name="Google Shape;1329;p7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0" name="Google Shape;1330;p7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1" name="Google Shape;1331;p7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2" name="Google Shape;1332;p7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3" name="Google Shape;1333;p7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4" name="Google Shape;1334;p7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5" name="Google Shape;1335;p7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6" name="Google Shape;1336;p75"/>
          <p:cNvSpPr txBox="1"/>
          <p:nvPr/>
        </p:nvSpPr>
        <p:spPr>
          <a:xfrm>
            <a:off x="1143000" y="0"/>
            <a:ext cx="3810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3.4.2  Stream Ciphers</a:t>
            </a:r>
            <a:endParaRPr b="0" i="0" sz="1400" u="none" cap="none" strike="noStrike">
              <a:solidFill>
                <a:srgbClr val="000000"/>
              </a:solidFill>
              <a:latin typeface="Arial"/>
              <a:ea typeface="Arial"/>
              <a:cs typeface="Arial"/>
              <a:sym typeface="Arial"/>
            </a:endParaRPr>
          </a:p>
        </p:txBody>
      </p:sp>
      <p:sp>
        <p:nvSpPr>
          <p:cNvPr id="1337" name="Google Shape;1337;p75"/>
          <p:cNvSpPr txBox="1"/>
          <p:nvPr/>
        </p:nvSpPr>
        <p:spPr>
          <a:xfrm>
            <a:off x="152400" y="987425"/>
            <a:ext cx="8839200" cy="2654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In a block cipher, a group of plaintext symbols of size </a:t>
            </a:r>
            <a:r>
              <a:rPr b="1" i="1" lang="en-US" sz="2800" u="none" cap="none" strike="noStrike">
                <a:solidFill>
                  <a:schemeClr val="dk1"/>
                </a:solidFill>
                <a:latin typeface="Times New Roman"/>
                <a:ea typeface="Times New Roman"/>
                <a:cs typeface="Times New Roman"/>
                <a:sym typeface="Times New Roman"/>
              </a:rPr>
              <a:t>m</a:t>
            </a:r>
            <a:r>
              <a:rPr b="1" i="0" lang="en-US" sz="2800" u="none" cap="none" strike="noStrike">
                <a:solidFill>
                  <a:schemeClr val="dk1"/>
                </a:solidFill>
                <a:latin typeface="Times New Roman"/>
                <a:ea typeface="Times New Roman"/>
                <a:cs typeface="Times New Roman"/>
                <a:sym typeface="Times New Roman"/>
              </a:rPr>
              <a:t> (</a:t>
            </a:r>
            <a:r>
              <a:rPr b="1" i="1" lang="en-US" sz="2800" u="none" cap="none" strike="noStrike">
                <a:solidFill>
                  <a:schemeClr val="dk1"/>
                </a:solidFill>
                <a:latin typeface="Times New Roman"/>
                <a:ea typeface="Times New Roman"/>
                <a:cs typeface="Times New Roman"/>
                <a:sym typeface="Times New Roman"/>
              </a:rPr>
              <a:t>m</a:t>
            </a:r>
            <a:r>
              <a:rPr b="1" i="0" lang="en-US" sz="2800" u="none" cap="none" strike="noStrike">
                <a:solidFill>
                  <a:schemeClr val="dk1"/>
                </a:solidFill>
                <a:latin typeface="Times New Roman"/>
                <a:ea typeface="Times New Roman"/>
                <a:cs typeface="Times New Roman"/>
                <a:sym typeface="Times New Roman"/>
              </a:rPr>
              <a:t> &gt; 1) are encrypted together creating a group of ciphertext of the same size. A single key is used to encrypt the whole block even if the key is made of multiple values. Figure 3.27 shows the concept of a block cipher.</a:t>
            </a:r>
            <a:endParaRPr b="0" i="0" sz="1400" u="none" cap="none" strike="noStrike">
              <a:solidFill>
                <a:srgbClr val="000000"/>
              </a:solidFill>
              <a:latin typeface="Arial"/>
              <a:ea typeface="Arial"/>
              <a:cs typeface="Arial"/>
              <a:sym typeface="Arial"/>
            </a:endParaRPr>
          </a:p>
        </p:txBody>
      </p:sp>
      <p:pic>
        <p:nvPicPr>
          <p:cNvPr id="1338" name="Google Shape;1338;p75"/>
          <p:cNvPicPr preferRelativeResize="0"/>
          <p:nvPr/>
        </p:nvPicPr>
        <p:blipFill rotWithShape="1">
          <a:blip r:embed="rId3">
            <a:alphaModFix/>
          </a:blip>
          <a:srcRect b="0" l="0" r="0" t="0"/>
          <a:stretch/>
        </p:blipFill>
        <p:spPr>
          <a:xfrm>
            <a:off x="471487" y="4346575"/>
            <a:ext cx="7834312" cy="2282825"/>
          </a:xfrm>
          <a:prstGeom prst="rect">
            <a:avLst/>
          </a:prstGeom>
          <a:noFill/>
          <a:ln>
            <a:noFill/>
          </a:ln>
        </p:spPr>
      </p:pic>
      <p:sp>
        <p:nvSpPr>
          <p:cNvPr id="1339" name="Google Shape;1339;p75"/>
          <p:cNvSpPr txBox="1"/>
          <p:nvPr/>
        </p:nvSpPr>
        <p:spPr>
          <a:xfrm>
            <a:off x="2819400" y="3657600"/>
            <a:ext cx="31400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3.27  </a:t>
            </a:r>
            <a:r>
              <a:rPr b="1" i="1" lang="en-US" sz="2000" u="none" cap="none" strike="noStrike">
                <a:solidFill>
                  <a:schemeClr val="dk1"/>
                </a:solidFill>
                <a:latin typeface="Times New Roman"/>
                <a:ea typeface="Times New Roman"/>
                <a:cs typeface="Times New Roman"/>
                <a:sym typeface="Times New Roman"/>
              </a:rPr>
              <a:t>Block cipher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7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46" name="Google Shape;1346;p7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47" name="Google Shape;1347;p7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48" name="Google Shape;1348;p7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49" name="Google Shape;1349;p7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50" name="Google Shape;1350;p7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51" name="Google Shape;1351;p7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52" name="Google Shape;1352;p7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53" name="Google Shape;1353;p76"/>
          <p:cNvSpPr txBox="1"/>
          <p:nvPr/>
        </p:nvSpPr>
        <p:spPr>
          <a:xfrm>
            <a:off x="1143000" y="0"/>
            <a:ext cx="32654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3.4.2     </a:t>
            </a:r>
            <a:r>
              <a:rPr b="1" i="1" lang="en-US" sz="3200" u="none" cap="none" strike="noStrike">
                <a:solidFill>
                  <a:schemeClr val="dk1"/>
                </a:solidFill>
                <a:latin typeface="Times New Roman"/>
                <a:ea typeface="Times New Roman"/>
                <a:cs typeface="Times New Roman"/>
                <a:sym typeface="Times New Roman"/>
              </a:rPr>
              <a:t>Continued</a:t>
            </a:r>
            <a:endParaRPr b="0" i="0" sz="1400" u="none" cap="none" strike="noStrike">
              <a:solidFill>
                <a:srgbClr val="000000"/>
              </a:solidFill>
              <a:latin typeface="Arial"/>
              <a:ea typeface="Arial"/>
              <a:cs typeface="Arial"/>
              <a:sym typeface="Arial"/>
            </a:endParaRPr>
          </a:p>
        </p:txBody>
      </p:sp>
      <p:sp>
        <p:nvSpPr>
          <p:cNvPr id="1354" name="Google Shape;1354;p76"/>
          <p:cNvSpPr txBox="1"/>
          <p:nvPr/>
        </p:nvSpPr>
        <p:spPr>
          <a:xfrm>
            <a:off x="152400" y="1524000"/>
            <a:ext cx="8839200" cy="822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Playfair ciphers are block ciphers. The size of the block is </a:t>
            </a:r>
            <a:r>
              <a:rPr b="1" i="1" lang="en-US" sz="2400" u="none" cap="none" strike="noStrike">
                <a:solidFill>
                  <a:schemeClr val="dk1"/>
                </a:solidFill>
                <a:latin typeface="Times New Roman"/>
                <a:ea typeface="Times New Roman"/>
                <a:cs typeface="Times New Roman"/>
                <a:sym typeface="Times New Roman"/>
              </a:rPr>
              <a:t>m</a:t>
            </a:r>
            <a:r>
              <a:rPr b="1" i="0" lang="en-US" sz="2400" u="none" cap="none" strike="noStrike">
                <a:solidFill>
                  <a:schemeClr val="dk1"/>
                </a:solidFill>
                <a:latin typeface="Times New Roman"/>
                <a:ea typeface="Times New Roman"/>
                <a:cs typeface="Times New Roman"/>
                <a:sym typeface="Times New Roman"/>
              </a:rPr>
              <a:t> = 2. Two characters are encrypted together.</a:t>
            </a:r>
            <a:endParaRPr b="0" i="0" sz="1400" u="none" cap="none" strike="noStrike">
              <a:solidFill>
                <a:srgbClr val="000000"/>
              </a:solidFill>
              <a:latin typeface="Arial"/>
              <a:ea typeface="Arial"/>
              <a:cs typeface="Arial"/>
              <a:sym typeface="Arial"/>
            </a:endParaRPr>
          </a:p>
        </p:txBody>
      </p:sp>
      <p:sp>
        <p:nvSpPr>
          <p:cNvPr id="1355" name="Google Shape;1355;p76"/>
          <p:cNvSpPr txBox="1"/>
          <p:nvPr/>
        </p:nvSpPr>
        <p:spPr>
          <a:xfrm>
            <a:off x="152400" y="9906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3.34</a:t>
            </a:r>
            <a:endParaRPr b="0" i="0" sz="1400" u="none" cap="none" strike="noStrike">
              <a:solidFill>
                <a:srgbClr val="000000"/>
              </a:solidFill>
              <a:latin typeface="Arial"/>
              <a:ea typeface="Arial"/>
              <a:cs typeface="Arial"/>
              <a:sym typeface="Arial"/>
            </a:endParaRPr>
          </a:p>
        </p:txBody>
      </p:sp>
      <p:sp>
        <p:nvSpPr>
          <p:cNvPr id="1356" name="Google Shape;1356;p76"/>
          <p:cNvSpPr txBox="1"/>
          <p:nvPr/>
        </p:nvSpPr>
        <p:spPr>
          <a:xfrm>
            <a:off x="228600" y="2895600"/>
            <a:ext cx="8839200" cy="19177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Hill ciphers are block ciphers. A block of plaintext, of size 2 or more is encrypted together using a single key (a matrix). In these ciphers, the value of each character in the ciphertext depends 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all the values of the characters in the plaintext. Although the key is made of </a:t>
            </a:r>
            <a:r>
              <a:rPr b="1" i="1" lang="en-US" sz="2400" u="none" cap="none" strike="noStrike">
                <a:solidFill>
                  <a:schemeClr val="dk1"/>
                </a:solidFill>
                <a:latin typeface="Times New Roman"/>
                <a:ea typeface="Times New Roman"/>
                <a:cs typeface="Times New Roman"/>
                <a:sym typeface="Times New Roman"/>
              </a:rPr>
              <a:t>m</a:t>
            </a:r>
            <a:r>
              <a:rPr b="1" i="0" lang="en-US" sz="2400" u="none" cap="none" strike="noStrike">
                <a:solidFill>
                  <a:schemeClr val="dk1"/>
                </a:solidFill>
                <a:latin typeface="Times New Roman"/>
                <a:ea typeface="Times New Roman"/>
                <a:cs typeface="Times New Roman"/>
                <a:sym typeface="Times New Roman"/>
              </a:rPr>
              <a:t> × </a:t>
            </a:r>
            <a:r>
              <a:rPr b="1" i="1" lang="en-US" sz="2400" u="none" cap="none" strike="noStrike">
                <a:solidFill>
                  <a:schemeClr val="dk1"/>
                </a:solidFill>
                <a:latin typeface="Times New Roman"/>
                <a:ea typeface="Times New Roman"/>
                <a:cs typeface="Times New Roman"/>
                <a:sym typeface="Times New Roman"/>
              </a:rPr>
              <a:t>m</a:t>
            </a:r>
            <a:r>
              <a:rPr b="1" i="0" lang="en-US" sz="2400" u="none" cap="none" strike="noStrike">
                <a:solidFill>
                  <a:schemeClr val="dk1"/>
                </a:solidFill>
                <a:latin typeface="Times New Roman"/>
                <a:ea typeface="Times New Roman"/>
                <a:cs typeface="Times New Roman"/>
                <a:sym typeface="Times New Roman"/>
              </a:rPr>
              <a:t> values, it is considered as a single key.</a:t>
            </a:r>
            <a:endParaRPr b="0" i="0" sz="1400" u="none" cap="none" strike="noStrike">
              <a:solidFill>
                <a:srgbClr val="000000"/>
              </a:solidFill>
              <a:latin typeface="Arial"/>
              <a:ea typeface="Arial"/>
              <a:cs typeface="Arial"/>
              <a:sym typeface="Arial"/>
            </a:endParaRPr>
          </a:p>
        </p:txBody>
      </p:sp>
      <p:sp>
        <p:nvSpPr>
          <p:cNvPr id="1357" name="Google Shape;1357;p76"/>
          <p:cNvSpPr txBox="1"/>
          <p:nvPr/>
        </p:nvSpPr>
        <p:spPr>
          <a:xfrm>
            <a:off x="152400" y="24384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3.35</a:t>
            </a:r>
            <a:endParaRPr b="0" i="0" sz="1400" u="none" cap="none" strike="noStrike">
              <a:solidFill>
                <a:srgbClr val="000000"/>
              </a:solidFill>
              <a:latin typeface="Arial"/>
              <a:ea typeface="Arial"/>
              <a:cs typeface="Arial"/>
              <a:sym typeface="Arial"/>
            </a:endParaRPr>
          </a:p>
        </p:txBody>
      </p:sp>
      <p:sp>
        <p:nvSpPr>
          <p:cNvPr id="1358" name="Google Shape;1358;p76"/>
          <p:cNvSpPr txBox="1"/>
          <p:nvPr/>
        </p:nvSpPr>
        <p:spPr>
          <a:xfrm>
            <a:off x="152400" y="5457825"/>
            <a:ext cx="8839200" cy="118745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From the definition of the block cipher, it is clear that every block cipher is a polyalphabetic cipher because each character in a ciphertext block depends on all characters in the plaintext block.</a:t>
            </a:r>
            <a:endParaRPr b="0" i="0" sz="1400" u="none" cap="none" strike="noStrike">
              <a:solidFill>
                <a:srgbClr val="000000"/>
              </a:solidFill>
              <a:latin typeface="Arial"/>
              <a:ea typeface="Arial"/>
              <a:cs typeface="Arial"/>
              <a:sym typeface="Arial"/>
            </a:endParaRPr>
          </a:p>
        </p:txBody>
      </p:sp>
      <p:sp>
        <p:nvSpPr>
          <p:cNvPr id="1359" name="Google Shape;1359;p76"/>
          <p:cNvSpPr txBox="1"/>
          <p:nvPr/>
        </p:nvSpPr>
        <p:spPr>
          <a:xfrm>
            <a:off x="152400" y="4953000"/>
            <a:ext cx="1944687" cy="4572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Times New Roman"/>
              <a:buNone/>
            </a:pPr>
            <a:r>
              <a:rPr b="1" i="0" lang="en-US" sz="2400" u="none" cap="none" strike="noStrike">
                <a:solidFill>
                  <a:schemeClr val="lt1"/>
                </a:solidFill>
                <a:latin typeface="Times New Roman"/>
                <a:ea typeface="Times New Roman"/>
                <a:cs typeface="Times New Roman"/>
                <a:sym typeface="Times New Roman"/>
              </a:rPr>
              <a:t>Example 3.36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7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3.</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66" name="Google Shape;1366;p7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67" name="Google Shape;1367;p7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68" name="Google Shape;1368;p7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69" name="Google Shape;1369;p7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70" name="Google Shape;1370;p7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71" name="Google Shape;1371;p7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72" name="Google Shape;1372;p7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73" name="Google Shape;1373;p77"/>
          <p:cNvSpPr txBox="1"/>
          <p:nvPr/>
        </p:nvSpPr>
        <p:spPr>
          <a:xfrm>
            <a:off x="1143000" y="0"/>
            <a:ext cx="33893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3.4.3  Combination</a:t>
            </a:r>
            <a:endParaRPr b="0" i="0" sz="1400" u="none" cap="none" strike="noStrike">
              <a:solidFill>
                <a:srgbClr val="000000"/>
              </a:solidFill>
              <a:latin typeface="Arial"/>
              <a:ea typeface="Arial"/>
              <a:cs typeface="Arial"/>
              <a:sym typeface="Arial"/>
            </a:endParaRPr>
          </a:p>
        </p:txBody>
      </p:sp>
      <p:sp>
        <p:nvSpPr>
          <p:cNvPr id="1374" name="Google Shape;1374;p77"/>
          <p:cNvSpPr txBox="1"/>
          <p:nvPr/>
        </p:nvSpPr>
        <p:spPr>
          <a:xfrm>
            <a:off x="152400" y="990600"/>
            <a:ext cx="8839200" cy="2654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In practice, blocks of plaintext are encrypted individually, but they use a stream of keys to encrypt the whole message block by block. In other words, the cipher is a block cipher when looking at the individual blocks, but it is a stream cipher when looking at the whole message considering each block as a single unit.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