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6858000" cx="9144000"/>
  <p:notesSz cx="6858000" cy="9144000"/>
  <p:embeddedFontLst>
    <p:embeddedFont>
      <p:font typeface="Tahoma"/>
      <p:regular r:id="rId63"/>
      <p:bold r:id="rId64"/>
    </p:embeddedFont>
    <p:embeddedFont>
      <p:font typeface="Noto Sans Symbols"/>
      <p:regular r:id="rId65"/>
      <p:bold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7" roundtripDataSignature="AMtx7mj3KA2aQ6jm8KLFbETHs23LHDev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Tahoma-bold.fntdata"/><Relationship Id="rId63" Type="http://schemas.openxmlformats.org/officeDocument/2006/relationships/font" Target="fonts/Tahoma-regular.fntdata"/><Relationship Id="rId22" Type="http://schemas.openxmlformats.org/officeDocument/2006/relationships/slide" Target="slides/slide16.xml"/><Relationship Id="rId66" Type="http://schemas.openxmlformats.org/officeDocument/2006/relationships/font" Target="fonts/NotoSansSymbols-bold.fntdata"/><Relationship Id="rId21" Type="http://schemas.openxmlformats.org/officeDocument/2006/relationships/slide" Target="slides/slide15.xml"/><Relationship Id="rId65" Type="http://schemas.openxmlformats.org/officeDocument/2006/relationships/font" Target="fonts/NotoSansSymbols-regular.fntdata"/><Relationship Id="rId24" Type="http://schemas.openxmlformats.org/officeDocument/2006/relationships/slide" Target="slides/slide18.xml"/><Relationship Id="rId23" Type="http://schemas.openxmlformats.org/officeDocument/2006/relationships/slide" Target="slides/slide17.xml"/><Relationship Id="rId67" Type="http://customschemas.google.com/relationships/presentationmetadata" Target="meta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baseline="-2500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68" name="Google Shape;6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7" name="Google Shape;7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3" name="Google Shape;9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5" name="Google Shape;1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5" name="Google Shape;11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5" name="Google Shape;13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1" name="Google Shape;15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9" name="Google Shape;16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8" name="Google Shape;18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6" name="Google Shape;20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24" name="Google Shape;22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40" name="Google Shape;24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57" name="Google Shape;25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75" name="Google Shape;27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92" name="Google Shape;29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4" name="Google Shape;31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4" name="Google Shape;33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51" name="Google Shape;35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68" name="Google Shape;36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86" name="Google Shape;38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02" name="Google Shape;40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19" name="Google Shape;41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35" name="Google Shape;43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52" name="Google Shape;45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74" name="Google Shape;47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90" name="Google Shape;49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08" name="Google Shape;50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26" name="Google Shape;52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43" name="Google Shape;54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55" name="Google Shape;55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6" name="Google Shape;556;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67" name="Google Shape;56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84" name="Google Shape;58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 name="Google Shape;58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02" name="Google Shape;60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20" name="Google Shape;62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41" name="Google Shape;64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59" name="Google Shape;65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0" name="Google Shape;660;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80" name="Google Shape;68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1" name="Google Shape;68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97" name="Google Shape;69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8" name="Google Shape;698;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13" name="Google Shape;71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4" name="Google Shape;714;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31" name="Google Shape;731;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2" name="Google Shape;732;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50" name="Google Shape;75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1" name="Google Shape;751;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66" name="Google Shape;76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7" name="Google Shape;767;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86" name="Google Shape;78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7" name="Google Shape;787;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06" name="Google Shape;80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7" name="Google Shape;807;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22" name="Google Shape;82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3" name="Google Shape;823;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40" name="Google Shape;84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1" name="Google Shape;841;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58" name="Google Shape;85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9" name="Google Shape;859;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78" name="Google Shape;878;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9" name="Google Shape;879;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94" name="Google Shape;894;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12" name="Google Shape;91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3" name="Google Shape;913;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30" name="Google Shape;930;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1" name="Google Shape;931;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46" name="Google Shape;946;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7" name="Google Shape;94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64" name="Google Shape;96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5" name="Google Shape;965;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81" name="Google Shape;981;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2" name="Google Shape;982;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98" name="Google Shape;998;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9" name="Google Shape;999;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5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15" name="Google Shape;1015;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6" name="Google Shape;1016;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 name="Shape 11"/>
        <p:cNvGrpSpPr/>
        <p:nvPr/>
      </p:nvGrpSpPr>
      <p:grpSpPr>
        <a:xfrm>
          <a:off x="0" y="0"/>
          <a:ext cx="0" cy="0"/>
          <a:chOff x="0" y="0"/>
          <a:chExt cx="0" cy="0"/>
        </a:xfrm>
      </p:grpSpPr>
      <p:sp>
        <p:nvSpPr>
          <p:cNvPr id="12" name="Google Shape;12;p58"/>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3" name="Google Shape;13;p58"/>
          <p:cNvSpPr txBox="1"/>
          <p:nvPr>
            <p:ph idx="1" type="body"/>
          </p:nvPr>
        </p:nvSpPr>
        <p:spPr>
          <a:xfrm>
            <a:off x="62865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Arimo"/>
              <a:buChar char="n"/>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Arimo"/>
              <a:buChar char="n"/>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Arimo"/>
              <a:buChar char="n"/>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Arimo"/>
              <a:buChar char="n"/>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Arimo"/>
              <a:buChar char="n"/>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4" name="Google Shape;14;p58"/>
          <p:cNvSpPr txBox="1"/>
          <p:nvPr>
            <p:ph idx="2" type="body"/>
          </p:nvPr>
        </p:nvSpPr>
        <p:spPr>
          <a:xfrm>
            <a:off x="464820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Arimo"/>
              <a:buChar char="n"/>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Arimo"/>
              <a:buChar char="n"/>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Arimo"/>
              <a:buChar char="n"/>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Arimo"/>
              <a:buChar char="n"/>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Arimo"/>
              <a:buChar char="n"/>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5" name="Google Shape;15;p5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5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 name="Shape 18"/>
        <p:cNvGrpSpPr/>
        <p:nvPr/>
      </p:nvGrpSpPr>
      <p:grpSpPr>
        <a:xfrm>
          <a:off x="0" y="0"/>
          <a:ext cx="0" cy="0"/>
          <a:chOff x="0" y="0"/>
          <a:chExt cx="0" cy="0"/>
        </a:xfrm>
      </p:grpSpPr>
      <p:sp>
        <p:nvSpPr>
          <p:cNvPr id="19" name="Google Shape;19;p60"/>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0" name="Google Shape;20;p60"/>
          <p:cNvSpPr txBox="1"/>
          <p:nvPr>
            <p:ph idx="1" type="body"/>
          </p:nvPr>
        </p:nvSpPr>
        <p:spPr>
          <a:xfrm rot="5400000">
            <a:off x="604044" y="389731"/>
            <a:ext cx="5811838" cy="5762625"/>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Arimo"/>
              <a:buChar char="n"/>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Arimo"/>
              <a:buChar char="n"/>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Arimo"/>
              <a:buChar char="n"/>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Arimo"/>
              <a:buChar char="n"/>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Arimo"/>
              <a:buChar char="n"/>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1" name="Google Shape;21;p6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 name="Shape 22"/>
        <p:cNvGrpSpPr/>
        <p:nvPr/>
      </p:nvGrpSpPr>
      <p:grpSpPr>
        <a:xfrm>
          <a:off x="0" y="0"/>
          <a:ext cx="0" cy="0"/>
          <a:chOff x="0" y="0"/>
          <a:chExt cx="0" cy="0"/>
        </a:xfrm>
      </p:grpSpPr>
      <p:sp>
        <p:nvSpPr>
          <p:cNvPr id="23" name="Google Shape;23;p61"/>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4" name="Google Shape;24;p61"/>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Arimo"/>
              <a:buChar char="n"/>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Arimo"/>
              <a:buChar char="n"/>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Arimo"/>
              <a:buChar char="n"/>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Arimo"/>
              <a:buChar char="n"/>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Arimo"/>
              <a:buChar char="n"/>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5" name="Google Shape;25;p6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6" name="Shape 26"/>
        <p:cNvGrpSpPr/>
        <p:nvPr/>
      </p:nvGrpSpPr>
      <p:grpSpPr>
        <a:xfrm>
          <a:off x="0" y="0"/>
          <a:ext cx="0" cy="0"/>
          <a:chOff x="0" y="0"/>
          <a:chExt cx="0" cy="0"/>
        </a:xfrm>
      </p:grpSpPr>
      <p:sp>
        <p:nvSpPr>
          <p:cNvPr id="27" name="Google Shape;27;p62"/>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8" name="Google Shape;28;p62"/>
          <p:cNvSpPr/>
          <p:nvPr>
            <p:ph idx="2" type="pic"/>
          </p:nvPr>
        </p:nvSpPr>
        <p:spPr>
          <a:xfrm>
            <a:off x="3887788" y="987425"/>
            <a:ext cx="4629150" cy="4873625"/>
          </a:xfrm>
          <a:prstGeom prst="rect">
            <a:avLst/>
          </a:prstGeom>
          <a:noFill/>
          <a:ln>
            <a:noFill/>
          </a:ln>
        </p:spPr>
      </p:sp>
      <p:sp>
        <p:nvSpPr>
          <p:cNvPr id="29" name="Google Shape;29;p62"/>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folHlink"/>
              </a:buClr>
              <a:buSzPts val="960"/>
              <a:buFont typeface="Arimo"/>
              <a:buNone/>
              <a:defRPr b="0" i="0" sz="1600" u="none" cap="none" strike="noStrike">
                <a:solidFill>
                  <a:schemeClr val="dk1"/>
                </a:solidFill>
                <a:latin typeface="Tahoma"/>
                <a:ea typeface="Tahoma"/>
                <a:cs typeface="Tahoma"/>
                <a:sym typeface="Tahoma"/>
              </a:defRPr>
            </a:lvl1pPr>
            <a:lvl2pPr indent="-228600" lvl="1" marL="914400" marR="0" rtl="0" algn="l">
              <a:spcBef>
                <a:spcPts val="280"/>
              </a:spcBef>
              <a:spcAft>
                <a:spcPts val="0"/>
              </a:spcAft>
              <a:buClr>
                <a:schemeClr val="hlink"/>
              </a:buClr>
              <a:buSzPts val="770"/>
              <a:buFont typeface="Arimo"/>
              <a:buNone/>
              <a:defRPr b="0" i="0" sz="1400" u="none" cap="none" strike="noStrike">
                <a:solidFill>
                  <a:schemeClr val="dk1"/>
                </a:solidFill>
                <a:latin typeface="Tahoma"/>
                <a:ea typeface="Tahoma"/>
                <a:cs typeface="Tahoma"/>
                <a:sym typeface="Tahoma"/>
              </a:defRPr>
            </a:lvl2pPr>
            <a:lvl3pPr indent="-228600" lvl="2" marL="1371600" marR="0" rtl="0" algn="l">
              <a:spcBef>
                <a:spcPts val="240"/>
              </a:spcBef>
              <a:spcAft>
                <a:spcPts val="0"/>
              </a:spcAft>
              <a:buClr>
                <a:schemeClr val="folHlink"/>
              </a:buClr>
              <a:buSzPts val="600"/>
              <a:buFont typeface="Arimo"/>
              <a:buNone/>
              <a:defRPr b="0" i="0" sz="1200" u="none" cap="none" strike="noStrike">
                <a:solidFill>
                  <a:schemeClr val="dk1"/>
                </a:solidFill>
                <a:latin typeface="Tahoma"/>
                <a:ea typeface="Tahoma"/>
                <a:cs typeface="Tahoma"/>
                <a:sym typeface="Tahoma"/>
              </a:defRPr>
            </a:lvl3pPr>
            <a:lvl4pPr indent="-228600" lvl="3" marL="1828800" marR="0" rtl="0" algn="l">
              <a:spcBef>
                <a:spcPts val="200"/>
              </a:spcBef>
              <a:spcAft>
                <a:spcPts val="0"/>
              </a:spcAft>
              <a:buClr>
                <a:schemeClr val="accent2"/>
              </a:buClr>
              <a:buSzPts val="550"/>
              <a:buFont typeface="Arimo"/>
              <a:buNone/>
              <a:defRPr b="0" i="0" sz="1000" u="none" cap="none" strike="noStrike">
                <a:solidFill>
                  <a:schemeClr val="dk1"/>
                </a:solidFill>
                <a:latin typeface="Tahoma"/>
                <a:ea typeface="Tahoma"/>
                <a:cs typeface="Tahoma"/>
                <a:sym typeface="Tahoma"/>
              </a:defRPr>
            </a:lvl4pPr>
            <a:lvl5pPr indent="-228600" lvl="4" marL="2286000" marR="0" rtl="0" algn="l">
              <a:spcBef>
                <a:spcPts val="200"/>
              </a:spcBef>
              <a:spcAft>
                <a:spcPts val="0"/>
              </a:spcAft>
              <a:buClr>
                <a:schemeClr val="accent1"/>
              </a:buClr>
              <a:buSzPts val="500"/>
              <a:buFont typeface="Arimo"/>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0" name="Google Shape;30;p6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1" name="Shape 31"/>
        <p:cNvGrpSpPr/>
        <p:nvPr/>
      </p:nvGrpSpPr>
      <p:grpSpPr>
        <a:xfrm>
          <a:off x="0" y="0"/>
          <a:ext cx="0" cy="0"/>
          <a:chOff x="0" y="0"/>
          <a:chExt cx="0" cy="0"/>
        </a:xfrm>
      </p:grpSpPr>
      <p:sp>
        <p:nvSpPr>
          <p:cNvPr id="32" name="Google Shape;32;p63"/>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3" name="Google Shape;33;p63"/>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Arimo"/>
              <a:buChar char="n"/>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Arimo"/>
              <a:buChar char="n"/>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Arimo"/>
              <a:buChar char="n"/>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Arimo"/>
              <a:buChar char="n"/>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Arimo"/>
              <a:buChar char="n"/>
              <a:defRPr b="0" i="0" sz="2000" u="none" cap="none" strike="noStrike">
                <a:solidFill>
                  <a:schemeClr val="dk1"/>
                </a:solidFill>
                <a:latin typeface="Tahoma"/>
                <a:ea typeface="Tahoma"/>
                <a:cs typeface="Tahoma"/>
                <a:sym typeface="Tahoma"/>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34" name="Google Shape;34;p63"/>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folHlink"/>
              </a:buClr>
              <a:buSzPts val="960"/>
              <a:buFont typeface="Arimo"/>
              <a:buNone/>
              <a:defRPr b="0" i="0" sz="1600" u="none" cap="none" strike="noStrike">
                <a:solidFill>
                  <a:schemeClr val="dk1"/>
                </a:solidFill>
                <a:latin typeface="Tahoma"/>
                <a:ea typeface="Tahoma"/>
                <a:cs typeface="Tahoma"/>
                <a:sym typeface="Tahoma"/>
              </a:defRPr>
            </a:lvl1pPr>
            <a:lvl2pPr indent="-228600" lvl="1" marL="914400" marR="0" rtl="0" algn="l">
              <a:spcBef>
                <a:spcPts val="280"/>
              </a:spcBef>
              <a:spcAft>
                <a:spcPts val="0"/>
              </a:spcAft>
              <a:buClr>
                <a:schemeClr val="hlink"/>
              </a:buClr>
              <a:buSzPts val="770"/>
              <a:buFont typeface="Arimo"/>
              <a:buNone/>
              <a:defRPr b="0" i="0" sz="1400" u="none" cap="none" strike="noStrike">
                <a:solidFill>
                  <a:schemeClr val="dk1"/>
                </a:solidFill>
                <a:latin typeface="Tahoma"/>
                <a:ea typeface="Tahoma"/>
                <a:cs typeface="Tahoma"/>
                <a:sym typeface="Tahoma"/>
              </a:defRPr>
            </a:lvl2pPr>
            <a:lvl3pPr indent="-228600" lvl="2" marL="1371600" marR="0" rtl="0" algn="l">
              <a:spcBef>
                <a:spcPts val="240"/>
              </a:spcBef>
              <a:spcAft>
                <a:spcPts val="0"/>
              </a:spcAft>
              <a:buClr>
                <a:schemeClr val="folHlink"/>
              </a:buClr>
              <a:buSzPts val="600"/>
              <a:buFont typeface="Arimo"/>
              <a:buNone/>
              <a:defRPr b="0" i="0" sz="1200" u="none" cap="none" strike="noStrike">
                <a:solidFill>
                  <a:schemeClr val="dk1"/>
                </a:solidFill>
                <a:latin typeface="Tahoma"/>
                <a:ea typeface="Tahoma"/>
                <a:cs typeface="Tahoma"/>
                <a:sym typeface="Tahoma"/>
              </a:defRPr>
            </a:lvl3pPr>
            <a:lvl4pPr indent="-228600" lvl="3" marL="1828800" marR="0" rtl="0" algn="l">
              <a:spcBef>
                <a:spcPts val="200"/>
              </a:spcBef>
              <a:spcAft>
                <a:spcPts val="0"/>
              </a:spcAft>
              <a:buClr>
                <a:schemeClr val="accent2"/>
              </a:buClr>
              <a:buSzPts val="550"/>
              <a:buFont typeface="Arimo"/>
              <a:buNone/>
              <a:defRPr b="0" i="0" sz="1000" u="none" cap="none" strike="noStrike">
                <a:solidFill>
                  <a:schemeClr val="dk1"/>
                </a:solidFill>
                <a:latin typeface="Tahoma"/>
                <a:ea typeface="Tahoma"/>
                <a:cs typeface="Tahoma"/>
                <a:sym typeface="Tahoma"/>
              </a:defRPr>
            </a:lvl4pPr>
            <a:lvl5pPr indent="-228600" lvl="4" marL="2286000" marR="0" rtl="0" algn="l">
              <a:spcBef>
                <a:spcPts val="200"/>
              </a:spcBef>
              <a:spcAft>
                <a:spcPts val="0"/>
              </a:spcAft>
              <a:buClr>
                <a:schemeClr val="accent1"/>
              </a:buClr>
              <a:buSzPts val="500"/>
              <a:buFont typeface="Arimo"/>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5" name="Google Shape;35;p6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4"/>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8" name="Google Shape;38;p6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65"/>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1" name="Google Shape;41;p65"/>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Arimo"/>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Arimo"/>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Arimo"/>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Arimo"/>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Arimo"/>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2" name="Google Shape;42;p65"/>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Arimo"/>
              <a:buChar char="n"/>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Arimo"/>
              <a:buChar char="n"/>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Arimo"/>
              <a:buChar char="n"/>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Arimo"/>
              <a:buChar char="n"/>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Arimo"/>
              <a:buChar char="n"/>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3" name="Google Shape;43;p65"/>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Arimo"/>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Arimo"/>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Arimo"/>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Arimo"/>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Arimo"/>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4" name="Google Shape;44;p65"/>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Arimo"/>
              <a:buChar char="n"/>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Arimo"/>
              <a:buChar char="n"/>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Arimo"/>
              <a:buChar char="n"/>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Arimo"/>
              <a:buChar char="n"/>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Arimo"/>
              <a:buChar char="n"/>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5" name="Google Shape;45;p6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66"/>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6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8" name="Google Shape;48;p66"/>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Arimo"/>
              <a:buNone/>
              <a:defRPr b="0"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Arimo"/>
              <a:buNone/>
              <a:defRPr b="0"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Arimo"/>
              <a:buNone/>
              <a:defRPr b="0"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Arimo"/>
              <a:buNone/>
              <a:defRPr b="0"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Arimo"/>
              <a:buNone/>
              <a:defRPr b="0"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49" name="Google Shape;49;p6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67"/>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2" name="Google Shape;52;p6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Arimo"/>
              <a:buChar char="n"/>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Arimo"/>
              <a:buChar char="n"/>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Arimo"/>
              <a:buChar char="n"/>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Arimo"/>
              <a:buChar char="n"/>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Arimo"/>
              <a:buChar char="n"/>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3" name="Google Shape;53;p6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1200"/>
              <a:buFont typeface="Arial"/>
              <a:buNone/>
              <a:defRPr b="1" i="0" sz="12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5" name="Shape 6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1pPr>
            <a:lvl2pPr indent="0" lvl="1" marL="0" marR="0" rtl="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2pPr>
            <a:lvl3pPr indent="0" lvl="2" marL="0" marR="0" rtl="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3pPr>
            <a:lvl4pPr indent="0" lvl="3" marL="0" marR="0" rtl="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4pPr>
            <a:lvl5pPr indent="0" lvl="4" marL="0" marR="0" rtl="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5pPr>
            <a:lvl6pPr indent="0" lvl="5" marL="0" marR="0" rtl="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6pPr>
            <a:lvl7pPr indent="0" lvl="6" marL="0" marR="0" rtl="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7pPr>
            <a:lvl8pPr indent="0" lvl="7" marL="0" marR="0" rtl="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8pPr>
            <a:lvl9pPr indent="0" lvl="8" marL="0" marR="0" rtl="0" algn="l">
              <a:lnSpc>
                <a:spcPct val="100000"/>
              </a:lnSpc>
              <a:spcBef>
                <a:spcPts val="0"/>
              </a:spcBef>
              <a:spcAft>
                <a:spcPts val="0"/>
              </a:spcAft>
              <a:buClr>
                <a:schemeClr val="lt2"/>
              </a:buClr>
              <a:buSzPts val="1200"/>
              <a:buFont typeface="Arial"/>
              <a:buNone/>
              <a:defRPr b="1" i="0" sz="12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grpSp>
        <p:nvGrpSpPr>
          <p:cNvPr id="55" name="Google Shape;55;p68"/>
          <p:cNvGrpSpPr/>
          <p:nvPr/>
        </p:nvGrpSpPr>
        <p:grpSpPr>
          <a:xfrm>
            <a:off x="0" y="2438400"/>
            <a:ext cx="9009062" cy="1052512"/>
            <a:chOff x="0" y="1536"/>
            <a:chExt cx="5675" cy="663"/>
          </a:xfrm>
        </p:grpSpPr>
        <p:grpSp>
          <p:nvGrpSpPr>
            <p:cNvPr id="56" name="Google Shape;56;p68"/>
            <p:cNvGrpSpPr/>
            <p:nvPr/>
          </p:nvGrpSpPr>
          <p:grpSpPr>
            <a:xfrm>
              <a:off x="183" y="1604"/>
              <a:ext cx="448" cy="299"/>
              <a:chOff x="720" y="336"/>
              <a:chExt cx="624" cy="432"/>
            </a:xfrm>
          </p:grpSpPr>
          <p:sp>
            <p:nvSpPr>
              <p:cNvPr id="57" name="Google Shape;57;p68"/>
              <p:cNvSpPr txBox="1"/>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8" name="Google Shape;58;p68"/>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grpSp>
        <p:grpSp>
          <p:nvGrpSpPr>
            <p:cNvPr id="59" name="Google Shape;59;p68"/>
            <p:cNvGrpSpPr/>
            <p:nvPr/>
          </p:nvGrpSpPr>
          <p:grpSpPr>
            <a:xfrm>
              <a:off x="261" y="1870"/>
              <a:ext cx="465" cy="299"/>
              <a:chOff x="912" y="2640"/>
              <a:chExt cx="672" cy="432"/>
            </a:xfrm>
          </p:grpSpPr>
          <p:sp>
            <p:nvSpPr>
              <p:cNvPr id="60" name="Google Shape;60;p68"/>
              <p:cNvSpPr txBox="1"/>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1" name="Google Shape;61;p68"/>
              <p:cNvSpPr txBox="1"/>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grpSp>
        <p:sp>
          <p:nvSpPr>
            <p:cNvPr id="62" name="Google Shape;62;p68"/>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3" name="Google Shape;63;p68"/>
            <p:cNvSpPr txBox="1"/>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4" name="Google Shape;64;p68"/>
            <p:cNvSpPr txBox="1"/>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grpSp>
    </p:spTree>
  </p:cSld>
  <p:clrMap accent1="accent1" accent2="accent2" accent3="accent3" accent4="accent4" accent5="accent5" accent6="accent6" bg1="lt1" bg2="dk2" tx1="dk1" tx2="lt2" folHlink="folHlink" hlink="hlink"/>
  <p:sldLayoutIdLst>
    <p:sldLayoutId id="214748366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12.png"/><Relationship Id="rId8"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40.png"/><Relationship Id="rId5" Type="http://schemas.openxmlformats.org/officeDocument/2006/relationships/image" Target="../media/image6.png"/><Relationship Id="rId6"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4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cap="none" strike="noStrike">
                <a:solidFill>
                  <a:schemeClr val="lt2"/>
                </a:solidFill>
                <a:latin typeface="Arial"/>
                <a:ea typeface="Arial"/>
                <a:cs typeface="Arial"/>
                <a:sym typeface="Arial"/>
              </a:rPr>
              <a:t>4.</a:t>
            </a:r>
            <a:fld id="{00000000-1234-1234-1234-123412341234}" type="slidenum">
              <a:rPr b="1" i="0" lang="en-US" sz="1200" u="none" cap="none" strike="noStrike">
                <a:solidFill>
                  <a:schemeClr val="lt2"/>
                </a:solidFill>
                <a:latin typeface="Arial"/>
                <a:ea typeface="Arial"/>
                <a:cs typeface="Arial"/>
                <a:sym typeface="Arial"/>
              </a:rPr>
              <a:t>‹#›</a:t>
            </a:fld>
            <a:endParaRPr/>
          </a:p>
        </p:txBody>
      </p:sp>
      <p:sp>
        <p:nvSpPr>
          <p:cNvPr id="72" name="Google Shape;72;p1"/>
          <p:cNvSpPr txBox="1"/>
          <p:nvPr/>
        </p:nvSpPr>
        <p:spPr>
          <a:xfrm>
            <a:off x="0" y="6507162"/>
            <a:ext cx="914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Copyright © The McGraw-Hill Companies, Inc. Permission required for reproduction or display.</a:t>
            </a:r>
            <a:endParaRPr/>
          </a:p>
        </p:txBody>
      </p:sp>
      <p:pic>
        <p:nvPicPr>
          <p:cNvPr descr="Forouzan1e08dh_OLC" id="73" name="Google Shape;73;p1"/>
          <p:cNvPicPr preferRelativeResize="0"/>
          <p:nvPr>
            <p:ph idx="1" type="body"/>
          </p:nvPr>
        </p:nvPicPr>
        <p:blipFill rotWithShape="1">
          <a:blip r:embed="rId3">
            <a:alphaModFix/>
          </a:blip>
          <a:srcRect b="0" l="0" r="0" t="0"/>
          <a:stretch/>
        </p:blipFill>
        <p:spPr>
          <a:xfrm>
            <a:off x="381000" y="0"/>
            <a:ext cx="8763000" cy="1050925"/>
          </a:xfrm>
          <a:prstGeom prst="rect">
            <a:avLst/>
          </a:prstGeom>
          <a:noFill/>
          <a:ln>
            <a:noFill/>
          </a:ln>
        </p:spPr>
      </p:pic>
      <p:sp>
        <p:nvSpPr>
          <p:cNvPr id="74" name="Google Shape;74;p1"/>
          <p:cNvSpPr txBox="1"/>
          <p:nvPr/>
        </p:nvSpPr>
        <p:spPr>
          <a:xfrm>
            <a:off x="381000" y="2514600"/>
            <a:ext cx="8229600" cy="24066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4400"/>
              <a:buFont typeface="Arial"/>
              <a:buNone/>
            </a:pPr>
            <a:r>
              <a:rPr b="1" i="0" lang="en-US" sz="4400" u="none" cap="none" strike="noStrike">
                <a:solidFill>
                  <a:schemeClr val="dk2"/>
                </a:solidFill>
                <a:latin typeface="Arial"/>
                <a:ea typeface="Arial"/>
                <a:cs typeface="Arial"/>
                <a:sym typeface="Arial"/>
              </a:rPr>
              <a:t>Chapter 4</a:t>
            </a:r>
            <a:endParaRPr/>
          </a:p>
          <a:p>
            <a:pPr indent="0" lvl="0" marL="0" marR="0" rtl="0" algn="ctr">
              <a:lnSpc>
                <a:spcPct val="100000"/>
              </a:lnSpc>
              <a:spcBef>
                <a:spcPts val="0"/>
              </a:spcBef>
              <a:spcAft>
                <a:spcPts val="0"/>
              </a:spcAft>
              <a:buClr>
                <a:schemeClr val="dk1"/>
              </a:buClr>
              <a:buSzPts val="2000"/>
              <a:buFont typeface="Times New Roman"/>
              <a:buNone/>
            </a:pPr>
            <a:r>
              <a:t/>
            </a:r>
            <a:endParaRPr b="1" i="0" sz="2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Times New Roman"/>
              <a:buNone/>
            </a:pPr>
            <a:r>
              <a:rPr b="1" i="0" lang="en-US" sz="4400" u="none" cap="none" strike="noStrike">
                <a:solidFill>
                  <a:schemeClr val="dk1"/>
                </a:solidFill>
                <a:latin typeface="Times New Roman"/>
                <a:ea typeface="Times New Roman"/>
                <a:cs typeface="Times New Roman"/>
                <a:sym typeface="Times New Roman"/>
              </a:rPr>
              <a:t>Mathematics of Cryptography</a:t>
            </a:r>
            <a:br>
              <a:rPr b="1" i="0" lang="en-US" sz="4400" u="none" cap="none" strike="noStrike">
                <a:solidFill>
                  <a:schemeClr val="dk1"/>
                </a:solidFill>
                <a:latin typeface="Arial"/>
                <a:ea typeface="Arial"/>
                <a:cs typeface="Arial"/>
                <a:sym typeface="Arial"/>
              </a:rPr>
            </a:br>
            <a:r>
              <a:rPr b="1" i="1" lang="en-US" sz="4400" u="none" cap="none" strike="noStrike">
                <a:solidFill>
                  <a:schemeClr val="dk1"/>
                </a:solidFill>
                <a:latin typeface="Times New Roman"/>
                <a:ea typeface="Times New Roman"/>
                <a:cs typeface="Times New Roman"/>
                <a:sym typeface="Times New Roman"/>
              </a:rPr>
              <a:t>Part II: Algebraic Structures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cap="none" strike="noStrike">
                <a:solidFill>
                  <a:schemeClr val="lt2"/>
                </a:solidFill>
                <a:latin typeface="Arial"/>
                <a:ea typeface="Arial"/>
                <a:cs typeface="Arial"/>
                <a:sym typeface="Arial"/>
              </a:rPr>
              <a:t>4.</a:t>
            </a:r>
            <a:fld id="{00000000-1234-1234-1234-123412341234}" type="slidenum">
              <a:rPr b="1" i="0" lang="en-US" sz="1200" u="none" cap="none" strike="noStrike">
                <a:solidFill>
                  <a:schemeClr val="lt2"/>
                </a:solidFill>
                <a:latin typeface="Arial"/>
                <a:ea typeface="Arial"/>
                <a:cs typeface="Arial"/>
                <a:sym typeface="Arial"/>
              </a:rPr>
              <a:t>‹#›</a:t>
            </a:fld>
            <a:endParaRPr/>
          </a:p>
        </p:txBody>
      </p:sp>
      <p:sp>
        <p:nvSpPr>
          <p:cNvPr id="81" name="Google Shape;81;p2"/>
          <p:cNvSpPr txBox="1"/>
          <p:nvPr/>
        </p:nvSpPr>
        <p:spPr>
          <a:xfrm>
            <a:off x="304800" y="1219200"/>
            <a:ext cx="8534400" cy="43656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review the concept of algebraic structures</a:t>
            </a:r>
            <a:endParaRPr/>
          </a:p>
          <a:p>
            <a:pPr indent="0" lvl="0" marL="0" marR="0" rtl="0" algn="l">
              <a:lnSpc>
                <a:spcPct val="100000"/>
              </a:lnSpc>
              <a:spcBef>
                <a:spcPts val="140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define and give some examples of groups</a:t>
            </a:r>
            <a:endParaRPr/>
          </a:p>
          <a:p>
            <a:pPr indent="0" lvl="0" marL="0" marR="0" rtl="0" algn="l">
              <a:lnSpc>
                <a:spcPct val="100000"/>
              </a:lnSpc>
              <a:spcBef>
                <a:spcPts val="140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define and give some examples of rings</a:t>
            </a:r>
            <a:endParaRPr/>
          </a:p>
          <a:p>
            <a:pPr indent="0" lvl="0" marL="0" marR="0" rtl="0" algn="l">
              <a:lnSpc>
                <a:spcPct val="100000"/>
              </a:lnSpc>
              <a:spcBef>
                <a:spcPts val="140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define and give some examples of fields</a:t>
            </a:r>
            <a:endParaRPr/>
          </a:p>
          <a:p>
            <a:pPr indent="0" lvl="0" marL="0" marR="0" rtl="0" algn="l">
              <a:lnSpc>
                <a:spcPct val="100000"/>
              </a:lnSpc>
              <a:spcBef>
                <a:spcPts val="140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emphasize the finite fields of type GF(2</a:t>
            </a:r>
            <a:r>
              <a:rPr b="1" baseline="30000" i="1" lang="en-US" sz="3200" u="none" cap="none" strike="noStrike">
                <a:solidFill>
                  <a:schemeClr val="dk1"/>
                </a:solidFill>
                <a:latin typeface="Times New Roman"/>
                <a:ea typeface="Times New Roman"/>
                <a:cs typeface="Times New Roman"/>
                <a:sym typeface="Times New Roman"/>
              </a:rPr>
              <a:t>n</a:t>
            </a:r>
            <a:r>
              <a:rPr b="1" i="0" lang="en-US" sz="2800" u="none" cap="none" strike="noStrike">
                <a:solidFill>
                  <a:schemeClr val="dk1"/>
                </a:solidFill>
                <a:latin typeface="Times New Roman"/>
                <a:ea typeface="Times New Roman"/>
                <a:cs typeface="Times New Roman"/>
                <a:sym typeface="Times New Roman"/>
              </a:rPr>
              <a:t>)</a:t>
            </a:r>
            <a:br>
              <a:rPr b="1" i="0" lang="en-US" sz="2800" u="none" cap="none" strike="noStrike">
                <a:solidFill>
                  <a:schemeClr val="dk1"/>
                </a:solidFill>
                <a:latin typeface="Times New Roman"/>
                <a:ea typeface="Times New Roman"/>
                <a:cs typeface="Times New Roman"/>
                <a:sym typeface="Times New Roman"/>
              </a:rPr>
            </a:br>
            <a:r>
              <a:rPr b="1" i="0" lang="en-US" sz="2800" u="none" cap="none" strike="noStrike">
                <a:solidFill>
                  <a:schemeClr val="dk1"/>
                </a:solidFill>
                <a:latin typeface="Times New Roman"/>
                <a:ea typeface="Times New Roman"/>
                <a:cs typeface="Times New Roman"/>
                <a:sym typeface="Times New Roman"/>
              </a:rPr>
              <a:t>      that make it possible to perform operations such</a:t>
            </a:r>
            <a:br>
              <a:rPr b="1" i="0" lang="en-US" sz="2800" u="none" cap="none" strike="noStrike">
                <a:solidFill>
                  <a:schemeClr val="dk1"/>
                </a:solidFill>
                <a:latin typeface="Times New Roman"/>
                <a:ea typeface="Times New Roman"/>
                <a:cs typeface="Times New Roman"/>
                <a:sym typeface="Times New Roman"/>
              </a:rPr>
            </a:br>
            <a:r>
              <a:rPr b="1" i="0" lang="en-US" sz="2800" u="none" cap="none" strike="noStrike">
                <a:solidFill>
                  <a:schemeClr val="dk1"/>
                </a:solidFill>
                <a:latin typeface="Times New Roman"/>
                <a:ea typeface="Times New Roman"/>
                <a:cs typeface="Times New Roman"/>
                <a:sym typeface="Times New Roman"/>
              </a:rPr>
              <a:t>      as addition, subtraction, multiplication, and</a:t>
            </a:r>
            <a:br>
              <a:rPr b="1" i="0" lang="en-US" sz="2800" u="none" cap="none" strike="noStrike">
                <a:solidFill>
                  <a:schemeClr val="dk1"/>
                </a:solidFill>
                <a:latin typeface="Times New Roman"/>
                <a:ea typeface="Times New Roman"/>
                <a:cs typeface="Times New Roman"/>
                <a:sym typeface="Times New Roman"/>
              </a:rPr>
            </a:br>
            <a:r>
              <a:rPr b="1" i="0" lang="en-US" sz="2800" u="none" cap="none" strike="noStrike">
                <a:solidFill>
                  <a:schemeClr val="dk1"/>
                </a:solidFill>
                <a:latin typeface="Times New Roman"/>
                <a:ea typeface="Times New Roman"/>
                <a:cs typeface="Times New Roman"/>
                <a:sym typeface="Times New Roman"/>
              </a:rPr>
              <a:t>      division on </a:t>
            </a:r>
            <a:r>
              <a:rPr b="1" i="1" lang="en-US" sz="2800" u="none" cap="none" strike="noStrike">
                <a:solidFill>
                  <a:schemeClr val="dk1"/>
                </a:solidFill>
                <a:latin typeface="Times New Roman"/>
                <a:ea typeface="Times New Roman"/>
                <a:cs typeface="Times New Roman"/>
                <a:sym typeface="Times New Roman"/>
              </a:rPr>
              <a:t>n</a:t>
            </a:r>
            <a:r>
              <a:rPr b="1" i="0" lang="en-US" sz="2800" u="none" cap="none" strike="noStrike">
                <a:solidFill>
                  <a:schemeClr val="dk1"/>
                </a:solidFill>
                <a:latin typeface="Times New Roman"/>
                <a:ea typeface="Times New Roman"/>
                <a:cs typeface="Times New Roman"/>
                <a:sym typeface="Times New Roman"/>
              </a:rPr>
              <a:t>-bit words in modern block ciphers</a:t>
            </a:r>
            <a:endParaRPr/>
          </a:p>
        </p:txBody>
      </p:sp>
      <p:sp>
        <p:nvSpPr>
          <p:cNvPr id="82" name="Google Shape;82;p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3" name="Google Shape;83;p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4" name="Google Shape;84;p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6" name="Google Shape;86;p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7" name="Google Shape;87;p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8" name="Google Shape;88;p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9" name="Google Shape;89;p2"/>
          <p:cNvSpPr txBox="1"/>
          <p:nvPr/>
        </p:nvSpPr>
        <p:spPr>
          <a:xfrm>
            <a:off x="1066800" y="547687"/>
            <a:ext cx="2209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0" lang="en-US" sz="2800" u="none">
                <a:solidFill>
                  <a:schemeClr val="hlink"/>
                </a:solidFill>
                <a:latin typeface="Times New Roman"/>
                <a:ea typeface="Times New Roman"/>
                <a:cs typeface="Times New Roman"/>
                <a:sym typeface="Times New Roman"/>
              </a:rPr>
              <a:t>Objectives</a:t>
            </a:r>
            <a:endParaRPr/>
          </a:p>
        </p:txBody>
      </p:sp>
      <p:sp>
        <p:nvSpPr>
          <p:cNvPr id="90" name="Google Shape;90;p2"/>
          <p:cNvSpPr txBox="1"/>
          <p:nvPr/>
        </p:nvSpPr>
        <p:spPr>
          <a:xfrm>
            <a:off x="1066800" y="49212"/>
            <a:ext cx="182721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Chapter 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97" name="Google Shape;97;p3"/>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8" name="Google Shape;98;p3"/>
          <p:cNvSpPr txBox="1"/>
          <p:nvPr/>
        </p:nvSpPr>
        <p:spPr>
          <a:xfrm>
            <a:off x="228600" y="406400"/>
            <a:ext cx="63293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a:solidFill>
                  <a:schemeClr val="dk1"/>
                </a:solidFill>
                <a:latin typeface="Times"/>
                <a:ea typeface="Times"/>
                <a:cs typeface="Times"/>
                <a:sym typeface="Times"/>
              </a:rPr>
              <a:t>4-1   ALGEBRAIC STRUCTURES</a:t>
            </a:r>
            <a:endParaRPr/>
          </a:p>
        </p:txBody>
      </p:sp>
      <p:sp>
        <p:nvSpPr>
          <p:cNvPr id="99" name="Google Shape;99;p3"/>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0" name="Google Shape;100;p3"/>
          <p:cNvSpPr txBox="1"/>
          <p:nvPr/>
        </p:nvSpPr>
        <p:spPr>
          <a:xfrm>
            <a:off x="304800" y="1600200"/>
            <a:ext cx="8229600" cy="2654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Cryptography requires sets of integers and specific operations that are defined for those sets. The combination of the set and the operations that are applied to the elements of the set is called an </a:t>
            </a:r>
            <a:r>
              <a:rPr b="1" i="1" lang="en-US" sz="2800" u="none">
                <a:solidFill>
                  <a:schemeClr val="hlink"/>
                </a:solidFill>
                <a:latin typeface="Times New Roman"/>
                <a:ea typeface="Times New Roman"/>
                <a:cs typeface="Times New Roman"/>
                <a:sym typeface="Times New Roman"/>
              </a:rPr>
              <a:t>algebraic structure</a:t>
            </a:r>
            <a:r>
              <a:rPr b="1" i="1" lang="en-US" sz="2800" u="none">
                <a:solidFill>
                  <a:schemeClr val="dk1"/>
                </a:solidFill>
                <a:latin typeface="Times New Roman"/>
                <a:ea typeface="Times New Roman"/>
                <a:cs typeface="Times New Roman"/>
                <a:sym typeface="Times New Roman"/>
              </a:rPr>
              <a:t>. In this chapter, we will define three common algebraic structures: groups, rings, and fields.</a:t>
            </a:r>
            <a:endParaRPr/>
          </a:p>
        </p:txBody>
      </p:sp>
      <p:sp>
        <p:nvSpPr>
          <p:cNvPr id="101" name="Google Shape;101;p3"/>
          <p:cNvSpPr txBox="1"/>
          <p:nvPr/>
        </p:nvSpPr>
        <p:spPr>
          <a:xfrm>
            <a:off x="165100" y="4738687"/>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a:solidFill>
                  <a:schemeClr val="hlink"/>
                </a:solidFill>
                <a:latin typeface="Times New Roman"/>
                <a:ea typeface="Times New Roman"/>
                <a:cs typeface="Times New Roman"/>
                <a:sym typeface="Times New Roman"/>
              </a:rPr>
              <a:t>Topics discussed in this section:</a:t>
            </a:r>
            <a:endParaRPr/>
          </a:p>
        </p:txBody>
      </p:sp>
      <p:sp>
        <p:nvSpPr>
          <p:cNvPr id="102" name="Google Shape;102;p3"/>
          <p:cNvSpPr txBox="1"/>
          <p:nvPr/>
        </p:nvSpPr>
        <p:spPr>
          <a:xfrm>
            <a:off x="381000" y="5289550"/>
            <a:ext cx="67056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4.1.1</a:t>
            </a:r>
            <a:r>
              <a:rPr b="1" i="0" lang="en-US" sz="2400" u="none">
                <a:solidFill>
                  <a:srgbClr val="0033CC"/>
                </a:solidFill>
                <a:latin typeface="Times New Roman"/>
                <a:ea typeface="Times New Roman"/>
                <a:cs typeface="Times New Roman"/>
                <a:sym typeface="Times New Roman"/>
              </a:rPr>
              <a:t>  Groups</a:t>
            </a:r>
            <a:br>
              <a:rPr b="1" i="0" lang="en-US" sz="2400" u="none">
                <a:solidFill>
                  <a:srgbClr val="0033CC"/>
                </a:solidFill>
                <a:latin typeface="Times New Roman"/>
                <a:ea typeface="Times New Roman"/>
                <a:cs typeface="Times New Roman"/>
                <a:sym typeface="Times New Roman"/>
              </a:rPr>
            </a:br>
            <a:r>
              <a:rPr b="1" i="0" lang="en-US" sz="2400" u="none">
                <a:solidFill>
                  <a:schemeClr val="hlink"/>
                </a:solidFill>
                <a:latin typeface="Times New Roman"/>
                <a:ea typeface="Times New Roman"/>
                <a:cs typeface="Times New Roman"/>
                <a:sym typeface="Times New Roman"/>
              </a:rPr>
              <a:t>4.1.2</a:t>
            </a:r>
            <a:r>
              <a:rPr b="1" i="0" lang="en-US" sz="2400" u="none">
                <a:solidFill>
                  <a:srgbClr val="0033CC"/>
                </a:solidFill>
                <a:latin typeface="Times New Roman"/>
                <a:ea typeface="Times New Roman"/>
                <a:cs typeface="Times New Roman"/>
                <a:sym typeface="Times New Roman"/>
              </a:rPr>
              <a:t>  Rings</a:t>
            </a:r>
            <a:br>
              <a:rPr b="1" i="0" lang="en-US" sz="2400" u="none">
                <a:solidFill>
                  <a:srgbClr val="0033CC"/>
                </a:solidFill>
                <a:latin typeface="Times New Roman"/>
                <a:ea typeface="Times New Roman"/>
                <a:cs typeface="Times New Roman"/>
                <a:sym typeface="Times New Roman"/>
              </a:rPr>
            </a:br>
            <a:r>
              <a:rPr b="1" i="0" lang="en-US" sz="2400" u="none">
                <a:solidFill>
                  <a:schemeClr val="hlink"/>
                </a:solidFill>
                <a:latin typeface="Times New Roman"/>
                <a:ea typeface="Times New Roman"/>
                <a:cs typeface="Times New Roman"/>
                <a:sym typeface="Times New Roman"/>
              </a:rPr>
              <a:t>4.1.3</a:t>
            </a:r>
            <a:r>
              <a:rPr b="1" i="0" lang="en-US" sz="2400" u="none">
                <a:solidFill>
                  <a:srgbClr val="0033CC"/>
                </a:solidFill>
                <a:latin typeface="Times New Roman"/>
                <a:ea typeface="Times New Roman"/>
                <a:cs typeface="Times New Roman"/>
                <a:sym typeface="Times New Roman"/>
              </a:rPr>
              <a:t>  Fields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109" name="Google Shape;109;p4"/>
          <p:cNvSpPr txBox="1"/>
          <p:nvPr/>
        </p:nvSpPr>
        <p:spPr>
          <a:xfrm>
            <a:off x="0" y="0"/>
            <a:ext cx="9144000" cy="5334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10" name="Google Shape;110;p4"/>
          <p:cNvSpPr txBox="1"/>
          <p:nvPr/>
        </p:nvSpPr>
        <p:spPr>
          <a:xfrm>
            <a:off x="76200" y="0"/>
            <a:ext cx="29606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pic>
        <p:nvPicPr>
          <p:cNvPr id="111" name="Google Shape;111;p4"/>
          <p:cNvPicPr preferRelativeResize="0"/>
          <p:nvPr/>
        </p:nvPicPr>
        <p:blipFill rotWithShape="1">
          <a:blip r:embed="rId3">
            <a:alphaModFix/>
          </a:blip>
          <a:srcRect b="0" l="0" r="0" t="0"/>
          <a:stretch/>
        </p:blipFill>
        <p:spPr>
          <a:xfrm>
            <a:off x="730250" y="2378075"/>
            <a:ext cx="7651750" cy="2117725"/>
          </a:xfrm>
          <a:prstGeom prst="rect">
            <a:avLst/>
          </a:prstGeom>
          <a:noFill/>
          <a:ln>
            <a:noFill/>
          </a:ln>
        </p:spPr>
      </p:pic>
      <p:sp>
        <p:nvSpPr>
          <p:cNvPr id="112" name="Google Shape;112;p4"/>
          <p:cNvSpPr txBox="1"/>
          <p:nvPr/>
        </p:nvSpPr>
        <p:spPr>
          <a:xfrm>
            <a:off x="1973262" y="1524000"/>
            <a:ext cx="4656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4.1  </a:t>
            </a:r>
            <a:r>
              <a:rPr b="1" i="1" lang="en-US" sz="2000" u="none">
                <a:solidFill>
                  <a:schemeClr val="dk1"/>
                </a:solidFill>
                <a:latin typeface="Times New Roman"/>
                <a:ea typeface="Times New Roman"/>
                <a:cs typeface="Times New Roman"/>
                <a:sym typeface="Times New Roman"/>
              </a:rPr>
              <a:t>Common algebraic structure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119" name="Google Shape;119;p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20" name="Google Shape;120;p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21" name="Google Shape;121;p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22" name="Google Shape;122;p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23" name="Google Shape;123;p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24" name="Google Shape;124;p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25" name="Google Shape;125;p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26" name="Google Shape;126;p5"/>
          <p:cNvSpPr txBox="1"/>
          <p:nvPr/>
        </p:nvSpPr>
        <p:spPr>
          <a:xfrm>
            <a:off x="1143000" y="0"/>
            <a:ext cx="27479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4.1.1     Groups</a:t>
            </a:r>
            <a:endParaRPr/>
          </a:p>
        </p:txBody>
      </p:sp>
      <p:sp>
        <p:nvSpPr>
          <p:cNvPr id="127" name="Google Shape;127;p5"/>
          <p:cNvSpPr txBox="1"/>
          <p:nvPr/>
        </p:nvSpPr>
        <p:spPr>
          <a:xfrm>
            <a:off x="152400" y="1066800"/>
            <a:ext cx="8839200" cy="18002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A group (</a:t>
            </a:r>
            <a:r>
              <a:rPr b="1" i="0" lang="en-US" sz="2800" u="none">
                <a:solidFill>
                  <a:schemeClr val="hlink"/>
                </a:solidFill>
                <a:latin typeface="Times New Roman"/>
                <a:ea typeface="Times New Roman"/>
                <a:cs typeface="Times New Roman"/>
                <a:sym typeface="Times New Roman"/>
              </a:rPr>
              <a:t>G</a:t>
            </a:r>
            <a:r>
              <a:rPr b="1" i="0" lang="en-US" sz="2800" u="none">
                <a:solidFill>
                  <a:schemeClr val="dk1"/>
                </a:solidFill>
                <a:latin typeface="Times New Roman"/>
                <a:ea typeface="Times New Roman"/>
                <a:cs typeface="Times New Roman"/>
                <a:sym typeface="Times New Roman"/>
              </a:rPr>
              <a:t>) is a set of elements with a binary operation (</a:t>
            </a:r>
            <a:r>
              <a:rPr b="1" i="0" lang="en-US" sz="2800" u="none">
                <a:solidFill>
                  <a:schemeClr val="hlink"/>
                </a:solidFill>
                <a:latin typeface="Times New Roman"/>
                <a:ea typeface="Times New Roman"/>
                <a:cs typeface="Times New Roman"/>
                <a:sym typeface="Times New Roman"/>
              </a:rPr>
              <a:t>•)</a:t>
            </a:r>
            <a:r>
              <a:rPr b="1" i="0" lang="en-US" sz="2800" u="none">
                <a:solidFill>
                  <a:schemeClr val="dk1"/>
                </a:solidFill>
                <a:latin typeface="Times New Roman"/>
                <a:ea typeface="Times New Roman"/>
                <a:cs typeface="Times New Roman"/>
                <a:sym typeface="Times New Roman"/>
              </a:rPr>
              <a:t> that satisfies four properties (or axioms). A commutative group satisfies an extra property, commutativity:</a:t>
            </a:r>
            <a:endParaRPr/>
          </a:p>
        </p:txBody>
      </p:sp>
      <p:sp>
        <p:nvSpPr>
          <p:cNvPr id="128" name="Google Shape;128;p5"/>
          <p:cNvSpPr txBox="1"/>
          <p:nvPr/>
        </p:nvSpPr>
        <p:spPr>
          <a:xfrm>
            <a:off x="152400" y="2971800"/>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a:t>
            </a:r>
            <a:r>
              <a:rPr b="1" i="0" lang="en-US" sz="2800" u="none">
                <a:solidFill>
                  <a:schemeClr val="dk1"/>
                </a:solidFill>
                <a:latin typeface="Times New Roman"/>
                <a:ea typeface="Times New Roman"/>
                <a:cs typeface="Times New Roman"/>
                <a:sym typeface="Times New Roman"/>
              </a:rPr>
              <a:t> </a:t>
            </a:r>
            <a:r>
              <a:rPr b="1" i="0" lang="en-US" sz="2800" u="none">
                <a:solidFill>
                  <a:schemeClr val="folHlink"/>
                </a:solidFill>
                <a:latin typeface="Times New Roman"/>
                <a:ea typeface="Times New Roman"/>
                <a:cs typeface="Times New Roman"/>
                <a:sym typeface="Times New Roman"/>
              </a:rPr>
              <a:t>Closure:</a:t>
            </a:r>
            <a:endParaRPr/>
          </a:p>
        </p:txBody>
      </p:sp>
      <p:sp>
        <p:nvSpPr>
          <p:cNvPr id="129" name="Google Shape;129;p5"/>
          <p:cNvSpPr txBox="1"/>
          <p:nvPr/>
        </p:nvSpPr>
        <p:spPr>
          <a:xfrm>
            <a:off x="152400" y="3486150"/>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a:t>
            </a:r>
            <a:r>
              <a:rPr b="1" i="0" lang="en-US" sz="2800" u="none">
                <a:solidFill>
                  <a:schemeClr val="dk1"/>
                </a:solidFill>
                <a:latin typeface="Times New Roman"/>
                <a:ea typeface="Times New Roman"/>
                <a:cs typeface="Times New Roman"/>
                <a:sym typeface="Times New Roman"/>
              </a:rPr>
              <a:t> </a:t>
            </a:r>
            <a:r>
              <a:rPr b="1" i="0" lang="en-US" sz="2800" u="none">
                <a:solidFill>
                  <a:schemeClr val="folHlink"/>
                </a:solidFill>
                <a:latin typeface="Times New Roman"/>
                <a:ea typeface="Times New Roman"/>
                <a:cs typeface="Times New Roman"/>
                <a:sym typeface="Times New Roman"/>
              </a:rPr>
              <a:t>Associativity:</a:t>
            </a:r>
            <a:endParaRPr/>
          </a:p>
        </p:txBody>
      </p:sp>
      <p:sp>
        <p:nvSpPr>
          <p:cNvPr id="130" name="Google Shape;130;p5"/>
          <p:cNvSpPr txBox="1"/>
          <p:nvPr/>
        </p:nvSpPr>
        <p:spPr>
          <a:xfrm>
            <a:off x="152400" y="4038600"/>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a:t>
            </a:r>
            <a:r>
              <a:rPr b="1" i="0" lang="en-US" sz="2800" u="none">
                <a:solidFill>
                  <a:schemeClr val="dk1"/>
                </a:solidFill>
                <a:latin typeface="Times New Roman"/>
                <a:ea typeface="Times New Roman"/>
                <a:cs typeface="Times New Roman"/>
                <a:sym typeface="Times New Roman"/>
              </a:rPr>
              <a:t> </a:t>
            </a:r>
            <a:r>
              <a:rPr b="1" i="0" lang="en-US" sz="2800" u="none">
                <a:solidFill>
                  <a:schemeClr val="folHlink"/>
                </a:solidFill>
                <a:latin typeface="Times New Roman"/>
                <a:ea typeface="Times New Roman"/>
                <a:cs typeface="Times New Roman"/>
                <a:sym typeface="Times New Roman"/>
              </a:rPr>
              <a:t>Commutativity:</a:t>
            </a:r>
            <a:endParaRPr/>
          </a:p>
        </p:txBody>
      </p:sp>
      <p:sp>
        <p:nvSpPr>
          <p:cNvPr id="131" name="Google Shape;131;p5"/>
          <p:cNvSpPr txBox="1"/>
          <p:nvPr/>
        </p:nvSpPr>
        <p:spPr>
          <a:xfrm>
            <a:off x="152400" y="4587875"/>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a:t>
            </a:r>
            <a:r>
              <a:rPr b="1" i="0" lang="en-US" sz="2800" u="none">
                <a:solidFill>
                  <a:schemeClr val="dk1"/>
                </a:solidFill>
                <a:latin typeface="Times New Roman"/>
                <a:ea typeface="Times New Roman"/>
                <a:cs typeface="Times New Roman"/>
                <a:sym typeface="Times New Roman"/>
              </a:rPr>
              <a:t> </a:t>
            </a:r>
            <a:r>
              <a:rPr b="1" i="0" lang="en-US" sz="2800" u="none">
                <a:solidFill>
                  <a:schemeClr val="folHlink"/>
                </a:solidFill>
                <a:latin typeface="Times New Roman"/>
                <a:ea typeface="Times New Roman"/>
                <a:cs typeface="Times New Roman"/>
                <a:sym typeface="Times New Roman"/>
              </a:rPr>
              <a:t>Existence of identity:</a:t>
            </a:r>
            <a:endParaRPr/>
          </a:p>
        </p:txBody>
      </p:sp>
      <p:sp>
        <p:nvSpPr>
          <p:cNvPr id="132" name="Google Shape;132;p5"/>
          <p:cNvSpPr txBox="1"/>
          <p:nvPr/>
        </p:nvSpPr>
        <p:spPr>
          <a:xfrm>
            <a:off x="152400" y="5105400"/>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a:t>
            </a:r>
            <a:r>
              <a:rPr b="1" i="0" lang="en-US" sz="2800" u="none">
                <a:solidFill>
                  <a:schemeClr val="dk1"/>
                </a:solidFill>
                <a:latin typeface="Times New Roman"/>
                <a:ea typeface="Times New Roman"/>
                <a:cs typeface="Times New Roman"/>
                <a:sym typeface="Times New Roman"/>
              </a:rPr>
              <a:t> </a:t>
            </a:r>
            <a:r>
              <a:rPr b="1" i="0" lang="en-US" sz="2800" u="none">
                <a:solidFill>
                  <a:schemeClr val="folHlink"/>
                </a:solidFill>
                <a:latin typeface="Times New Roman"/>
                <a:ea typeface="Times New Roman"/>
                <a:cs typeface="Times New Roman"/>
                <a:sym typeface="Times New Roman"/>
              </a:rPr>
              <a:t>Existence of inverse: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139" name="Google Shape;139;p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40" name="Google Shape;140;p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41" name="Google Shape;141;p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42" name="Google Shape;142;p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43" name="Google Shape;143;p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44" name="Google Shape;144;p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45" name="Google Shape;145;p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46" name="Google Shape;146;p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pic>
        <p:nvPicPr>
          <p:cNvPr id="147" name="Google Shape;147;p6"/>
          <p:cNvPicPr preferRelativeResize="0"/>
          <p:nvPr/>
        </p:nvPicPr>
        <p:blipFill rotWithShape="1">
          <a:blip r:embed="rId3">
            <a:alphaModFix/>
          </a:blip>
          <a:srcRect b="0" l="0" r="0" t="0"/>
          <a:stretch/>
        </p:blipFill>
        <p:spPr>
          <a:xfrm>
            <a:off x="904875" y="2181225"/>
            <a:ext cx="7248525" cy="3838575"/>
          </a:xfrm>
          <a:prstGeom prst="rect">
            <a:avLst/>
          </a:prstGeom>
          <a:noFill/>
          <a:ln>
            <a:noFill/>
          </a:ln>
        </p:spPr>
      </p:pic>
      <p:sp>
        <p:nvSpPr>
          <p:cNvPr id="148" name="Google Shape;148;p6"/>
          <p:cNvSpPr txBox="1"/>
          <p:nvPr/>
        </p:nvSpPr>
        <p:spPr>
          <a:xfrm>
            <a:off x="3381375" y="1600200"/>
            <a:ext cx="23336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4.2  </a:t>
            </a:r>
            <a:r>
              <a:rPr b="1" i="1" lang="en-US" sz="2000" u="none">
                <a:solidFill>
                  <a:schemeClr val="dk1"/>
                </a:solidFill>
                <a:latin typeface="Times New Roman"/>
                <a:ea typeface="Times New Roman"/>
                <a:cs typeface="Times New Roman"/>
                <a:sym typeface="Times New Roman"/>
              </a:rPr>
              <a:t>Group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155" name="Google Shape;155;p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56" name="Google Shape;156;p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57" name="Google Shape;157;p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58" name="Google Shape;158;p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59" name="Google Shape;159;p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60" name="Google Shape;160;p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61" name="Google Shape;161;p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62" name="Google Shape;162;p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163" name="Google Shape;163;p7"/>
          <p:cNvSpPr txBox="1"/>
          <p:nvPr/>
        </p:nvSpPr>
        <p:spPr>
          <a:xfrm>
            <a:off x="1143000" y="635000"/>
            <a:ext cx="1963737"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Application</a:t>
            </a:r>
            <a:endParaRPr/>
          </a:p>
        </p:txBody>
      </p:sp>
      <p:sp>
        <p:nvSpPr>
          <p:cNvPr id="164" name="Google Shape;164;p7"/>
          <p:cNvSpPr txBox="1"/>
          <p:nvPr/>
        </p:nvSpPr>
        <p:spPr>
          <a:xfrm>
            <a:off x="152400" y="1143000"/>
            <a:ext cx="8839200" cy="18002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Although a group involves a single operation, the properties imposed on the operation allow the use of a pair of operations as long as they are inverses of each other. </a:t>
            </a:r>
            <a:endParaRPr/>
          </a:p>
        </p:txBody>
      </p:sp>
      <p:sp>
        <p:nvSpPr>
          <p:cNvPr id="165" name="Google Shape;165;p7"/>
          <p:cNvSpPr txBox="1"/>
          <p:nvPr/>
        </p:nvSpPr>
        <p:spPr>
          <a:xfrm>
            <a:off x="152400" y="4086225"/>
            <a:ext cx="8839200" cy="15525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set of residue integers with the addition operator,</a:t>
            </a:r>
            <a:endParaRPr/>
          </a:p>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                                 G = &lt; Z</a:t>
            </a:r>
            <a:r>
              <a:rPr b="1" baseline="-25000" i="1" lang="en-US" sz="2400" u="none">
                <a:solidFill>
                  <a:schemeClr val="dk1"/>
                </a:solidFill>
                <a:latin typeface="Times New Roman"/>
                <a:ea typeface="Times New Roman"/>
                <a:cs typeface="Times New Roman"/>
                <a:sym typeface="Times New Roman"/>
              </a:rPr>
              <a:t>n</a:t>
            </a:r>
            <a:r>
              <a:rPr b="1" i="0" lang="en-US" sz="2400" u="none">
                <a:solidFill>
                  <a:schemeClr val="dk1"/>
                </a:solidFill>
                <a:latin typeface="Times New Roman"/>
                <a:ea typeface="Times New Roman"/>
                <a:cs typeface="Times New Roman"/>
                <a:sym typeface="Times New Roman"/>
              </a:rPr>
              <a:t> , +&gt;, </a:t>
            </a:r>
            <a:endParaRPr/>
          </a:p>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is a commutative group. We can perform addition and subtraction on the elements of this set without moving out of the set. </a:t>
            </a:r>
            <a:endParaRPr/>
          </a:p>
        </p:txBody>
      </p:sp>
      <p:sp>
        <p:nvSpPr>
          <p:cNvPr id="166" name="Google Shape;166;p7"/>
          <p:cNvSpPr txBox="1"/>
          <p:nvPr/>
        </p:nvSpPr>
        <p:spPr>
          <a:xfrm>
            <a:off x="188912" y="3581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173" name="Google Shape;173;p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74" name="Google Shape;174;p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75" name="Google Shape;175;p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76" name="Google Shape;176;p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77" name="Google Shape;177;p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78" name="Google Shape;178;p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79" name="Google Shape;179;p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80" name="Google Shape;180;p8"/>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181" name="Google Shape;181;p8"/>
          <p:cNvSpPr txBox="1"/>
          <p:nvPr/>
        </p:nvSpPr>
        <p:spPr>
          <a:xfrm>
            <a:off x="152400" y="1463675"/>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set Z</a:t>
            </a:r>
            <a:r>
              <a:rPr b="1" baseline="-25000" i="1" lang="en-US" sz="2400" u="none">
                <a:solidFill>
                  <a:schemeClr val="dk1"/>
                </a:solidFill>
                <a:latin typeface="Times New Roman"/>
                <a:ea typeface="Times New Roman"/>
                <a:cs typeface="Times New Roman"/>
                <a:sym typeface="Times New Roman"/>
              </a:rPr>
              <a:t>n</a:t>
            </a:r>
            <a:r>
              <a:rPr b="1" i="0" lang="en-US" sz="2400" u="none">
                <a:solidFill>
                  <a:schemeClr val="dk1"/>
                </a:solidFill>
                <a:latin typeface="Times New Roman"/>
                <a:ea typeface="Times New Roman"/>
                <a:cs typeface="Times New Roman"/>
                <a:sym typeface="Times New Roman"/>
              </a:rPr>
              <a:t>* with the multiplication operator, G = &lt;Z</a:t>
            </a:r>
            <a:r>
              <a:rPr b="1" baseline="-25000" i="1" lang="en-US" sz="2400" u="none">
                <a:solidFill>
                  <a:schemeClr val="dk1"/>
                </a:solidFill>
                <a:latin typeface="Times New Roman"/>
                <a:ea typeface="Times New Roman"/>
                <a:cs typeface="Times New Roman"/>
                <a:sym typeface="Times New Roman"/>
              </a:rPr>
              <a:t>n</a:t>
            </a:r>
            <a:r>
              <a:rPr b="1" i="0" lang="en-US" sz="2400" u="none">
                <a:solidFill>
                  <a:schemeClr val="dk1"/>
                </a:solidFill>
                <a:latin typeface="Times New Roman"/>
                <a:ea typeface="Times New Roman"/>
                <a:cs typeface="Times New Roman"/>
                <a:sym typeface="Times New Roman"/>
              </a:rPr>
              <a:t>*, ×&gt;, is also an abelian group. </a:t>
            </a:r>
            <a:endParaRPr/>
          </a:p>
        </p:txBody>
      </p:sp>
      <p:sp>
        <p:nvSpPr>
          <p:cNvPr id="182" name="Google Shape;182;p8"/>
          <p:cNvSpPr txBox="1"/>
          <p:nvPr/>
        </p:nvSpPr>
        <p:spPr>
          <a:xfrm>
            <a:off x="228600" y="1052512"/>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a:t>
            </a:r>
            <a:endParaRPr/>
          </a:p>
        </p:txBody>
      </p:sp>
      <p:sp>
        <p:nvSpPr>
          <p:cNvPr id="183" name="Google Shape;183;p8"/>
          <p:cNvSpPr txBox="1"/>
          <p:nvPr/>
        </p:nvSpPr>
        <p:spPr>
          <a:xfrm>
            <a:off x="152400" y="2987675"/>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Let us define a set G = &lt; {</a:t>
            </a:r>
            <a:r>
              <a:rPr b="1" i="1" lang="en-US" sz="2400" u="none">
                <a:solidFill>
                  <a:schemeClr val="dk1"/>
                </a:solidFill>
                <a:latin typeface="Times New Roman"/>
                <a:ea typeface="Times New Roman"/>
                <a:cs typeface="Times New Roman"/>
                <a:sym typeface="Times New Roman"/>
              </a:rPr>
              <a:t>a</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b</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c</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d</a:t>
            </a:r>
            <a:r>
              <a:rPr b="1" i="0" lang="en-US" sz="2400" u="none">
                <a:solidFill>
                  <a:schemeClr val="dk1"/>
                </a:solidFill>
                <a:latin typeface="Times New Roman"/>
                <a:ea typeface="Times New Roman"/>
                <a:cs typeface="Times New Roman"/>
                <a:sym typeface="Times New Roman"/>
              </a:rPr>
              <a:t>}, •&gt; and the operation as shown in Table 4.1.</a:t>
            </a:r>
            <a:endParaRPr/>
          </a:p>
        </p:txBody>
      </p:sp>
      <p:sp>
        <p:nvSpPr>
          <p:cNvPr id="184" name="Google Shape;184;p8"/>
          <p:cNvSpPr txBox="1"/>
          <p:nvPr/>
        </p:nvSpPr>
        <p:spPr>
          <a:xfrm>
            <a:off x="228600" y="2438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4.3</a:t>
            </a:r>
            <a:endParaRPr/>
          </a:p>
        </p:txBody>
      </p:sp>
      <p:pic>
        <p:nvPicPr>
          <p:cNvPr id="185" name="Google Shape;185;p8"/>
          <p:cNvPicPr preferRelativeResize="0"/>
          <p:nvPr/>
        </p:nvPicPr>
        <p:blipFill rotWithShape="1">
          <a:blip r:embed="rId3">
            <a:alphaModFix/>
          </a:blip>
          <a:srcRect b="0" l="0" r="0" t="0"/>
          <a:stretch/>
        </p:blipFill>
        <p:spPr>
          <a:xfrm>
            <a:off x="2598737" y="3786187"/>
            <a:ext cx="4259262" cy="19288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192" name="Google Shape;192;p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93" name="Google Shape;193;p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94" name="Google Shape;194;p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95" name="Google Shape;195;p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96" name="Google Shape;196;p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97" name="Google Shape;197;p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98" name="Google Shape;198;p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99" name="Google Shape;199;p9"/>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200" name="Google Shape;200;p9"/>
          <p:cNvSpPr txBox="1"/>
          <p:nvPr/>
        </p:nvSpPr>
        <p:spPr>
          <a:xfrm>
            <a:off x="152400" y="11430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A very interesting group is the permutation group. The set is the set of all permutations, and the operation is composition: applying one permutation after another. </a:t>
            </a:r>
            <a:endParaRPr/>
          </a:p>
        </p:txBody>
      </p:sp>
      <p:sp>
        <p:nvSpPr>
          <p:cNvPr id="201" name="Google Shape;201;p9"/>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4.4</a:t>
            </a:r>
            <a:endParaRPr/>
          </a:p>
        </p:txBody>
      </p:sp>
      <p:pic>
        <p:nvPicPr>
          <p:cNvPr id="202" name="Google Shape;202;p9"/>
          <p:cNvPicPr preferRelativeResize="0"/>
          <p:nvPr/>
        </p:nvPicPr>
        <p:blipFill rotWithShape="1">
          <a:blip r:embed="rId3">
            <a:alphaModFix/>
          </a:blip>
          <a:srcRect b="0" l="0" r="0" t="0"/>
          <a:stretch/>
        </p:blipFill>
        <p:spPr>
          <a:xfrm>
            <a:off x="1981200" y="3352800"/>
            <a:ext cx="5786437" cy="2716212"/>
          </a:xfrm>
          <a:prstGeom prst="rect">
            <a:avLst/>
          </a:prstGeom>
          <a:noFill/>
          <a:ln>
            <a:noFill/>
          </a:ln>
        </p:spPr>
      </p:pic>
      <p:sp>
        <p:nvSpPr>
          <p:cNvPr id="203" name="Google Shape;203;p9"/>
          <p:cNvSpPr txBox="1"/>
          <p:nvPr/>
        </p:nvSpPr>
        <p:spPr>
          <a:xfrm>
            <a:off x="838200" y="2667000"/>
            <a:ext cx="61134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4.3  </a:t>
            </a:r>
            <a:r>
              <a:rPr b="1" i="1" lang="en-US" sz="2000" u="none">
                <a:solidFill>
                  <a:schemeClr val="dk1"/>
                </a:solidFill>
                <a:latin typeface="Times New Roman"/>
                <a:ea typeface="Times New Roman"/>
                <a:cs typeface="Times New Roman"/>
                <a:sym typeface="Times New Roman"/>
              </a:rPr>
              <a:t>Composition of permutation (Exercise 4.4)</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210" name="Google Shape;210;p1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11" name="Google Shape;211;p1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12" name="Google Shape;212;p1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13" name="Google Shape;213;p1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14" name="Google Shape;214;p1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15" name="Google Shape;215;p1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16" name="Google Shape;216;p1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17" name="Google Shape;217;p10"/>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218" name="Google Shape;218;p10"/>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4.4</a:t>
            </a:r>
            <a:endParaRPr/>
          </a:p>
        </p:txBody>
      </p:sp>
      <p:sp>
        <p:nvSpPr>
          <p:cNvPr id="219" name="Google Shape;219;p10"/>
          <p:cNvSpPr txBox="1"/>
          <p:nvPr/>
        </p:nvSpPr>
        <p:spPr>
          <a:xfrm>
            <a:off x="1354137" y="1600200"/>
            <a:ext cx="63420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Table 4.2  </a:t>
            </a:r>
            <a:r>
              <a:rPr b="0" i="1" lang="en-US" sz="2400" u="none">
                <a:solidFill>
                  <a:schemeClr val="dk1"/>
                </a:solidFill>
                <a:latin typeface="Times New Roman"/>
                <a:ea typeface="Times New Roman"/>
                <a:cs typeface="Times New Roman"/>
                <a:sym typeface="Times New Roman"/>
              </a:rPr>
              <a:t>Operation table for permutation group</a:t>
            </a:r>
            <a:endParaRPr/>
          </a:p>
        </p:txBody>
      </p:sp>
      <p:pic>
        <p:nvPicPr>
          <p:cNvPr id="220" name="Google Shape;220;p10"/>
          <p:cNvPicPr preferRelativeResize="0"/>
          <p:nvPr/>
        </p:nvPicPr>
        <p:blipFill rotWithShape="1">
          <a:blip r:embed="rId3">
            <a:alphaModFix/>
          </a:blip>
          <a:srcRect b="0" l="0" r="0" t="0"/>
          <a:stretch/>
        </p:blipFill>
        <p:spPr>
          <a:xfrm>
            <a:off x="195262" y="2224087"/>
            <a:ext cx="8491537" cy="2728912"/>
          </a:xfrm>
          <a:prstGeom prst="rect">
            <a:avLst/>
          </a:prstGeom>
          <a:noFill/>
          <a:ln>
            <a:noFill/>
          </a:ln>
        </p:spPr>
      </p:pic>
      <p:sp>
        <p:nvSpPr>
          <p:cNvPr id="221" name="Google Shape;221;p10"/>
          <p:cNvSpPr txBox="1"/>
          <p:nvPr/>
        </p:nvSpPr>
        <p:spPr>
          <a:xfrm>
            <a:off x="2971800" y="504825"/>
            <a:ext cx="172561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Continued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228" name="Google Shape;228;p1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29" name="Google Shape;229;p1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30" name="Google Shape;230;p1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31" name="Google Shape;231;p1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32" name="Google Shape;232;p1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33" name="Google Shape;233;p1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34" name="Google Shape;234;p1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35" name="Google Shape;235;p11"/>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236" name="Google Shape;236;p11"/>
          <p:cNvSpPr txBox="1"/>
          <p:nvPr/>
        </p:nvSpPr>
        <p:spPr>
          <a:xfrm>
            <a:off x="152400" y="990600"/>
            <a:ext cx="8839200" cy="19177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In the previous example, we showed that a set of permutations with the composition operation is a group. This implies that using two permutations one after another cannot strengthen the security</a:t>
            </a:r>
            <a:endParaRPr/>
          </a:p>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of a cipher, because we can always find a permutation that can do the same job because of the closure property.</a:t>
            </a:r>
            <a:endParaRPr/>
          </a:p>
        </p:txBody>
      </p:sp>
      <p:sp>
        <p:nvSpPr>
          <p:cNvPr id="237" name="Google Shape;237;p11"/>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244" name="Google Shape;244;p1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45" name="Google Shape;245;p1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46" name="Google Shape;246;p1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47" name="Google Shape;247;p1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48" name="Google Shape;248;p1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49" name="Google Shape;249;p1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50" name="Google Shape;250;p1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51" name="Google Shape;251;p12"/>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252" name="Google Shape;252;p12"/>
          <p:cNvSpPr txBox="1"/>
          <p:nvPr/>
        </p:nvSpPr>
        <p:spPr>
          <a:xfrm>
            <a:off x="304800" y="990600"/>
            <a:ext cx="2665412"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folHlink"/>
              </a:buClr>
              <a:buSzPts val="2800"/>
              <a:buFont typeface="Noto Sans Symbols"/>
              <a:buChar char="❑"/>
            </a:pPr>
            <a:r>
              <a:rPr b="1" i="0" lang="en-US" sz="2800" u="none">
                <a:solidFill>
                  <a:schemeClr val="folHlink"/>
                </a:solidFill>
                <a:latin typeface="Times New Roman"/>
                <a:ea typeface="Times New Roman"/>
                <a:cs typeface="Times New Roman"/>
                <a:sym typeface="Times New Roman"/>
              </a:rPr>
              <a:t>  Finite Group</a:t>
            </a:r>
            <a:endParaRPr/>
          </a:p>
        </p:txBody>
      </p:sp>
      <p:sp>
        <p:nvSpPr>
          <p:cNvPr id="253" name="Google Shape;253;p12"/>
          <p:cNvSpPr txBox="1"/>
          <p:nvPr/>
        </p:nvSpPr>
        <p:spPr>
          <a:xfrm>
            <a:off x="304800" y="2833687"/>
            <a:ext cx="2322512"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folHlink"/>
              </a:buClr>
              <a:buSzPts val="2800"/>
              <a:buFont typeface="Noto Sans Symbols"/>
              <a:buChar char="❑"/>
            </a:pPr>
            <a:r>
              <a:rPr b="1" i="0" lang="en-US" sz="2800" u="none">
                <a:solidFill>
                  <a:schemeClr val="folHlink"/>
                </a:solidFill>
                <a:latin typeface="Times New Roman"/>
                <a:ea typeface="Times New Roman"/>
                <a:cs typeface="Times New Roman"/>
                <a:sym typeface="Times New Roman"/>
              </a:rPr>
              <a:t>  Subgroups</a:t>
            </a:r>
            <a:endParaRPr/>
          </a:p>
        </p:txBody>
      </p:sp>
      <p:sp>
        <p:nvSpPr>
          <p:cNvPr id="254" name="Google Shape;254;p12"/>
          <p:cNvSpPr txBox="1"/>
          <p:nvPr/>
        </p:nvSpPr>
        <p:spPr>
          <a:xfrm>
            <a:off x="304800" y="1828800"/>
            <a:ext cx="3375025"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folHlink"/>
              </a:buClr>
              <a:buSzPts val="2800"/>
              <a:buFont typeface="Noto Sans Symbols"/>
              <a:buChar char="❑"/>
            </a:pPr>
            <a:r>
              <a:rPr b="1" i="0" lang="en-US" sz="2800" u="none">
                <a:solidFill>
                  <a:schemeClr val="folHlink"/>
                </a:solidFill>
                <a:latin typeface="Times New Roman"/>
                <a:ea typeface="Times New Roman"/>
                <a:cs typeface="Times New Roman"/>
                <a:sym typeface="Times New Roman"/>
              </a:rPr>
              <a:t>  Order of a Group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261" name="Google Shape;261;p1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62" name="Google Shape;262;p1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63" name="Google Shape;263;p1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64" name="Google Shape;264;p1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65" name="Google Shape;265;p1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66" name="Google Shape;266;p1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67" name="Google Shape;267;p1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68" name="Google Shape;268;p1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269" name="Google Shape;269;p13"/>
          <p:cNvSpPr txBox="1"/>
          <p:nvPr/>
        </p:nvSpPr>
        <p:spPr>
          <a:xfrm>
            <a:off x="152400" y="1219200"/>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Is the group H = &lt;Z</a:t>
            </a:r>
            <a:r>
              <a:rPr b="1" baseline="-25000" i="0" lang="en-US" sz="2400" u="none">
                <a:solidFill>
                  <a:schemeClr val="dk1"/>
                </a:solidFill>
                <a:latin typeface="Times New Roman"/>
                <a:ea typeface="Times New Roman"/>
                <a:cs typeface="Times New Roman"/>
                <a:sym typeface="Times New Roman"/>
              </a:rPr>
              <a:t>10</a:t>
            </a:r>
            <a:r>
              <a:rPr b="1" i="0" lang="en-US" sz="2400" u="none">
                <a:solidFill>
                  <a:schemeClr val="dk1"/>
                </a:solidFill>
                <a:latin typeface="Times New Roman"/>
                <a:ea typeface="Times New Roman"/>
                <a:cs typeface="Times New Roman"/>
                <a:sym typeface="Times New Roman"/>
              </a:rPr>
              <a:t>, +&gt; a subgroup of the group G = &lt;Z</a:t>
            </a:r>
            <a:r>
              <a:rPr b="1" baseline="-25000" i="0" lang="en-US" sz="2400" u="none">
                <a:solidFill>
                  <a:schemeClr val="dk1"/>
                </a:solidFill>
                <a:latin typeface="Times New Roman"/>
                <a:ea typeface="Times New Roman"/>
                <a:cs typeface="Times New Roman"/>
                <a:sym typeface="Times New Roman"/>
              </a:rPr>
              <a:t>12</a:t>
            </a:r>
            <a:r>
              <a:rPr b="1" i="0" lang="en-US" sz="2400" u="none">
                <a:solidFill>
                  <a:schemeClr val="dk1"/>
                </a:solidFill>
                <a:latin typeface="Times New Roman"/>
                <a:ea typeface="Times New Roman"/>
                <a:cs typeface="Times New Roman"/>
                <a:sym typeface="Times New Roman"/>
              </a:rPr>
              <a:t>, +&gt;?</a:t>
            </a:r>
            <a:endParaRPr/>
          </a:p>
        </p:txBody>
      </p:sp>
      <p:sp>
        <p:nvSpPr>
          <p:cNvPr id="270" name="Google Shape;270;p13"/>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4.6</a:t>
            </a:r>
            <a:endParaRPr/>
          </a:p>
        </p:txBody>
      </p:sp>
      <p:sp>
        <p:nvSpPr>
          <p:cNvPr id="271" name="Google Shape;271;p13"/>
          <p:cNvSpPr txBox="1"/>
          <p:nvPr/>
        </p:nvSpPr>
        <p:spPr>
          <a:xfrm>
            <a:off x="228600" y="2895600"/>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Solution</a:t>
            </a:r>
            <a:endParaRPr/>
          </a:p>
        </p:txBody>
      </p:sp>
      <p:sp>
        <p:nvSpPr>
          <p:cNvPr id="272" name="Google Shape;272;p13"/>
          <p:cNvSpPr txBox="1"/>
          <p:nvPr/>
        </p:nvSpPr>
        <p:spPr>
          <a:xfrm>
            <a:off x="152400" y="3292475"/>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answer is no. Although H is a subset of G, the operations defined for these two groups are different. The operation in H is addition modulo 10; the operation in G is addition modulo 12.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279" name="Google Shape;279;p1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80" name="Google Shape;280;p1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81" name="Google Shape;281;p1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82" name="Google Shape;282;p1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83" name="Google Shape;283;p1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84" name="Google Shape;284;p1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85" name="Google Shape;285;p1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86" name="Google Shape;286;p1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287" name="Google Shape;287;p14"/>
          <p:cNvSpPr txBox="1"/>
          <p:nvPr/>
        </p:nvSpPr>
        <p:spPr>
          <a:xfrm>
            <a:off x="1023937" y="533400"/>
            <a:ext cx="286226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Cyclic Subgroups</a:t>
            </a:r>
            <a:endParaRPr/>
          </a:p>
        </p:txBody>
      </p:sp>
      <p:sp>
        <p:nvSpPr>
          <p:cNvPr id="288" name="Google Shape;288;p14"/>
          <p:cNvSpPr txBox="1"/>
          <p:nvPr/>
        </p:nvSpPr>
        <p:spPr>
          <a:xfrm>
            <a:off x="152400" y="1219200"/>
            <a:ext cx="8839200" cy="137318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If a subgroup of a group can be generated using the power of an element, the subgroup is called the </a:t>
            </a:r>
            <a:r>
              <a:rPr b="1" i="0" lang="en-US" sz="2800" u="none">
                <a:solidFill>
                  <a:schemeClr val="hlink"/>
                </a:solidFill>
                <a:latin typeface="Times New Roman"/>
                <a:ea typeface="Times New Roman"/>
                <a:cs typeface="Times New Roman"/>
                <a:sym typeface="Times New Roman"/>
              </a:rPr>
              <a:t>cyclic subgroup</a:t>
            </a:r>
            <a:r>
              <a:rPr b="1" i="0" lang="en-US" sz="2800" u="none">
                <a:solidFill>
                  <a:schemeClr val="dk1"/>
                </a:solidFill>
                <a:latin typeface="Times New Roman"/>
                <a:ea typeface="Times New Roman"/>
                <a:cs typeface="Times New Roman"/>
                <a:sym typeface="Times New Roman"/>
              </a:rPr>
              <a:t>. </a:t>
            </a:r>
            <a:endParaRPr/>
          </a:p>
        </p:txBody>
      </p:sp>
      <p:pic>
        <p:nvPicPr>
          <p:cNvPr id="289" name="Google Shape;289;p14"/>
          <p:cNvPicPr preferRelativeResize="0"/>
          <p:nvPr/>
        </p:nvPicPr>
        <p:blipFill rotWithShape="1">
          <a:blip r:embed="rId3">
            <a:alphaModFix/>
          </a:blip>
          <a:srcRect b="0" l="0" r="0" t="0"/>
          <a:stretch/>
        </p:blipFill>
        <p:spPr>
          <a:xfrm>
            <a:off x="1495425" y="2895600"/>
            <a:ext cx="5667375" cy="636587"/>
          </a:xfrm>
          <a:prstGeom prst="rect">
            <a:avLst/>
          </a:prstGeom>
          <a:noFill/>
          <a:ln cap="flat" cmpd="sng" w="57150">
            <a:solidFill>
              <a:schemeClr val="folHlink"/>
            </a:solidFill>
            <a:prstDash val="solid"/>
            <a:miter lim="800000"/>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296" name="Google Shape;296;p1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97" name="Google Shape;297;p1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98" name="Google Shape;298;p1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299" name="Google Shape;299;p1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00" name="Google Shape;300;p1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01" name="Google Shape;301;p1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02" name="Google Shape;302;p1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03" name="Google Shape;303;p1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304" name="Google Shape;304;p15"/>
          <p:cNvSpPr txBox="1"/>
          <p:nvPr/>
        </p:nvSpPr>
        <p:spPr>
          <a:xfrm>
            <a:off x="152400" y="11430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Four cyclic subgroups can be made from the group G = &lt;Z</a:t>
            </a:r>
            <a:r>
              <a:rPr b="1" baseline="-25000" i="0" lang="en-US" sz="2400" u="none">
                <a:solidFill>
                  <a:schemeClr val="dk1"/>
                </a:solidFill>
                <a:latin typeface="Times New Roman"/>
                <a:ea typeface="Times New Roman"/>
                <a:cs typeface="Times New Roman"/>
                <a:sym typeface="Times New Roman"/>
              </a:rPr>
              <a:t>6</a:t>
            </a:r>
            <a:r>
              <a:rPr b="1" i="0" lang="en-US" sz="2400" u="none">
                <a:solidFill>
                  <a:schemeClr val="dk1"/>
                </a:solidFill>
                <a:latin typeface="Times New Roman"/>
                <a:ea typeface="Times New Roman"/>
                <a:cs typeface="Times New Roman"/>
                <a:sym typeface="Times New Roman"/>
              </a:rPr>
              <a:t>, +&gt;. They are H</a:t>
            </a:r>
            <a:r>
              <a:rPr b="1" baseline="-25000" i="0" lang="en-US" sz="2400" u="none">
                <a:solidFill>
                  <a:schemeClr val="dk1"/>
                </a:solidFill>
                <a:latin typeface="Times New Roman"/>
                <a:ea typeface="Times New Roman"/>
                <a:cs typeface="Times New Roman"/>
                <a:sym typeface="Times New Roman"/>
              </a:rPr>
              <a:t>1</a:t>
            </a:r>
            <a:r>
              <a:rPr b="1" i="0" lang="en-US" sz="2400" u="none">
                <a:solidFill>
                  <a:schemeClr val="dk1"/>
                </a:solidFill>
                <a:latin typeface="Times New Roman"/>
                <a:ea typeface="Times New Roman"/>
                <a:cs typeface="Times New Roman"/>
                <a:sym typeface="Times New Roman"/>
              </a:rPr>
              <a:t> = &lt;{0}, +&gt;, H</a:t>
            </a:r>
            <a:r>
              <a:rPr b="1" baseline="-25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&lt;{0, 2, 4}, +&gt;, H</a:t>
            </a:r>
            <a:r>
              <a:rPr b="1" baseline="-25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&lt;{0, 3}, +&gt;, and H</a:t>
            </a:r>
            <a:r>
              <a:rPr b="1" baseline="-25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 G. </a:t>
            </a:r>
            <a:endParaRPr/>
          </a:p>
        </p:txBody>
      </p:sp>
      <p:sp>
        <p:nvSpPr>
          <p:cNvPr id="305" name="Google Shape;305;p15"/>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4.7</a:t>
            </a:r>
            <a:endParaRPr/>
          </a:p>
        </p:txBody>
      </p:sp>
      <p:pic>
        <p:nvPicPr>
          <p:cNvPr id="306" name="Google Shape;306;p15"/>
          <p:cNvPicPr preferRelativeResize="0"/>
          <p:nvPr/>
        </p:nvPicPr>
        <p:blipFill rotWithShape="1">
          <a:blip r:embed="rId3">
            <a:alphaModFix/>
          </a:blip>
          <a:srcRect b="0" l="0" r="0" t="0"/>
          <a:stretch/>
        </p:blipFill>
        <p:spPr>
          <a:xfrm>
            <a:off x="304800" y="2438400"/>
            <a:ext cx="1544637" cy="387350"/>
          </a:xfrm>
          <a:prstGeom prst="rect">
            <a:avLst/>
          </a:prstGeom>
          <a:noFill/>
          <a:ln>
            <a:noFill/>
          </a:ln>
        </p:spPr>
      </p:pic>
      <p:pic>
        <p:nvPicPr>
          <p:cNvPr id="307" name="Google Shape;307;p15"/>
          <p:cNvPicPr preferRelativeResize="0"/>
          <p:nvPr/>
        </p:nvPicPr>
        <p:blipFill rotWithShape="1">
          <a:blip r:embed="rId4">
            <a:alphaModFix/>
          </a:blip>
          <a:srcRect b="0" l="0" r="0" t="0"/>
          <a:stretch/>
        </p:blipFill>
        <p:spPr>
          <a:xfrm>
            <a:off x="304800" y="2971800"/>
            <a:ext cx="4552950" cy="2016125"/>
          </a:xfrm>
          <a:prstGeom prst="rect">
            <a:avLst/>
          </a:prstGeom>
          <a:noFill/>
          <a:ln>
            <a:noFill/>
          </a:ln>
        </p:spPr>
      </p:pic>
      <p:pic>
        <p:nvPicPr>
          <p:cNvPr id="308" name="Google Shape;308;p15"/>
          <p:cNvPicPr preferRelativeResize="0"/>
          <p:nvPr/>
        </p:nvPicPr>
        <p:blipFill rotWithShape="1">
          <a:blip r:embed="rId5">
            <a:alphaModFix/>
          </a:blip>
          <a:srcRect b="0" l="0" r="0" t="0"/>
          <a:stretch/>
        </p:blipFill>
        <p:spPr>
          <a:xfrm>
            <a:off x="304800" y="5181600"/>
            <a:ext cx="3344862" cy="1003300"/>
          </a:xfrm>
          <a:prstGeom prst="rect">
            <a:avLst/>
          </a:prstGeom>
          <a:noFill/>
          <a:ln>
            <a:noFill/>
          </a:ln>
        </p:spPr>
      </p:pic>
      <p:pic>
        <p:nvPicPr>
          <p:cNvPr id="309" name="Google Shape;309;p15"/>
          <p:cNvPicPr preferRelativeResize="0"/>
          <p:nvPr/>
        </p:nvPicPr>
        <p:blipFill rotWithShape="1">
          <a:blip r:embed="rId6">
            <a:alphaModFix/>
          </a:blip>
          <a:srcRect b="0" l="0" r="0" t="0"/>
          <a:stretch/>
        </p:blipFill>
        <p:spPr>
          <a:xfrm>
            <a:off x="5334000" y="2133600"/>
            <a:ext cx="1617662" cy="658812"/>
          </a:xfrm>
          <a:prstGeom prst="rect">
            <a:avLst/>
          </a:prstGeom>
          <a:noFill/>
          <a:ln>
            <a:noFill/>
          </a:ln>
        </p:spPr>
      </p:pic>
      <p:pic>
        <p:nvPicPr>
          <p:cNvPr id="310" name="Google Shape;310;p15"/>
          <p:cNvPicPr preferRelativeResize="0"/>
          <p:nvPr/>
        </p:nvPicPr>
        <p:blipFill rotWithShape="1">
          <a:blip r:embed="rId7">
            <a:alphaModFix/>
          </a:blip>
          <a:srcRect b="0" l="0" r="0" t="0"/>
          <a:stretch/>
        </p:blipFill>
        <p:spPr>
          <a:xfrm>
            <a:off x="5334000" y="3048000"/>
            <a:ext cx="3327400" cy="1003300"/>
          </a:xfrm>
          <a:prstGeom prst="rect">
            <a:avLst/>
          </a:prstGeom>
          <a:noFill/>
          <a:ln>
            <a:noFill/>
          </a:ln>
        </p:spPr>
      </p:pic>
      <p:pic>
        <p:nvPicPr>
          <p:cNvPr id="311" name="Google Shape;311;p15"/>
          <p:cNvPicPr preferRelativeResize="0"/>
          <p:nvPr/>
        </p:nvPicPr>
        <p:blipFill rotWithShape="1">
          <a:blip r:embed="rId8">
            <a:alphaModFix/>
          </a:blip>
          <a:srcRect b="0" l="0" r="0" t="0"/>
          <a:stretch/>
        </p:blipFill>
        <p:spPr>
          <a:xfrm>
            <a:off x="5410200" y="4400550"/>
            <a:ext cx="1581150" cy="2000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318" name="Google Shape;318;p1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19" name="Google Shape;319;p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20" name="Google Shape;320;p1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21" name="Google Shape;321;p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22" name="Google Shape;322;p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23" name="Google Shape;323;p1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24" name="Google Shape;324;p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25" name="Google Shape;325;p1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326" name="Google Shape;326;p16"/>
          <p:cNvSpPr txBox="1"/>
          <p:nvPr/>
        </p:nvSpPr>
        <p:spPr>
          <a:xfrm>
            <a:off x="152400" y="10668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Three cyclic subgroups can be made from the group </a:t>
            </a:r>
            <a:br>
              <a:rPr b="1" i="0" lang="en-US" sz="2400" u="none">
                <a:solidFill>
                  <a:schemeClr val="dk1"/>
                </a:solidFill>
                <a:latin typeface="Times New Roman"/>
                <a:ea typeface="Times New Roman"/>
                <a:cs typeface="Times New Roman"/>
                <a:sym typeface="Times New Roman"/>
              </a:rPr>
            </a:br>
            <a:r>
              <a:rPr b="1" i="0" lang="en-US" sz="2400" u="none">
                <a:solidFill>
                  <a:schemeClr val="dk1"/>
                </a:solidFill>
                <a:latin typeface="Times New Roman"/>
                <a:ea typeface="Times New Roman"/>
                <a:cs typeface="Times New Roman"/>
                <a:sym typeface="Times New Roman"/>
              </a:rPr>
              <a:t>G = &lt;Z</a:t>
            </a:r>
            <a:r>
              <a:rPr b="1" baseline="-25000" i="0" lang="en-US" sz="2400" u="none">
                <a:solidFill>
                  <a:schemeClr val="dk1"/>
                </a:solidFill>
                <a:latin typeface="Times New Roman"/>
                <a:ea typeface="Times New Roman"/>
                <a:cs typeface="Times New Roman"/>
                <a:sym typeface="Times New Roman"/>
              </a:rPr>
              <a:t>10</a:t>
            </a:r>
            <a:r>
              <a:rPr b="1" i="0" lang="en-US" sz="2400" u="none">
                <a:solidFill>
                  <a:schemeClr val="dk1"/>
                </a:solidFill>
                <a:latin typeface="Times New Roman"/>
                <a:ea typeface="Times New Roman"/>
                <a:cs typeface="Times New Roman"/>
                <a:sym typeface="Times New Roman"/>
              </a:rPr>
              <a:t>∗, ×&gt;. G has only four elements: 1, 3, 7, and 9. The cyclic subgroups are H</a:t>
            </a:r>
            <a:r>
              <a:rPr b="1" baseline="-25000" i="0" lang="en-US" sz="2400" u="none">
                <a:solidFill>
                  <a:schemeClr val="dk1"/>
                </a:solidFill>
                <a:latin typeface="Times New Roman"/>
                <a:ea typeface="Times New Roman"/>
                <a:cs typeface="Times New Roman"/>
                <a:sym typeface="Times New Roman"/>
              </a:rPr>
              <a:t>1</a:t>
            </a:r>
            <a:r>
              <a:rPr b="1" i="0" lang="en-US" sz="2400" u="none">
                <a:solidFill>
                  <a:schemeClr val="dk1"/>
                </a:solidFill>
                <a:latin typeface="Times New Roman"/>
                <a:ea typeface="Times New Roman"/>
                <a:cs typeface="Times New Roman"/>
                <a:sym typeface="Times New Roman"/>
              </a:rPr>
              <a:t> = &lt;{1}, ×&gt;, H</a:t>
            </a:r>
            <a:r>
              <a:rPr b="1" baseline="-25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&lt;{1, 9}, ×&gt;, and H</a:t>
            </a:r>
            <a:r>
              <a:rPr b="1" baseline="-25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G.</a:t>
            </a:r>
            <a:endParaRPr/>
          </a:p>
        </p:txBody>
      </p:sp>
      <p:sp>
        <p:nvSpPr>
          <p:cNvPr id="327" name="Google Shape;327;p16"/>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4.8</a:t>
            </a:r>
            <a:endParaRPr/>
          </a:p>
        </p:txBody>
      </p:sp>
      <p:pic>
        <p:nvPicPr>
          <p:cNvPr id="328" name="Google Shape;328;p16"/>
          <p:cNvPicPr preferRelativeResize="0"/>
          <p:nvPr/>
        </p:nvPicPr>
        <p:blipFill rotWithShape="1">
          <a:blip r:embed="rId3">
            <a:alphaModFix/>
          </a:blip>
          <a:srcRect b="0" l="0" r="0" t="0"/>
          <a:stretch/>
        </p:blipFill>
        <p:spPr>
          <a:xfrm>
            <a:off x="381000" y="2743200"/>
            <a:ext cx="1673225" cy="365125"/>
          </a:xfrm>
          <a:prstGeom prst="rect">
            <a:avLst/>
          </a:prstGeom>
          <a:noFill/>
          <a:ln>
            <a:noFill/>
          </a:ln>
        </p:spPr>
      </p:pic>
      <p:pic>
        <p:nvPicPr>
          <p:cNvPr id="329" name="Google Shape;329;p16"/>
          <p:cNvPicPr preferRelativeResize="0"/>
          <p:nvPr/>
        </p:nvPicPr>
        <p:blipFill rotWithShape="1">
          <a:blip r:embed="rId4">
            <a:alphaModFix/>
          </a:blip>
          <a:srcRect b="0" l="0" r="0" t="0"/>
          <a:stretch/>
        </p:blipFill>
        <p:spPr>
          <a:xfrm>
            <a:off x="381000" y="3657600"/>
            <a:ext cx="1865312" cy="1438275"/>
          </a:xfrm>
          <a:prstGeom prst="rect">
            <a:avLst/>
          </a:prstGeom>
          <a:noFill/>
          <a:ln>
            <a:noFill/>
          </a:ln>
        </p:spPr>
      </p:pic>
      <p:pic>
        <p:nvPicPr>
          <p:cNvPr id="330" name="Google Shape;330;p16"/>
          <p:cNvPicPr preferRelativeResize="0"/>
          <p:nvPr/>
        </p:nvPicPr>
        <p:blipFill rotWithShape="1">
          <a:blip r:embed="rId5">
            <a:alphaModFix/>
          </a:blip>
          <a:srcRect b="0" l="0" r="0" t="0"/>
          <a:stretch/>
        </p:blipFill>
        <p:spPr>
          <a:xfrm>
            <a:off x="4419600" y="2590800"/>
            <a:ext cx="1763712" cy="1366837"/>
          </a:xfrm>
          <a:prstGeom prst="rect">
            <a:avLst/>
          </a:prstGeom>
          <a:noFill/>
          <a:ln>
            <a:noFill/>
          </a:ln>
        </p:spPr>
      </p:pic>
      <p:pic>
        <p:nvPicPr>
          <p:cNvPr id="331" name="Google Shape;331;p16"/>
          <p:cNvPicPr preferRelativeResize="0"/>
          <p:nvPr/>
        </p:nvPicPr>
        <p:blipFill rotWithShape="1">
          <a:blip r:embed="rId6">
            <a:alphaModFix/>
          </a:blip>
          <a:srcRect b="0" l="0" r="0" t="0"/>
          <a:stretch/>
        </p:blipFill>
        <p:spPr>
          <a:xfrm>
            <a:off x="4425950" y="4343400"/>
            <a:ext cx="1746250" cy="727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338" name="Google Shape;338;p1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39" name="Google Shape;339;p1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40" name="Google Shape;340;p1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41" name="Google Shape;341;p1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42" name="Google Shape;342;p1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43" name="Google Shape;343;p1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44" name="Google Shape;344;p1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45" name="Google Shape;345;p1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  </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346" name="Google Shape;346;p17"/>
          <p:cNvSpPr txBox="1"/>
          <p:nvPr/>
        </p:nvSpPr>
        <p:spPr>
          <a:xfrm>
            <a:off x="228600" y="1066800"/>
            <a:ext cx="236537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Cyclic Groups</a:t>
            </a:r>
            <a:endParaRPr/>
          </a:p>
        </p:txBody>
      </p:sp>
      <p:sp>
        <p:nvSpPr>
          <p:cNvPr id="347" name="Google Shape;347;p17"/>
          <p:cNvSpPr txBox="1"/>
          <p:nvPr/>
        </p:nvSpPr>
        <p:spPr>
          <a:xfrm>
            <a:off x="152400" y="1781175"/>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A cyclic group is a group that is its own cyclic subgroup. </a:t>
            </a:r>
            <a:endParaRPr/>
          </a:p>
        </p:txBody>
      </p:sp>
      <p:pic>
        <p:nvPicPr>
          <p:cNvPr id="348" name="Google Shape;348;p17"/>
          <p:cNvPicPr preferRelativeResize="0"/>
          <p:nvPr/>
        </p:nvPicPr>
        <p:blipFill rotWithShape="1">
          <a:blip r:embed="rId3">
            <a:alphaModFix/>
          </a:blip>
          <a:srcRect b="0" l="0" r="0" t="0"/>
          <a:stretch/>
        </p:blipFill>
        <p:spPr>
          <a:xfrm>
            <a:off x="1371600" y="2514600"/>
            <a:ext cx="5795962" cy="655637"/>
          </a:xfrm>
          <a:prstGeom prst="rect">
            <a:avLst/>
          </a:prstGeom>
          <a:noFill/>
          <a:ln cap="flat" cmpd="sng" w="38100">
            <a:solidFill>
              <a:schemeClr val="folHlink"/>
            </a:solidFill>
            <a:prstDash val="solid"/>
            <a:miter lim="800000"/>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355" name="Google Shape;355;p1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56" name="Google Shape;356;p1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57" name="Google Shape;357;p1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58" name="Google Shape;358;p1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59" name="Google Shape;359;p1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60" name="Google Shape;360;p1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61" name="Google Shape;361;p1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62" name="Google Shape;362;p18"/>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363" name="Google Shape;363;p18"/>
          <p:cNvSpPr txBox="1"/>
          <p:nvPr/>
        </p:nvSpPr>
        <p:spPr>
          <a:xfrm>
            <a:off x="152400" y="10668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Three cyclic subgroups can be made from the group </a:t>
            </a:r>
            <a:br>
              <a:rPr b="1" i="0" lang="en-US" sz="2400" u="none">
                <a:solidFill>
                  <a:schemeClr val="dk1"/>
                </a:solidFill>
                <a:latin typeface="Times New Roman"/>
                <a:ea typeface="Times New Roman"/>
                <a:cs typeface="Times New Roman"/>
                <a:sym typeface="Times New Roman"/>
              </a:rPr>
            </a:br>
            <a:r>
              <a:rPr b="1" i="0" lang="en-US" sz="2400" u="none">
                <a:solidFill>
                  <a:schemeClr val="dk1"/>
                </a:solidFill>
                <a:latin typeface="Times New Roman"/>
                <a:ea typeface="Times New Roman"/>
                <a:cs typeface="Times New Roman"/>
                <a:sym typeface="Times New Roman"/>
              </a:rPr>
              <a:t>G = &lt;Z</a:t>
            </a:r>
            <a:r>
              <a:rPr b="1" baseline="-25000" i="0" lang="en-US" sz="2400" u="none">
                <a:solidFill>
                  <a:schemeClr val="dk1"/>
                </a:solidFill>
                <a:latin typeface="Times New Roman"/>
                <a:ea typeface="Times New Roman"/>
                <a:cs typeface="Times New Roman"/>
                <a:sym typeface="Times New Roman"/>
              </a:rPr>
              <a:t>10</a:t>
            </a:r>
            <a:r>
              <a:rPr b="1" i="0" lang="en-US" sz="2400" u="none">
                <a:solidFill>
                  <a:schemeClr val="dk1"/>
                </a:solidFill>
                <a:latin typeface="Times New Roman"/>
                <a:ea typeface="Times New Roman"/>
                <a:cs typeface="Times New Roman"/>
                <a:sym typeface="Times New Roman"/>
              </a:rPr>
              <a:t>∗, ×&gt;. G has only four elements: 1, 3, 7, and 9. The cyclic subgroups are H</a:t>
            </a:r>
            <a:r>
              <a:rPr b="1" baseline="-25000" i="0" lang="en-US" sz="2400" u="none">
                <a:solidFill>
                  <a:schemeClr val="dk1"/>
                </a:solidFill>
                <a:latin typeface="Times New Roman"/>
                <a:ea typeface="Times New Roman"/>
                <a:cs typeface="Times New Roman"/>
                <a:sym typeface="Times New Roman"/>
              </a:rPr>
              <a:t>1</a:t>
            </a:r>
            <a:r>
              <a:rPr b="1" i="0" lang="en-US" sz="2400" u="none">
                <a:solidFill>
                  <a:schemeClr val="dk1"/>
                </a:solidFill>
                <a:latin typeface="Times New Roman"/>
                <a:ea typeface="Times New Roman"/>
                <a:cs typeface="Times New Roman"/>
                <a:sym typeface="Times New Roman"/>
              </a:rPr>
              <a:t> = &lt;{1}, ×&gt;, H</a:t>
            </a:r>
            <a:r>
              <a:rPr b="1" baseline="-25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&lt;{1, 9}, ×&gt;, and H</a:t>
            </a:r>
            <a:r>
              <a:rPr b="1" baseline="-25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G.</a:t>
            </a:r>
            <a:endParaRPr/>
          </a:p>
        </p:txBody>
      </p:sp>
      <p:sp>
        <p:nvSpPr>
          <p:cNvPr id="364" name="Google Shape;364;p18"/>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4.9</a:t>
            </a:r>
            <a:endParaRPr/>
          </a:p>
        </p:txBody>
      </p:sp>
      <p:sp>
        <p:nvSpPr>
          <p:cNvPr id="365" name="Google Shape;365;p18"/>
          <p:cNvSpPr txBox="1"/>
          <p:nvPr/>
        </p:nvSpPr>
        <p:spPr>
          <a:xfrm>
            <a:off x="152400" y="2617787"/>
            <a:ext cx="8839200" cy="180816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a. The group G = &lt;Z</a:t>
            </a:r>
            <a:r>
              <a:rPr b="1" i="0" lang="en-US" sz="1600" u="none">
                <a:solidFill>
                  <a:schemeClr val="dk1"/>
                </a:solidFill>
                <a:latin typeface="Times New Roman"/>
                <a:ea typeface="Times New Roman"/>
                <a:cs typeface="Times New Roman"/>
                <a:sym typeface="Times New Roman"/>
              </a:rPr>
              <a:t>6</a:t>
            </a:r>
            <a:r>
              <a:rPr b="1" i="0" lang="en-US" sz="2400" u="none">
                <a:solidFill>
                  <a:schemeClr val="dk1"/>
                </a:solidFill>
                <a:latin typeface="Times New Roman"/>
                <a:ea typeface="Times New Roman"/>
                <a:cs typeface="Times New Roman"/>
                <a:sym typeface="Times New Roman"/>
              </a:rPr>
              <a:t>, +&gt; is a cyclic group with two generators, </a:t>
            </a:r>
            <a:br>
              <a:rPr b="1" i="0" lang="en-US" sz="2400" u="none">
                <a:solidFill>
                  <a:schemeClr val="dk1"/>
                </a:solidFill>
                <a:latin typeface="Times New Roman"/>
                <a:ea typeface="Times New Roman"/>
                <a:cs typeface="Times New Roman"/>
                <a:sym typeface="Times New Roman"/>
              </a:rPr>
            </a:b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g</a:t>
            </a:r>
            <a:r>
              <a:rPr b="1" i="0" lang="en-US" sz="2400" u="none">
                <a:solidFill>
                  <a:schemeClr val="dk1"/>
                </a:solidFill>
                <a:latin typeface="Times New Roman"/>
                <a:ea typeface="Times New Roman"/>
                <a:cs typeface="Times New Roman"/>
                <a:sym typeface="Times New Roman"/>
              </a:rPr>
              <a:t> = 1 and </a:t>
            </a:r>
            <a:r>
              <a:rPr b="1" i="1" lang="en-US" sz="2400" u="none">
                <a:solidFill>
                  <a:schemeClr val="dk1"/>
                </a:solidFill>
                <a:latin typeface="Times New Roman"/>
                <a:ea typeface="Times New Roman"/>
                <a:cs typeface="Times New Roman"/>
                <a:sym typeface="Times New Roman"/>
              </a:rPr>
              <a:t>g</a:t>
            </a:r>
            <a:r>
              <a:rPr b="1" i="0" lang="en-US" sz="2400" u="none">
                <a:solidFill>
                  <a:schemeClr val="dk1"/>
                </a:solidFill>
                <a:latin typeface="Times New Roman"/>
                <a:ea typeface="Times New Roman"/>
                <a:cs typeface="Times New Roman"/>
                <a:sym typeface="Times New Roman"/>
              </a:rPr>
              <a:t> = 5. </a:t>
            </a:r>
            <a:endParaRPr/>
          </a:p>
          <a:p>
            <a:pPr indent="0" lvl="0" marL="0" marR="0" rtl="0" algn="just">
              <a:lnSpc>
                <a:spcPct val="100000"/>
              </a:lnSpc>
              <a:spcBef>
                <a:spcPts val="16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b. The group G = &lt;Z</a:t>
            </a:r>
            <a:r>
              <a:rPr b="1" i="0" lang="en-US" sz="1400" u="none">
                <a:solidFill>
                  <a:schemeClr val="dk1"/>
                </a:solidFill>
                <a:latin typeface="Times New Roman"/>
                <a:ea typeface="Times New Roman"/>
                <a:cs typeface="Times New Roman"/>
                <a:sym typeface="Times New Roman"/>
              </a:rPr>
              <a:t>10</a:t>
            </a:r>
            <a:r>
              <a:rPr b="1" i="0" lang="en-US" sz="2400" u="none">
                <a:solidFill>
                  <a:schemeClr val="dk1"/>
                </a:solidFill>
                <a:latin typeface="Times New Roman"/>
                <a:ea typeface="Times New Roman"/>
                <a:cs typeface="Times New Roman"/>
                <a:sym typeface="Times New Roman"/>
              </a:rPr>
              <a:t>∗, ×&gt; is a cyclic group with two generators,</a:t>
            </a:r>
            <a:br>
              <a:rPr b="1" i="0" lang="en-US" sz="2400" u="none">
                <a:solidFill>
                  <a:schemeClr val="dk1"/>
                </a:solidFill>
                <a:latin typeface="Times New Roman"/>
                <a:ea typeface="Times New Roman"/>
                <a:cs typeface="Times New Roman"/>
                <a:sym typeface="Times New Roman"/>
              </a:rPr>
            </a:b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g</a:t>
            </a:r>
            <a:r>
              <a:rPr b="1" i="0" lang="en-US" sz="2400" u="none">
                <a:solidFill>
                  <a:schemeClr val="dk1"/>
                </a:solidFill>
                <a:latin typeface="Times New Roman"/>
                <a:ea typeface="Times New Roman"/>
                <a:cs typeface="Times New Roman"/>
                <a:sym typeface="Times New Roman"/>
              </a:rPr>
              <a:t> = 3 and </a:t>
            </a:r>
            <a:r>
              <a:rPr b="1" i="1" lang="en-US" sz="2400" u="none">
                <a:solidFill>
                  <a:schemeClr val="dk1"/>
                </a:solidFill>
                <a:latin typeface="Times New Roman"/>
                <a:ea typeface="Times New Roman"/>
                <a:cs typeface="Times New Roman"/>
                <a:sym typeface="Times New Roman"/>
              </a:rPr>
              <a:t>g</a:t>
            </a:r>
            <a:r>
              <a:rPr b="1" i="0" lang="en-US" sz="2400" u="none">
                <a:solidFill>
                  <a:schemeClr val="dk1"/>
                </a:solidFill>
                <a:latin typeface="Times New Roman"/>
                <a:ea typeface="Times New Roman"/>
                <a:cs typeface="Times New Roman"/>
                <a:sym typeface="Times New Roman"/>
              </a:rPr>
              <a:t> = 7.</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372" name="Google Shape;372;p1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73" name="Google Shape;373;p1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74" name="Google Shape;374;p1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75" name="Google Shape;375;p1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76" name="Google Shape;376;p1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77" name="Google Shape;377;p1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78" name="Google Shape;378;p1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79" name="Google Shape;379;p19"/>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380" name="Google Shape;380;p19"/>
          <p:cNvSpPr txBox="1"/>
          <p:nvPr/>
        </p:nvSpPr>
        <p:spPr>
          <a:xfrm>
            <a:off x="228600" y="1233487"/>
            <a:ext cx="337185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Lagrange’s Theorem</a:t>
            </a:r>
            <a:endParaRPr/>
          </a:p>
        </p:txBody>
      </p:sp>
      <p:sp>
        <p:nvSpPr>
          <p:cNvPr id="381" name="Google Shape;381;p19"/>
          <p:cNvSpPr txBox="1"/>
          <p:nvPr/>
        </p:nvSpPr>
        <p:spPr>
          <a:xfrm>
            <a:off x="228600" y="1827212"/>
            <a:ext cx="8839200" cy="137318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Assume that G is a group, and H is a subgroup of G. If the order of G and H are |G| and |H|, respectively, then, based on this theorem, </a:t>
            </a:r>
            <a:r>
              <a:rPr b="1" i="0" lang="en-US" sz="2800" u="none">
                <a:solidFill>
                  <a:schemeClr val="hlink"/>
                </a:solidFill>
                <a:latin typeface="Times New Roman"/>
                <a:ea typeface="Times New Roman"/>
                <a:cs typeface="Times New Roman"/>
                <a:sym typeface="Times New Roman"/>
              </a:rPr>
              <a:t>|H| divides |G|</a:t>
            </a:r>
            <a:r>
              <a:rPr b="1" i="0" lang="en-US" sz="2800" u="none">
                <a:solidFill>
                  <a:schemeClr val="dk1"/>
                </a:solidFill>
                <a:latin typeface="Times New Roman"/>
                <a:ea typeface="Times New Roman"/>
                <a:cs typeface="Times New Roman"/>
                <a:sym typeface="Times New Roman"/>
              </a:rPr>
              <a:t>. </a:t>
            </a:r>
            <a:endParaRPr/>
          </a:p>
        </p:txBody>
      </p:sp>
      <p:sp>
        <p:nvSpPr>
          <p:cNvPr id="382" name="Google Shape;382;p19"/>
          <p:cNvSpPr txBox="1"/>
          <p:nvPr/>
        </p:nvSpPr>
        <p:spPr>
          <a:xfrm>
            <a:off x="171450" y="3822700"/>
            <a:ext cx="333375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Order of an Element</a:t>
            </a:r>
            <a:endParaRPr/>
          </a:p>
        </p:txBody>
      </p:sp>
      <p:sp>
        <p:nvSpPr>
          <p:cNvPr id="383" name="Google Shape;383;p19"/>
          <p:cNvSpPr txBox="1"/>
          <p:nvPr/>
        </p:nvSpPr>
        <p:spPr>
          <a:xfrm>
            <a:off x="152400" y="4387850"/>
            <a:ext cx="88392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The order of an element is the order of the cyclic group it generates.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390" name="Google Shape;390;p2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91" name="Google Shape;391;p2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92" name="Google Shape;392;p2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93" name="Google Shape;393;p2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94" name="Google Shape;394;p2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95" name="Google Shape;395;p2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96" name="Google Shape;396;p2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397" name="Google Shape;397;p20"/>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398" name="Google Shape;398;p20"/>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4.10</a:t>
            </a:r>
            <a:endParaRPr/>
          </a:p>
        </p:txBody>
      </p:sp>
      <p:sp>
        <p:nvSpPr>
          <p:cNvPr id="399" name="Google Shape;399;p20"/>
          <p:cNvSpPr txBox="1"/>
          <p:nvPr/>
        </p:nvSpPr>
        <p:spPr>
          <a:xfrm>
            <a:off x="152400" y="1217612"/>
            <a:ext cx="8839200" cy="2633662"/>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a. In the group G = &lt;Z</a:t>
            </a:r>
            <a:r>
              <a:rPr b="1" baseline="-25000" i="0" lang="en-US" sz="2400" u="none">
                <a:solidFill>
                  <a:schemeClr val="dk1"/>
                </a:solidFill>
                <a:latin typeface="Times New Roman"/>
                <a:ea typeface="Times New Roman"/>
                <a:cs typeface="Times New Roman"/>
                <a:sym typeface="Times New Roman"/>
              </a:rPr>
              <a:t>6</a:t>
            </a:r>
            <a:r>
              <a:rPr b="1" i="0" lang="en-US" sz="2400" u="none">
                <a:solidFill>
                  <a:schemeClr val="dk1"/>
                </a:solidFill>
                <a:latin typeface="Times New Roman"/>
                <a:ea typeface="Times New Roman"/>
                <a:cs typeface="Times New Roman"/>
                <a:sym typeface="Times New Roman"/>
              </a:rPr>
              <a:t>, +&gt;, the orders of the elements are: </a:t>
            </a:r>
            <a:br>
              <a:rPr b="1" i="0" lang="en-US" sz="2400" u="none">
                <a:solidFill>
                  <a:schemeClr val="dk1"/>
                </a:solidFill>
                <a:latin typeface="Times New Roman"/>
                <a:ea typeface="Times New Roman"/>
                <a:cs typeface="Times New Roman"/>
                <a:sym typeface="Times New Roman"/>
              </a:rPr>
            </a:br>
            <a:r>
              <a:rPr b="1" i="0" lang="en-US" sz="2400" u="none">
                <a:solidFill>
                  <a:schemeClr val="dk1"/>
                </a:solidFill>
                <a:latin typeface="Times New Roman"/>
                <a:ea typeface="Times New Roman"/>
                <a:cs typeface="Times New Roman"/>
                <a:sym typeface="Times New Roman"/>
              </a:rPr>
              <a:t>     ord(0) = 1, ord(1) = 6, ord(2) = 3,  ord(3) = 2, ord(4) = 3, </a:t>
            </a:r>
            <a:br>
              <a:rPr b="1" i="0" lang="en-US" sz="2400" u="none">
                <a:solidFill>
                  <a:schemeClr val="dk1"/>
                </a:solidFill>
                <a:latin typeface="Times New Roman"/>
                <a:ea typeface="Times New Roman"/>
                <a:cs typeface="Times New Roman"/>
                <a:sym typeface="Times New Roman"/>
              </a:rPr>
            </a:br>
            <a:r>
              <a:rPr b="1" i="0" lang="en-US" sz="2400" u="none">
                <a:solidFill>
                  <a:schemeClr val="dk1"/>
                </a:solidFill>
                <a:latin typeface="Times New Roman"/>
                <a:ea typeface="Times New Roman"/>
                <a:cs typeface="Times New Roman"/>
                <a:sym typeface="Times New Roman"/>
              </a:rPr>
              <a:t>     ord(5) = 6.</a:t>
            </a:r>
            <a:endParaRPr/>
          </a:p>
          <a:p>
            <a:pPr indent="0" lvl="0" marL="0" marR="0" rtl="0" algn="just">
              <a:lnSpc>
                <a:spcPct val="125000"/>
              </a:lnSpc>
              <a:spcBef>
                <a:spcPts val="16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b. In the group G = &lt;Z</a:t>
            </a:r>
            <a:r>
              <a:rPr b="1" baseline="-25000" i="0" lang="en-US" sz="2400" u="none">
                <a:solidFill>
                  <a:schemeClr val="dk1"/>
                </a:solidFill>
                <a:latin typeface="Times New Roman"/>
                <a:ea typeface="Times New Roman"/>
                <a:cs typeface="Times New Roman"/>
                <a:sym typeface="Times New Roman"/>
              </a:rPr>
              <a:t>10</a:t>
            </a:r>
            <a:r>
              <a:rPr b="1" i="0" lang="en-US" sz="2400" u="none">
                <a:solidFill>
                  <a:schemeClr val="dk1"/>
                </a:solidFill>
                <a:latin typeface="Times New Roman"/>
                <a:ea typeface="Times New Roman"/>
                <a:cs typeface="Times New Roman"/>
                <a:sym typeface="Times New Roman"/>
              </a:rPr>
              <a:t>*, ×&gt;, the orders of the elements are:</a:t>
            </a:r>
            <a:br>
              <a:rPr b="1" i="0" lang="en-US" sz="2400" u="none">
                <a:solidFill>
                  <a:schemeClr val="dk1"/>
                </a:solidFill>
                <a:latin typeface="Times New Roman"/>
                <a:ea typeface="Times New Roman"/>
                <a:cs typeface="Times New Roman"/>
                <a:sym typeface="Times New Roman"/>
              </a:rPr>
            </a:br>
            <a:r>
              <a:rPr b="1" i="0" lang="en-US" sz="2400" u="none">
                <a:solidFill>
                  <a:schemeClr val="dk1"/>
                </a:solidFill>
                <a:latin typeface="Times New Roman"/>
                <a:ea typeface="Times New Roman"/>
                <a:cs typeface="Times New Roman"/>
                <a:sym typeface="Times New Roman"/>
              </a:rPr>
              <a:t>     ord(1) = 1, ord(3) = 4, ord(7) = 4, ord(9) = 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406" name="Google Shape;406;p2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07" name="Google Shape;407;p2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08" name="Google Shape;408;p2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09" name="Google Shape;409;p2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10" name="Google Shape;410;p2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11" name="Google Shape;411;p2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12" name="Google Shape;412;p2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13" name="Google Shape;413;p21"/>
          <p:cNvSpPr txBox="1"/>
          <p:nvPr/>
        </p:nvSpPr>
        <p:spPr>
          <a:xfrm>
            <a:off x="1143000" y="0"/>
            <a:ext cx="231775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4.1.2     Ring</a:t>
            </a:r>
            <a:endParaRPr/>
          </a:p>
        </p:txBody>
      </p:sp>
      <p:sp>
        <p:nvSpPr>
          <p:cNvPr id="414" name="Google Shape;414;p21"/>
          <p:cNvSpPr txBox="1"/>
          <p:nvPr/>
        </p:nvSpPr>
        <p:spPr>
          <a:xfrm>
            <a:off x="152400" y="1066800"/>
            <a:ext cx="88392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A ring, R = &lt;{…}, •,  &gt;, is an algebraic structure with two operations. </a:t>
            </a:r>
            <a:endParaRPr/>
          </a:p>
        </p:txBody>
      </p:sp>
      <p:pic>
        <p:nvPicPr>
          <p:cNvPr id="415" name="Google Shape;415;p21"/>
          <p:cNvPicPr preferRelativeResize="0"/>
          <p:nvPr/>
        </p:nvPicPr>
        <p:blipFill rotWithShape="1">
          <a:blip r:embed="rId3">
            <a:alphaModFix/>
          </a:blip>
          <a:srcRect b="0" l="0" r="0" t="0"/>
          <a:stretch/>
        </p:blipFill>
        <p:spPr>
          <a:xfrm>
            <a:off x="1106487" y="3008312"/>
            <a:ext cx="7504112" cy="3240087"/>
          </a:xfrm>
          <a:prstGeom prst="rect">
            <a:avLst/>
          </a:prstGeom>
          <a:noFill/>
          <a:ln>
            <a:noFill/>
          </a:ln>
        </p:spPr>
      </p:pic>
      <p:sp>
        <p:nvSpPr>
          <p:cNvPr id="416" name="Google Shape;416;p21"/>
          <p:cNvSpPr txBox="1"/>
          <p:nvPr/>
        </p:nvSpPr>
        <p:spPr>
          <a:xfrm>
            <a:off x="2636837" y="2133600"/>
            <a:ext cx="21637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4.4  </a:t>
            </a:r>
            <a:r>
              <a:rPr b="1" i="1" lang="en-US" sz="2000" u="none">
                <a:solidFill>
                  <a:schemeClr val="dk1"/>
                </a:solidFill>
                <a:latin typeface="Times New Roman"/>
                <a:ea typeface="Times New Roman"/>
                <a:cs typeface="Times New Roman"/>
                <a:sym typeface="Times New Roman"/>
              </a:rPr>
              <a:t>Ring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423" name="Google Shape;423;p2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24" name="Google Shape;424;p2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25" name="Google Shape;425;p2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26" name="Google Shape;426;p2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27" name="Google Shape;427;p2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28" name="Google Shape;428;p2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29" name="Google Shape;429;p2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30" name="Google Shape;430;p22"/>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4.1.2</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431" name="Google Shape;431;p22"/>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4.11</a:t>
            </a:r>
            <a:endParaRPr/>
          </a:p>
        </p:txBody>
      </p:sp>
      <p:sp>
        <p:nvSpPr>
          <p:cNvPr id="432" name="Google Shape;432;p22"/>
          <p:cNvSpPr txBox="1"/>
          <p:nvPr/>
        </p:nvSpPr>
        <p:spPr>
          <a:xfrm>
            <a:off x="152400" y="1219200"/>
            <a:ext cx="8839200" cy="19208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set Z with two operations, addition and multiplication, is a commutative ring. We show it by R = &lt;Z, +, ×&gt;. Addition satisfies all of the five properties; multiplication satisfies only three properties.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439" name="Google Shape;439;p2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40" name="Google Shape;440;p2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41" name="Google Shape;441;p2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42" name="Google Shape;442;p2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43" name="Google Shape;443;p2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44" name="Google Shape;444;p2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45" name="Google Shape;445;p2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46" name="Google Shape;446;p23"/>
          <p:cNvSpPr txBox="1"/>
          <p:nvPr/>
        </p:nvSpPr>
        <p:spPr>
          <a:xfrm>
            <a:off x="1143000" y="0"/>
            <a:ext cx="23860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4.1.3     Field</a:t>
            </a:r>
            <a:endParaRPr/>
          </a:p>
        </p:txBody>
      </p:sp>
      <p:sp>
        <p:nvSpPr>
          <p:cNvPr id="447" name="Google Shape;447;p23"/>
          <p:cNvSpPr txBox="1"/>
          <p:nvPr/>
        </p:nvSpPr>
        <p:spPr>
          <a:xfrm>
            <a:off x="152400" y="1066800"/>
            <a:ext cx="8839200" cy="18002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A field, denoted by F = &lt;{…}, •,  &gt; is a commutative ring in which the second operation satisfies all five properties defined for the first operation except that the identity of the first operation has no inverse. </a:t>
            </a:r>
            <a:endParaRPr/>
          </a:p>
        </p:txBody>
      </p:sp>
      <p:pic>
        <p:nvPicPr>
          <p:cNvPr id="448" name="Google Shape;448;p23"/>
          <p:cNvPicPr preferRelativeResize="0"/>
          <p:nvPr/>
        </p:nvPicPr>
        <p:blipFill rotWithShape="1">
          <a:blip r:embed="rId3">
            <a:alphaModFix/>
          </a:blip>
          <a:srcRect b="0" l="0" r="0" t="0"/>
          <a:stretch/>
        </p:blipFill>
        <p:spPr>
          <a:xfrm>
            <a:off x="828675" y="3633787"/>
            <a:ext cx="7705725" cy="3224212"/>
          </a:xfrm>
          <a:prstGeom prst="rect">
            <a:avLst/>
          </a:prstGeom>
          <a:noFill/>
          <a:ln>
            <a:noFill/>
          </a:ln>
        </p:spPr>
      </p:pic>
      <p:sp>
        <p:nvSpPr>
          <p:cNvPr id="449" name="Google Shape;449;p23"/>
          <p:cNvSpPr txBox="1"/>
          <p:nvPr/>
        </p:nvSpPr>
        <p:spPr>
          <a:xfrm>
            <a:off x="2286000" y="3048000"/>
            <a:ext cx="22050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4.5  </a:t>
            </a:r>
            <a:r>
              <a:rPr b="1" i="1" lang="en-US" sz="2000" u="none">
                <a:solidFill>
                  <a:schemeClr val="dk1"/>
                </a:solidFill>
                <a:latin typeface="Times New Roman"/>
                <a:ea typeface="Times New Roman"/>
                <a:cs typeface="Times New Roman"/>
                <a:sym typeface="Times New Roman"/>
              </a:rPr>
              <a:t>Field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456" name="Google Shape;456;p2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57" name="Google Shape;457;p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58" name="Google Shape;458;p2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59" name="Google Shape;459;p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60" name="Google Shape;460;p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61" name="Google Shape;461;p2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62" name="Google Shape;462;p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63" name="Google Shape;463;p2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4.1.3</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464" name="Google Shape;464;p24"/>
          <p:cNvSpPr txBox="1"/>
          <p:nvPr/>
        </p:nvSpPr>
        <p:spPr>
          <a:xfrm>
            <a:off x="152400" y="1219200"/>
            <a:ext cx="8839200" cy="137318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Galois showed that for a field to be finite, the number of elements should be </a:t>
            </a:r>
            <a:r>
              <a:rPr b="1" i="1" lang="en-US" sz="2800" u="none">
                <a:solidFill>
                  <a:schemeClr val="dk1"/>
                </a:solidFill>
                <a:latin typeface="Times New Roman"/>
                <a:ea typeface="Times New Roman"/>
                <a:cs typeface="Times New Roman"/>
                <a:sym typeface="Times New Roman"/>
              </a:rPr>
              <a:t>p</a:t>
            </a:r>
            <a:r>
              <a:rPr b="1" baseline="30000" i="1" lang="en-US" sz="28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 where </a:t>
            </a:r>
            <a:r>
              <a:rPr b="1" i="1" lang="en-US" sz="2800" u="none">
                <a:solidFill>
                  <a:schemeClr val="dk1"/>
                </a:solidFill>
                <a:latin typeface="Times New Roman"/>
                <a:ea typeface="Times New Roman"/>
                <a:cs typeface="Times New Roman"/>
                <a:sym typeface="Times New Roman"/>
              </a:rPr>
              <a:t>p</a:t>
            </a:r>
            <a:r>
              <a:rPr b="1" i="0" lang="en-US" sz="2800" u="none">
                <a:solidFill>
                  <a:schemeClr val="dk1"/>
                </a:solidFill>
                <a:latin typeface="Times New Roman"/>
                <a:ea typeface="Times New Roman"/>
                <a:cs typeface="Times New Roman"/>
                <a:sym typeface="Times New Roman"/>
              </a:rPr>
              <a:t> is a prime and </a:t>
            </a:r>
            <a:r>
              <a:rPr b="1" i="1" lang="en-US" sz="28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 is a positive integer. </a:t>
            </a:r>
            <a:endParaRPr/>
          </a:p>
        </p:txBody>
      </p:sp>
      <p:sp>
        <p:nvSpPr>
          <p:cNvPr id="465" name="Google Shape;465;p24"/>
          <p:cNvSpPr txBox="1"/>
          <p:nvPr/>
        </p:nvSpPr>
        <p:spPr>
          <a:xfrm>
            <a:off x="1147762" y="533400"/>
            <a:ext cx="18748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Finite Fields </a:t>
            </a:r>
            <a:endParaRPr/>
          </a:p>
        </p:txBody>
      </p:sp>
      <p:cxnSp>
        <p:nvCxnSpPr>
          <p:cNvPr id="466" name="Google Shape;466;p24"/>
          <p:cNvCxnSpPr/>
          <p:nvPr/>
        </p:nvCxnSpPr>
        <p:spPr>
          <a:xfrm>
            <a:off x="457200" y="4038600"/>
            <a:ext cx="8153400" cy="0"/>
          </a:xfrm>
          <a:prstGeom prst="straightConnector1">
            <a:avLst/>
          </a:prstGeom>
          <a:noFill/>
          <a:ln cap="flat" cmpd="sng" w="76200">
            <a:solidFill>
              <a:srgbClr val="009900"/>
            </a:solidFill>
            <a:prstDash val="solid"/>
            <a:miter lim="800000"/>
            <a:headEnd len="med" w="med" type="none"/>
            <a:tailEnd len="med" w="med" type="none"/>
          </a:ln>
        </p:spPr>
      </p:cxnSp>
      <p:cxnSp>
        <p:nvCxnSpPr>
          <p:cNvPr id="467" name="Google Shape;467;p24"/>
          <p:cNvCxnSpPr/>
          <p:nvPr/>
        </p:nvCxnSpPr>
        <p:spPr>
          <a:xfrm>
            <a:off x="458787" y="5257800"/>
            <a:ext cx="8153400" cy="0"/>
          </a:xfrm>
          <a:prstGeom prst="straightConnector1">
            <a:avLst/>
          </a:prstGeom>
          <a:noFill/>
          <a:ln cap="flat" cmpd="sng" w="76200">
            <a:solidFill>
              <a:srgbClr val="009900"/>
            </a:solidFill>
            <a:prstDash val="solid"/>
            <a:miter lim="800000"/>
            <a:headEnd len="med" w="med" type="none"/>
            <a:tailEnd len="med" w="med" type="none"/>
          </a:ln>
        </p:spPr>
      </p:cxnSp>
      <p:sp>
        <p:nvSpPr>
          <p:cNvPr id="468" name="Google Shape;468;p24"/>
          <p:cNvSpPr txBox="1"/>
          <p:nvPr/>
        </p:nvSpPr>
        <p:spPr>
          <a:xfrm>
            <a:off x="495300" y="41306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A Galois field, GF(</a:t>
            </a:r>
            <a:r>
              <a:rPr b="1" i="1" lang="en-US" sz="3200" u="none">
                <a:solidFill>
                  <a:schemeClr val="dk1"/>
                </a:solidFill>
                <a:latin typeface="Arial"/>
                <a:ea typeface="Arial"/>
                <a:cs typeface="Arial"/>
                <a:sym typeface="Arial"/>
              </a:rPr>
              <a:t>p</a:t>
            </a:r>
            <a:r>
              <a:rPr b="1" baseline="30000" i="1" lang="en-US" sz="3200" u="none">
                <a:solidFill>
                  <a:schemeClr val="dk1"/>
                </a:solidFill>
                <a:latin typeface="Arial"/>
                <a:ea typeface="Arial"/>
                <a:cs typeface="Arial"/>
                <a:sym typeface="Arial"/>
              </a:rPr>
              <a:t>n</a:t>
            </a:r>
            <a:r>
              <a:rPr b="1" i="0" lang="en-US" sz="3200" u="none">
                <a:solidFill>
                  <a:schemeClr val="dk1"/>
                </a:solidFill>
                <a:latin typeface="Arial"/>
                <a:ea typeface="Arial"/>
                <a:cs typeface="Arial"/>
                <a:sym typeface="Arial"/>
              </a:rPr>
              <a:t>), is a finite field with </a:t>
            </a:r>
            <a:r>
              <a:rPr b="1" i="1" lang="en-US" sz="3200" u="none">
                <a:solidFill>
                  <a:schemeClr val="dk1"/>
                </a:solidFill>
                <a:latin typeface="Arial"/>
                <a:ea typeface="Arial"/>
                <a:cs typeface="Arial"/>
                <a:sym typeface="Arial"/>
              </a:rPr>
              <a:t>p</a:t>
            </a:r>
            <a:r>
              <a:rPr b="1" baseline="30000" i="1" lang="en-US" sz="3200" u="none">
                <a:solidFill>
                  <a:schemeClr val="dk1"/>
                </a:solidFill>
                <a:latin typeface="Arial"/>
                <a:ea typeface="Arial"/>
                <a:cs typeface="Arial"/>
                <a:sym typeface="Arial"/>
              </a:rPr>
              <a:t>n</a:t>
            </a:r>
            <a:r>
              <a:rPr b="1" i="0" lang="en-US" sz="3200" u="none">
                <a:solidFill>
                  <a:schemeClr val="dk1"/>
                </a:solidFill>
                <a:latin typeface="Arial"/>
                <a:ea typeface="Arial"/>
                <a:cs typeface="Arial"/>
                <a:sym typeface="Arial"/>
              </a:rPr>
              <a:t> elements.</a:t>
            </a:r>
            <a:endParaRPr/>
          </a:p>
        </p:txBody>
      </p:sp>
      <p:grpSp>
        <p:nvGrpSpPr>
          <p:cNvPr id="469" name="Google Shape;469;p24"/>
          <p:cNvGrpSpPr/>
          <p:nvPr/>
        </p:nvGrpSpPr>
        <p:grpSpPr>
          <a:xfrm>
            <a:off x="457200" y="3429000"/>
            <a:ext cx="1143000" cy="566737"/>
            <a:chOff x="1200" y="1248"/>
            <a:chExt cx="720" cy="357"/>
          </a:xfrm>
        </p:grpSpPr>
        <p:pic>
          <p:nvPicPr>
            <p:cNvPr id="470" name="Google Shape;470;p2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71" name="Google Shape;471;p2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478" name="Google Shape;478;p2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79" name="Google Shape;479;p2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80" name="Google Shape;480;p2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81" name="Google Shape;481;p2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82" name="Google Shape;482;p2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83" name="Google Shape;483;p2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84" name="Google Shape;484;p2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85" name="Google Shape;485;p2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4.1.3</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486" name="Google Shape;486;p25"/>
          <p:cNvSpPr txBox="1"/>
          <p:nvPr/>
        </p:nvSpPr>
        <p:spPr>
          <a:xfrm>
            <a:off x="152400" y="1279525"/>
            <a:ext cx="88392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When </a:t>
            </a:r>
            <a:r>
              <a:rPr b="1" i="1" lang="en-US" sz="28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 = 1, we have GF(</a:t>
            </a:r>
            <a:r>
              <a:rPr b="1" i="1" lang="en-US" sz="2800" u="none">
                <a:solidFill>
                  <a:schemeClr val="dk1"/>
                </a:solidFill>
                <a:latin typeface="Times New Roman"/>
                <a:ea typeface="Times New Roman"/>
                <a:cs typeface="Times New Roman"/>
                <a:sym typeface="Times New Roman"/>
              </a:rPr>
              <a:t>p</a:t>
            </a:r>
            <a:r>
              <a:rPr b="1" i="0" lang="en-US" sz="2800" u="none">
                <a:solidFill>
                  <a:schemeClr val="dk1"/>
                </a:solidFill>
                <a:latin typeface="Times New Roman"/>
                <a:ea typeface="Times New Roman"/>
                <a:cs typeface="Times New Roman"/>
                <a:sym typeface="Times New Roman"/>
              </a:rPr>
              <a:t>) field. This field can be the set Z</a:t>
            </a:r>
            <a:r>
              <a:rPr b="1" baseline="-25000" i="1" lang="en-US" sz="2800" u="none">
                <a:solidFill>
                  <a:schemeClr val="dk1"/>
                </a:solidFill>
                <a:latin typeface="Times New Roman"/>
                <a:ea typeface="Times New Roman"/>
                <a:cs typeface="Times New Roman"/>
                <a:sym typeface="Times New Roman"/>
              </a:rPr>
              <a:t>p</a:t>
            </a:r>
            <a:r>
              <a:rPr b="1" i="0" lang="en-US" sz="2800" u="none">
                <a:solidFill>
                  <a:schemeClr val="dk1"/>
                </a:solidFill>
                <a:latin typeface="Times New Roman"/>
                <a:ea typeface="Times New Roman"/>
                <a:cs typeface="Times New Roman"/>
                <a:sym typeface="Times New Roman"/>
              </a:rPr>
              <a:t>, {0, 1, …, p − 1}, with two arithmetic operations.</a:t>
            </a:r>
            <a:endParaRPr/>
          </a:p>
        </p:txBody>
      </p:sp>
      <p:sp>
        <p:nvSpPr>
          <p:cNvPr id="487" name="Google Shape;487;p25"/>
          <p:cNvSpPr txBox="1"/>
          <p:nvPr/>
        </p:nvSpPr>
        <p:spPr>
          <a:xfrm>
            <a:off x="1147762" y="533400"/>
            <a:ext cx="18161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GF(</a:t>
            </a:r>
            <a:r>
              <a:rPr b="1" i="1" lang="en-US" sz="2400" u="none">
                <a:solidFill>
                  <a:schemeClr val="folHlink"/>
                </a:solidFill>
                <a:latin typeface="Times New Roman"/>
                <a:ea typeface="Times New Roman"/>
                <a:cs typeface="Times New Roman"/>
                <a:sym typeface="Times New Roman"/>
              </a:rPr>
              <a:t>p</a:t>
            </a:r>
            <a:r>
              <a:rPr b="1" i="0" lang="en-US" sz="2400" u="none">
                <a:solidFill>
                  <a:schemeClr val="folHlink"/>
                </a:solidFill>
                <a:latin typeface="Times New Roman"/>
                <a:ea typeface="Times New Roman"/>
                <a:cs typeface="Times New Roman"/>
                <a:sym typeface="Times New Roman"/>
              </a:rPr>
              <a:t>) Fields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494" name="Google Shape;494;p2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95" name="Google Shape;495;p2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96" name="Google Shape;496;p2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97" name="Google Shape;497;p2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98" name="Google Shape;498;p2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499" name="Google Shape;499;p2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00" name="Google Shape;500;p2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01" name="Google Shape;501;p2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4.1.2</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502" name="Google Shape;502;p26"/>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4.12</a:t>
            </a:r>
            <a:endParaRPr/>
          </a:p>
        </p:txBody>
      </p:sp>
      <p:sp>
        <p:nvSpPr>
          <p:cNvPr id="503" name="Google Shape;503;p26"/>
          <p:cNvSpPr txBox="1"/>
          <p:nvPr/>
        </p:nvSpPr>
        <p:spPr>
          <a:xfrm>
            <a:off x="152400" y="1143000"/>
            <a:ext cx="8839200" cy="14636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A very common field in this category is GF(2) with the set {0, 1} and two operations, addition and multiplication, as shown in Figure 4.6.</a:t>
            </a:r>
            <a:endParaRPr/>
          </a:p>
        </p:txBody>
      </p:sp>
      <p:pic>
        <p:nvPicPr>
          <p:cNvPr id="504" name="Google Shape;504;p26"/>
          <p:cNvPicPr preferRelativeResize="0"/>
          <p:nvPr/>
        </p:nvPicPr>
        <p:blipFill rotWithShape="1">
          <a:blip r:embed="rId3">
            <a:alphaModFix/>
          </a:blip>
          <a:srcRect b="0" l="0" r="0" t="0"/>
          <a:stretch/>
        </p:blipFill>
        <p:spPr>
          <a:xfrm>
            <a:off x="258762" y="4025900"/>
            <a:ext cx="8656637" cy="1460500"/>
          </a:xfrm>
          <a:prstGeom prst="rect">
            <a:avLst/>
          </a:prstGeom>
          <a:noFill/>
          <a:ln>
            <a:noFill/>
          </a:ln>
        </p:spPr>
      </p:pic>
      <p:sp>
        <p:nvSpPr>
          <p:cNvPr id="505" name="Google Shape;505;p26"/>
          <p:cNvSpPr txBox="1"/>
          <p:nvPr/>
        </p:nvSpPr>
        <p:spPr>
          <a:xfrm>
            <a:off x="2959100" y="3200400"/>
            <a:ext cx="28321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4.6  </a:t>
            </a:r>
            <a:r>
              <a:rPr b="1" i="1" lang="en-US" sz="2000" u="none">
                <a:solidFill>
                  <a:schemeClr val="dk1"/>
                </a:solidFill>
                <a:latin typeface="Times New Roman"/>
                <a:ea typeface="Times New Roman"/>
                <a:cs typeface="Times New Roman"/>
                <a:sym typeface="Times New Roman"/>
              </a:rPr>
              <a:t>GF(2) field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512" name="Google Shape;512;p2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13" name="Google Shape;513;p2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14" name="Google Shape;514;p2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15" name="Google Shape;515;p2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16" name="Google Shape;516;p2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17" name="Google Shape;517;p2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18" name="Google Shape;518;p2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19" name="Google Shape;519;p2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4.1.2</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520" name="Google Shape;520;p27"/>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4.13</a:t>
            </a:r>
            <a:endParaRPr/>
          </a:p>
        </p:txBody>
      </p:sp>
      <p:sp>
        <p:nvSpPr>
          <p:cNvPr id="521" name="Google Shape;521;p27"/>
          <p:cNvSpPr txBox="1"/>
          <p:nvPr/>
        </p:nvSpPr>
        <p:spPr>
          <a:xfrm>
            <a:off x="152400" y="1371600"/>
            <a:ext cx="8839200" cy="10064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We can define GF(5) on the set Z</a:t>
            </a:r>
            <a:r>
              <a:rPr b="1" baseline="-25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(5 is a prime) with addition and multiplication operators as shown in Figure 4.7.</a:t>
            </a:r>
            <a:endParaRPr/>
          </a:p>
        </p:txBody>
      </p:sp>
      <p:pic>
        <p:nvPicPr>
          <p:cNvPr id="522" name="Google Shape;522;p27"/>
          <p:cNvPicPr preferRelativeResize="0"/>
          <p:nvPr/>
        </p:nvPicPr>
        <p:blipFill rotWithShape="1">
          <a:blip r:embed="rId3">
            <a:alphaModFix/>
          </a:blip>
          <a:srcRect b="0" l="0" r="0" t="0"/>
          <a:stretch/>
        </p:blipFill>
        <p:spPr>
          <a:xfrm>
            <a:off x="152400" y="3962400"/>
            <a:ext cx="8948737" cy="2011362"/>
          </a:xfrm>
          <a:prstGeom prst="rect">
            <a:avLst/>
          </a:prstGeom>
          <a:noFill/>
          <a:ln>
            <a:noFill/>
          </a:ln>
        </p:spPr>
      </p:pic>
      <p:sp>
        <p:nvSpPr>
          <p:cNvPr id="523" name="Google Shape;523;p27"/>
          <p:cNvSpPr txBox="1"/>
          <p:nvPr/>
        </p:nvSpPr>
        <p:spPr>
          <a:xfrm>
            <a:off x="3111500" y="2895600"/>
            <a:ext cx="28321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4.7  </a:t>
            </a:r>
            <a:r>
              <a:rPr b="1" i="1" lang="en-US" sz="2000" u="none">
                <a:solidFill>
                  <a:schemeClr val="dk1"/>
                </a:solidFill>
                <a:latin typeface="Times New Roman"/>
                <a:ea typeface="Times New Roman"/>
                <a:cs typeface="Times New Roman"/>
                <a:sym typeface="Times New Roman"/>
              </a:rPr>
              <a:t>GF(5) field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530" name="Google Shape;530;p2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31" name="Google Shape;531;p2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32" name="Google Shape;532;p2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33" name="Google Shape;533;p2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34" name="Google Shape;534;p2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35" name="Google Shape;535;p2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36" name="Google Shape;536;p2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37" name="Google Shape;537;p28"/>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4.1.3</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538" name="Google Shape;538;p28"/>
          <p:cNvSpPr txBox="1"/>
          <p:nvPr/>
        </p:nvSpPr>
        <p:spPr>
          <a:xfrm>
            <a:off x="2133600" y="1919287"/>
            <a:ext cx="502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folHlink"/>
              </a:buClr>
              <a:buSzPts val="2800"/>
              <a:buFont typeface="Times New Roman"/>
              <a:buNone/>
            </a:pPr>
            <a:r>
              <a:rPr b="1" i="0" lang="en-US" sz="2800" u="none">
                <a:solidFill>
                  <a:schemeClr val="folHlink"/>
                </a:solidFill>
                <a:latin typeface="Times New Roman"/>
                <a:ea typeface="Times New Roman"/>
                <a:cs typeface="Times New Roman"/>
                <a:sym typeface="Times New Roman"/>
              </a:rPr>
              <a:t>Table 4.3</a:t>
            </a:r>
            <a:r>
              <a:rPr b="1" i="0" lang="en-US" sz="2800" u="none">
                <a:solidFill>
                  <a:schemeClr val="dk1"/>
                </a:solidFill>
                <a:latin typeface="Times New Roman"/>
                <a:ea typeface="Times New Roman"/>
                <a:cs typeface="Times New Roman"/>
                <a:sym typeface="Times New Roman"/>
              </a:rPr>
              <a:t>    Summary</a:t>
            </a:r>
            <a:endParaRPr/>
          </a:p>
        </p:txBody>
      </p:sp>
      <p:sp>
        <p:nvSpPr>
          <p:cNvPr id="539" name="Google Shape;539;p28"/>
          <p:cNvSpPr txBox="1"/>
          <p:nvPr/>
        </p:nvSpPr>
        <p:spPr>
          <a:xfrm>
            <a:off x="1147762" y="533400"/>
            <a:ext cx="1471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Summary</a:t>
            </a:r>
            <a:endParaRPr/>
          </a:p>
        </p:txBody>
      </p:sp>
      <p:pic>
        <p:nvPicPr>
          <p:cNvPr id="540" name="Google Shape;540;p28"/>
          <p:cNvPicPr preferRelativeResize="0"/>
          <p:nvPr/>
        </p:nvPicPr>
        <p:blipFill rotWithShape="1">
          <a:blip r:embed="rId3">
            <a:alphaModFix/>
          </a:blip>
          <a:srcRect b="0" l="0" r="0" t="0"/>
          <a:stretch/>
        </p:blipFill>
        <p:spPr>
          <a:xfrm>
            <a:off x="103187" y="2524125"/>
            <a:ext cx="8812212" cy="27336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547" name="Google Shape;547;p29"/>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48" name="Google Shape;548;p29"/>
          <p:cNvSpPr txBox="1"/>
          <p:nvPr/>
        </p:nvSpPr>
        <p:spPr>
          <a:xfrm>
            <a:off x="228600" y="406400"/>
            <a:ext cx="37846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a:solidFill>
                  <a:schemeClr val="dk1"/>
                </a:solidFill>
                <a:latin typeface="Times"/>
                <a:ea typeface="Times"/>
                <a:cs typeface="Times"/>
                <a:sym typeface="Times"/>
              </a:rPr>
              <a:t>4-2   GF(2</a:t>
            </a:r>
            <a:r>
              <a:rPr b="1" baseline="30000" i="1" lang="en-US" sz="3200" u="none">
                <a:solidFill>
                  <a:schemeClr val="dk1"/>
                </a:solidFill>
                <a:latin typeface="Times"/>
                <a:ea typeface="Times"/>
                <a:cs typeface="Times"/>
                <a:sym typeface="Times"/>
              </a:rPr>
              <a:t>n</a:t>
            </a:r>
            <a:r>
              <a:rPr b="1" i="0" lang="en-US" sz="3200" u="none">
                <a:solidFill>
                  <a:schemeClr val="dk1"/>
                </a:solidFill>
                <a:latin typeface="Times"/>
                <a:ea typeface="Times"/>
                <a:cs typeface="Times"/>
                <a:sym typeface="Times"/>
              </a:rPr>
              <a:t>) FIELDS</a:t>
            </a:r>
            <a:endParaRPr/>
          </a:p>
        </p:txBody>
      </p:sp>
      <p:sp>
        <p:nvSpPr>
          <p:cNvPr id="549" name="Google Shape;549;p29"/>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50" name="Google Shape;550;p29"/>
          <p:cNvSpPr txBox="1"/>
          <p:nvPr/>
        </p:nvSpPr>
        <p:spPr>
          <a:xfrm>
            <a:off x="304800" y="1430337"/>
            <a:ext cx="8229600" cy="222726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cryptography, we often need to use four operations (addition, subtraction, multiplication, and division). In other words, we need to use fields. We can work in GF(2</a:t>
            </a:r>
            <a:r>
              <a:rPr b="1" baseline="30000" i="1" lang="en-US" sz="2800" u="none">
                <a:solidFill>
                  <a:schemeClr val="dk1"/>
                </a:solidFill>
                <a:latin typeface="Times New Roman"/>
                <a:ea typeface="Times New Roman"/>
                <a:cs typeface="Times New Roman"/>
                <a:sym typeface="Times New Roman"/>
              </a:rPr>
              <a:t>n</a:t>
            </a:r>
            <a:r>
              <a:rPr b="1" i="1" lang="en-US" sz="2800" u="none">
                <a:solidFill>
                  <a:schemeClr val="dk1"/>
                </a:solidFill>
                <a:latin typeface="Times New Roman"/>
                <a:ea typeface="Times New Roman"/>
                <a:cs typeface="Times New Roman"/>
                <a:sym typeface="Times New Roman"/>
              </a:rPr>
              <a:t>) and uses a set of 2</a:t>
            </a:r>
            <a:r>
              <a:rPr b="1" baseline="30000" i="1" lang="en-US" sz="2800" u="none">
                <a:solidFill>
                  <a:schemeClr val="dk1"/>
                </a:solidFill>
                <a:latin typeface="Times New Roman"/>
                <a:ea typeface="Times New Roman"/>
                <a:cs typeface="Times New Roman"/>
                <a:sym typeface="Times New Roman"/>
              </a:rPr>
              <a:t>n</a:t>
            </a:r>
            <a:r>
              <a:rPr b="1" i="1" lang="en-US" sz="2800" u="none">
                <a:solidFill>
                  <a:schemeClr val="dk1"/>
                </a:solidFill>
                <a:latin typeface="Times New Roman"/>
                <a:ea typeface="Times New Roman"/>
                <a:cs typeface="Times New Roman"/>
                <a:sym typeface="Times New Roman"/>
              </a:rPr>
              <a:t> elements. The elements in this set are n-bit words. </a:t>
            </a:r>
            <a:endParaRPr/>
          </a:p>
        </p:txBody>
      </p:sp>
      <p:sp>
        <p:nvSpPr>
          <p:cNvPr id="551" name="Google Shape;551;p29"/>
          <p:cNvSpPr txBox="1"/>
          <p:nvPr/>
        </p:nvSpPr>
        <p:spPr>
          <a:xfrm>
            <a:off x="76200" y="4451350"/>
            <a:ext cx="67056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4.2.1 </a:t>
            </a:r>
            <a:r>
              <a:rPr b="1" i="0" lang="en-US" sz="2400" u="none">
                <a:solidFill>
                  <a:srgbClr val="0033CC"/>
                </a:solidFill>
                <a:latin typeface="Times New Roman"/>
                <a:ea typeface="Times New Roman"/>
                <a:cs typeface="Times New Roman"/>
                <a:sym typeface="Times New Roman"/>
              </a:rPr>
              <a:t>  Polynomials</a:t>
            </a:r>
            <a:br>
              <a:rPr b="1" i="0" lang="en-US" sz="2400" u="none">
                <a:solidFill>
                  <a:srgbClr val="0033CC"/>
                </a:solidFill>
                <a:latin typeface="Times New Roman"/>
                <a:ea typeface="Times New Roman"/>
                <a:cs typeface="Times New Roman"/>
                <a:sym typeface="Times New Roman"/>
              </a:rPr>
            </a:br>
            <a:r>
              <a:rPr b="1" i="0" lang="en-US" sz="2400" u="none">
                <a:solidFill>
                  <a:schemeClr val="hlink"/>
                </a:solidFill>
                <a:latin typeface="Times New Roman"/>
                <a:ea typeface="Times New Roman"/>
                <a:cs typeface="Times New Roman"/>
                <a:sym typeface="Times New Roman"/>
              </a:rPr>
              <a:t>4.2.2</a:t>
            </a:r>
            <a:r>
              <a:rPr b="1" i="0" lang="en-US" sz="2400" u="none">
                <a:solidFill>
                  <a:srgbClr val="0033CC"/>
                </a:solidFill>
                <a:latin typeface="Times New Roman"/>
                <a:ea typeface="Times New Roman"/>
                <a:cs typeface="Times New Roman"/>
                <a:sym typeface="Times New Roman"/>
              </a:rPr>
              <a:t>   Using A Generator</a:t>
            </a:r>
            <a:br>
              <a:rPr b="1" i="0" lang="en-US" sz="2400" u="none">
                <a:solidFill>
                  <a:srgbClr val="0033CC"/>
                </a:solidFill>
                <a:latin typeface="Times New Roman"/>
                <a:ea typeface="Times New Roman"/>
                <a:cs typeface="Times New Roman"/>
                <a:sym typeface="Times New Roman"/>
              </a:rPr>
            </a:br>
            <a:r>
              <a:rPr b="1" i="0" lang="en-US" sz="2400" u="none">
                <a:solidFill>
                  <a:schemeClr val="hlink"/>
                </a:solidFill>
                <a:latin typeface="Times New Roman"/>
                <a:ea typeface="Times New Roman"/>
                <a:cs typeface="Times New Roman"/>
                <a:sym typeface="Times New Roman"/>
              </a:rPr>
              <a:t>4.2.3</a:t>
            </a:r>
            <a:r>
              <a:rPr b="1" i="0" lang="en-US" sz="2400" u="none">
                <a:solidFill>
                  <a:srgbClr val="0033CC"/>
                </a:solidFill>
                <a:latin typeface="Times New Roman"/>
                <a:ea typeface="Times New Roman"/>
                <a:cs typeface="Times New Roman"/>
                <a:sym typeface="Times New Roman"/>
              </a:rPr>
              <a:t>   Summary</a:t>
            </a:r>
            <a:endParaRPr/>
          </a:p>
        </p:txBody>
      </p:sp>
      <p:sp>
        <p:nvSpPr>
          <p:cNvPr id="552" name="Google Shape;552;p29"/>
          <p:cNvSpPr txBox="1"/>
          <p:nvPr/>
        </p:nvSpPr>
        <p:spPr>
          <a:xfrm>
            <a:off x="76200" y="39624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a:solidFill>
                  <a:schemeClr val="hlink"/>
                </a:solidFill>
                <a:latin typeface="Times New Roman"/>
                <a:ea typeface="Times New Roman"/>
                <a:cs typeface="Times New Roman"/>
                <a:sym typeface="Times New Roman"/>
              </a:rPr>
              <a:t>Topics discussed in this section: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559" name="Google Shape;559;p30"/>
          <p:cNvSpPr txBox="1"/>
          <p:nvPr/>
        </p:nvSpPr>
        <p:spPr>
          <a:xfrm>
            <a:off x="0" y="0"/>
            <a:ext cx="9144000" cy="7620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60" name="Google Shape;560;p30"/>
          <p:cNvSpPr txBox="1"/>
          <p:nvPr/>
        </p:nvSpPr>
        <p:spPr>
          <a:xfrm>
            <a:off x="76200" y="30162"/>
            <a:ext cx="29606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561" name="Google Shape;561;p30"/>
          <p:cNvSpPr txBox="1"/>
          <p:nvPr/>
        </p:nvSpPr>
        <p:spPr>
          <a:xfrm>
            <a:off x="152400" y="10668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4.14</a:t>
            </a:r>
            <a:endParaRPr/>
          </a:p>
        </p:txBody>
      </p:sp>
      <p:sp>
        <p:nvSpPr>
          <p:cNvPr id="562" name="Google Shape;562;p30"/>
          <p:cNvSpPr txBox="1"/>
          <p:nvPr/>
        </p:nvSpPr>
        <p:spPr>
          <a:xfrm>
            <a:off x="152400" y="1406525"/>
            <a:ext cx="8839200" cy="19208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Let us define a GF(2</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field in which the set has four 2-bit words: {00, 01, 10, 11}. We can redefine addition and multiplication for this field in such a way that all properties of these operations are satisfied, as shown in Figure 4.8.</a:t>
            </a:r>
            <a:endParaRPr/>
          </a:p>
        </p:txBody>
      </p:sp>
      <p:pic>
        <p:nvPicPr>
          <p:cNvPr id="563" name="Google Shape;563;p30"/>
          <p:cNvPicPr preferRelativeResize="0"/>
          <p:nvPr/>
        </p:nvPicPr>
        <p:blipFill rotWithShape="1">
          <a:blip r:embed="rId3">
            <a:alphaModFix/>
          </a:blip>
          <a:srcRect b="0" l="0" r="0" t="0"/>
          <a:stretch/>
        </p:blipFill>
        <p:spPr>
          <a:xfrm>
            <a:off x="2514600" y="4238625"/>
            <a:ext cx="3765550" cy="2466975"/>
          </a:xfrm>
          <a:prstGeom prst="rect">
            <a:avLst/>
          </a:prstGeom>
          <a:noFill/>
          <a:ln>
            <a:noFill/>
          </a:ln>
        </p:spPr>
      </p:pic>
      <p:sp>
        <p:nvSpPr>
          <p:cNvPr id="564" name="Google Shape;564;p30"/>
          <p:cNvSpPr txBox="1"/>
          <p:nvPr/>
        </p:nvSpPr>
        <p:spPr>
          <a:xfrm>
            <a:off x="2133600" y="3541712"/>
            <a:ext cx="45005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4.8  </a:t>
            </a:r>
            <a:r>
              <a:rPr b="1" i="1" lang="en-US" sz="2000" u="none">
                <a:solidFill>
                  <a:schemeClr val="dk1"/>
                </a:solidFill>
                <a:latin typeface="Times New Roman"/>
                <a:ea typeface="Times New Roman"/>
                <a:cs typeface="Times New Roman"/>
                <a:sym typeface="Times New Roman"/>
              </a:rPr>
              <a:t>An example of GF(2</a:t>
            </a:r>
            <a:r>
              <a:rPr b="1" baseline="30000" i="1" lang="en-US" sz="2000" u="none">
                <a:solidFill>
                  <a:schemeClr val="dk1"/>
                </a:solidFill>
                <a:latin typeface="Times New Roman"/>
                <a:ea typeface="Times New Roman"/>
                <a:cs typeface="Times New Roman"/>
                <a:sym typeface="Times New Roman"/>
              </a:rPr>
              <a:t>2</a:t>
            </a:r>
            <a:r>
              <a:rPr b="1" i="1" lang="en-US" sz="2000" u="none">
                <a:solidFill>
                  <a:schemeClr val="dk1"/>
                </a:solidFill>
                <a:latin typeface="Times New Roman"/>
                <a:ea typeface="Times New Roman"/>
                <a:cs typeface="Times New Roman"/>
                <a:sym typeface="Times New Roman"/>
              </a:rPr>
              <a:t>) field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571" name="Google Shape;571;p3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72" name="Google Shape;572;p3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73" name="Google Shape;573;p3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74" name="Google Shape;574;p3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75" name="Google Shape;575;p3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76" name="Google Shape;576;p3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77" name="Google Shape;577;p3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78" name="Google Shape;578;p31"/>
          <p:cNvSpPr txBox="1"/>
          <p:nvPr/>
        </p:nvSpPr>
        <p:spPr>
          <a:xfrm>
            <a:off x="1143000" y="0"/>
            <a:ext cx="35814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4.2.1     Polynomials</a:t>
            </a:r>
            <a:endParaRPr/>
          </a:p>
        </p:txBody>
      </p:sp>
      <p:sp>
        <p:nvSpPr>
          <p:cNvPr id="579" name="Google Shape;579;p31"/>
          <p:cNvSpPr txBox="1"/>
          <p:nvPr/>
        </p:nvSpPr>
        <p:spPr>
          <a:xfrm>
            <a:off x="152400" y="1066800"/>
            <a:ext cx="88392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A polynomial of degree </a:t>
            </a:r>
            <a:r>
              <a:rPr b="1" i="1" lang="en-US" sz="28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 − 1 is an expression</a:t>
            </a:r>
            <a:endParaRPr/>
          </a:p>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of the form</a:t>
            </a:r>
            <a:endParaRPr/>
          </a:p>
        </p:txBody>
      </p:sp>
      <p:pic>
        <p:nvPicPr>
          <p:cNvPr id="580" name="Google Shape;580;p31"/>
          <p:cNvPicPr preferRelativeResize="0"/>
          <p:nvPr/>
        </p:nvPicPr>
        <p:blipFill rotWithShape="1">
          <a:blip r:embed="rId3">
            <a:alphaModFix/>
          </a:blip>
          <a:srcRect b="0" l="0" r="0" t="0"/>
          <a:stretch/>
        </p:blipFill>
        <p:spPr>
          <a:xfrm>
            <a:off x="1098550" y="2133600"/>
            <a:ext cx="6216650" cy="485775"/>
          </a:xfrm>
          <a:prstGeom prst="rect">
            <a:avLst/>
          </a:prstGeom>
          <a:noFill/>
          <a:ln>
            <a:noFill/>
          </a:ln>
        </p:spPr>
      </p:pic>
      <p:sp>
        <p:nvSpPr>
          <p:cNvPr id="581" name="Google Shape;581;p31"/>
          <p:cNvSpPr txBox="1"/>
          <p:nvPr/>
        </p:nvSpPr>
        <p:spPr>
          <a:xfrm>
            <a:off x="304800" y="3276600"/>
            <a:ext cx="88392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where </a:t>
            </a:r>
            <a:r>
              <a:rPr b="1" i="1" lang="en-US" sz="2800" u="none">
                <a:solidFill>
                  <a:schemeClr val="hlink"/>
                </a:solidFill>
                <a:latin typeface="Times New Roman"/>
                <a:ea typeface="Times New Roman"/>
                <a:cs typeface="Times New Roman"/>
                <a:sym typeface="Times New Roman"/>
              </a:rPr>
              <a:t>x</a:t>
            </a:r>
            <a:r>
              <a:rPr b="1" baseline="30000" i="1" lang="en-US" sz="2800" u="none">
                <a:solidFill>
                  <a:schemeClr val="hlink"/>
                </a:solidFill>
                <a:latin typeface="Times New Roman"/>
                <a:ea typeface="Times New Roman"/>
                <a:cs typeface="Times New Roman"/>
                <a:sym typeface="Times New Roman"/>
              </a:rPr>
              <a:t>i</a:t>
            </a:r>
            <a:r>
              <a:rPr b="1" i="0" lang="en-US" sz="2800" u="none">
                <a:solidFill>
                  <a:schemeClr val="dk1"/>
                </a:solidFill>
                <a:latin typeface="Times New Roman"/>
                <a:ea typeface="Times New Roman"/>
                <a:cs typeface="Times New Roman"/>
                <a:sym typeface="Times New Roman"/>
              </a:rPr>
              <a:t> is called the ith term and </a:t>
            </a:r>
            <a:r>
              <a:rPr b="1" i="1" lang="en-US" sz="2800" u="none">
                <a:solidFill>
                  <a:schemeClr val="hlink"/>
                </a:solidFill>
                <a:latin typeface="Times New Roman"/>
                <a:ea typeface="Times New Roman"/>
                <a:cs typeface="Times New Roman"/>
                <a:sym typeface="Times New Roman"/>
              </a:rPr>
              <a:t>a</a:t>
            </a:r>
            <a:r>
              <a:rPr b="1" baseline="-25000" i="1" lang="en-US" sz="2800" u="none">
                <a:solidFill>
                  <a:schemeClr val="hlink"/>
                </a:solidFill>
                <a:latin typeface="Times New Roman"/>
                <a:ea typeface="Times New Roman"/>
                <a:cs typeface="Times New Roman"/>
                <a:sym typeface="Times New Roman"/>
              </a:rPr>
              <a:t>i</a:t>
            </a:r>
            <a:r>
              <a:rPr b="1" i="0" lang="en-US" sz="2800" u="none">
                <a:solidFill>
                  <a:schemeClr val="dk1"/>
                </a:solidFill>
                <a:latin typeface="Times New Roman"/>
                <a:ea typeface="Times New Roman"/>
                <a:cs typeface="Times New Roman"/>
                <a:sym typeface="Times New Roman"/>
              </a:rPr>
              <a:t> is called coefficient of the </a:t>
            </a:r>
            <a:r>
              <a:rPr b="1" i="1" lang="en-US" sz="2800" u="none">
                <a:solidFill>
                  <a:schemeClr val="dk1"/>
                </a:solidFill>
                <a:latin typeface="Times New Roman"/>
                <a:ea typeface="Times New Roman"/>
                <a:cs typeface="Times New Roman"/>
                <a:sym typeface="Times New Roman"/>
              </a:rPr>
              <a:t>i</a:t>
            </a:r>
            <a:r>
              <a:rPr b="1" i="0" lang="en-US" sz="2800" u="none">
                <a:solidFill>
                  <a:schemeClr val="dk1"/>
                </a:solidFill>
                <a:latin typeface="Times New Roman"/>
                <a:ea typeface="Times New Roman"/>
                <a:cs typeface="Times New Roman"/>
                <a:sym typeface="Times New Roman"/>
              </a:rPr>
              <a:t>th term.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3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588" name="Google Shape;588;p3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89" name="Google Shape;589;p3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90" name="Google Shape;590;p3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91" name="Google Shape;591;p3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92" name="Google Shape;592;p3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93" name="Google Shape;593;p3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94" name="Google Shape;594;p3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595" name="Google Shape;595;p32"/>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596" name="Google Shape;596;p32"/>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4.15</a:t>
            </a:r>
            <a:endParaRPr/>
          </a:p>
        </p:txBody>
      </p:sp>
      <p:sp>
        <p:nvSpPr>
          <p:cNvPr id="597" name="Google Shape;597;p32"/>
          <p:cNvSpPr txBox="1"/>
          <p:nvPr/>
        </p:nvSpPr>
        <p:spPr>
          <a:xfrm>
            <a:off x="152400" y="1371600"/>
            <a:ext cx="8839200" cy="10064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Figure 4.9 show how we can represent the 8-bit word (10011001) using a polynomials.</a:t>
            </a:r>
            <a:endParaRPr/>
          </a:p>
        </p:txBody>
      </p:sp>
      <p:pic>
        <p:nvPicPr>
          <p:cNvPr id="598" name="Google Shape;598;p32"/>
          <p:cNvPicPr preferRelativeResize="0"/>
          <p:nvPr/>
        </p:nvPicPr>
        <p:blipFill rotWithShape="1">
          <a:blip r:embed="rId3">
            <a:alphaModFix/>
          </a:blip>
          <a:srcRect b="0" l="0" r="0" t="0"/>
          <a:stretch/>
        </p:blipFill>
        <p:spPr>
          <a:xfrm>
            <a:off x="1293812" y="3252787"/>
            <a:ext cx="6097587" cy="2995612"/>
          </a:xfrm>
          <a:prstGeom prst="rect">
            <a:avLst/>
          </a:prstGeom>
          <a:noFill/>
          <a:ln>
            <a:noFill/>
          </a:ln>
        </p:spPr>
      </p:pic>
      <p:sp>
        <p:nvSpPr>
          <p:cNvPr id="599" name="Google Shape;599;p32"/>
          <p:cNvSpPr txBox="1"/>
          <p:nvPr/>
        </p:nvSpPr>
        <p:spPr>
          <a:xfrm>
            <a:off x="1384300" y="2514600"/>
            <a:ext cx="66929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4.9  </a:t>
            </a:r>
            <a:r>
              <a:rPr b="1" i="1" lang="en-US" sz="2000" u="none">
                <a:solidFill>
                  <a:schemeClr val="dk1"/>
                </a:solidFill>
                <a:latin typeface="Times New Roman"/>
                <a:ea typeface="Times New Roman"/>
                <a:cs typeface="Times New Roman"/>
                <a:sym typeface="Times New Roman"/>
              </a:rPr>
              <a:t>Representation of an 8-bit word by a polynomial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606" name="Google Shape;606;p3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07" name="Google Shape;607;p3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08" name="Google Shape;608;p3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09" name="Google Shape;609;p3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10" name="Google Shape;610;p3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11" name="Google Shape;611;p3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12" name="Google Shape;612;p3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13" name="Google Shape;613;p3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614" name="Google Shape;614;p33"/>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4.16</a:t>
            </a:r>
            <a:endParaRPr/>
          </a:p>
        </p:txBody>
      </p:sp>
      <p:sp>
        <p:nvSpPr>
          <p:cNvPr id="615" name="Google Shape;615;p33"/>
          <p:cNvSpPr txBox="1"/>
          <p:nvPr/>
        </p:nvSpPr>
        <p:spPr>
          <a:xfrm>
            <a:off x="152400" y="1143000"/>
            <a:ext cx="8839200" cy="14636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To find the 8-bit word related to the polynomial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we first supply the omitted terms. Since </a:t>
            </a:r>
            <a:r>
              <a:rPr b="1" i="1" lang="en-US" sz="2400" u="none">
                <a:solidFill>
                  <a:schemeClr val="dk1"/>
                </a:solidFill>
                <a:latin typeface="Times New Roman"/>
                <a:ea typeface="Times New Roman"/>
                <a:cs typeface="Times New Roman"/>
                <a:sym typeface="Times New Roman"/>
              </a:rPr>
              <a:t>n</a:t>
            </a:r>
            <a:r>
              <a:rPr b="1" i="0" lang="en-US" sz="2400" u="none">
                <a:solidFill>
                  <a:schemeClr val="dk1"/>
                </a:solidFill>
                <a:latin typeface="Times New Roman"/>
                <a:ea typeface="Times New Roman"/>
                <a:cs typeface="Times New Roman"/>
                <a:sym typeface="Times New Roman"/>
              </a:rPr>
              <a:t> = 8, it means the polynomial is of degree 7. The expanded polynomial is</a:t>
            </a:r>
            <a:endParaRPr/>
          </a:p>
        </p:txBody>
      </p:sp>
      <p:pic>
        <p:nvPicPr>
          <p:cNvPr id="616" name="Google Shape;616;p33"/>
          <p:cNvPicPr preferRelativeResize="0"/>
          <p:nvPr/>
        </p:nvPicPr>
        <p:blipFill rotWithShape="1">
          <a:blip r:embed="rId3">
            <a:alphaModFix/>
          </a:blip>
          <a:srcRect b="0" l="0" r="0" t="0"/>
          <a:stretch/>
        </p:blipFill>
        <p:spPr>
          <a:xfrm>
            <a:off x="1209675" y="3181350"/>
            <a:ext cx="6105525" cy="400050"/>
          </a:xfrm>
          <a:prstGeom prst="rect">
            <a:avLst/>
          </a:prstGeom>
          <a:noFill/>
          <a:ln>
            <a:noFill/>
          </a:ln>
        </p:spPr>
      </p:pic>
      <p:sp>
        <p:nvSpPr>
          <p:cNvPr id="617" name="Google Shape;617;p33"/>
          <p:cNvSpPr txBox="1"/>
          <p:nvPr/>
        </p:nvSpPr>
        <p:spPr>
          <a:xfrm>
            <a:off x="152400" y="4419600"/>
            <a:ext cx="8839200" cy="5492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This is related to the 8-bit word </a:t>
            </a:r>
            <a:r>
              <a:rPr b="1" i="0" lang="en-US" sz="2400" u="none">
                <a:solidFill>
                  <a:schemeClr val="hlink"/>
                </a:solidFill>
                <a:latin typeface="Times New Roman"/>
                <a:ea typeface="Times New Roman"/>
                <a:cs typeface="Times New Roman"/>
                <a:sym typeface="Times New Roman"/>
              </a:rPr>
              <a:t>00100110</a:t>
            </a:r>
            <a:r>
              <a:rPr b="1" i="0" lang="en-US" sz="2400" u="none">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624" name="Google Shape;624;p3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25" name="Google Shape;625;p3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26" name="Google Shape;626;p3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27" name="Google Shape;627;p3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28" name="Google Shape;628;p3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29" name="Google Shape;629;p3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30" name="Google Shape;630;p3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31" name="Google Shape;631;p3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632" name="Google Shape;632;p34"/>
          <p:cNvSpPr txBox="1"/>
          <p:nvPr/>
        </p:nvSpPr>
        <p:spPr>
          <a:xfrm>
            <a:off x="1147762" y="533400"/>
            <a:ext cx="19288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GF(</a:t>
            </a:r>
            <a:r>
              <a:rPr b="1" i="1" lang="en-US" sz="2400" u="none">
                <a:solidFill>
                  <a:schemeClr val="folHlink"/>
                </a:solidFill>
                <a:latin typeface="Times New Roman"/>
                <a:ea typeface="Times New Roman"/>
                <a:cs typeface="Times New Roman"/>
                <a:sym typeface="Times New Roman"/>
              </a:rPr>
              <a:t>2</a:t>
            </a:r>
            <a:r>
              <a:rPr b="1" baseline="30000" i="1" lang="en-US" sz="2400" u="none">
                <a:solidFill>
                  <a:schemeClr val="folHlink"/>
                </a:solidFill>
                <a:latin typeface="Times New Roman"/>
                <a:ea typeface="Times New Roman"/>
                <a:cs typeface="Times New Roman"/>
                <a:sym typeface="Times New Roman"/>
              </a:rPr>
              <a:t>n</a:t>
            </a:r>
            <a:r>
              <a:rPr b="1" i="0" lang="en-US" sz="2400" u="none">
                <a:solidFill>
                  <a:schemeClr val="folHlink"/>
                </a:solidFill>
                <a:latin typeface="Times New Roman"/>
                <a:ea typeface="Times New Roman"/>
                <a:cs typeface="Times New Roman"/>
                <a:sym typeface="Times New Roman"/>
              </a:rPr>
              <a:t>) Fields</a:t>
            </a:r>
            <a:endParaRPr/>
          </a:p>
        </p:txBody>
      </p:sp>
      <p:cxnSp>
        <p:nvCxnSpPr>
          <p:cNvPr id="633" name="Google Shape;633;p34"/>
          <p:cNvCxnSpPr/>
          <p:nvPr/>
        </p:nvCxnSpPr>
        <p:spPr>
          <a:xfrm>
            <a:off x="457200" y="1981200"/>
            <a:ext cx="8153400" cy="0"/>
          </a:xfrm>
          <a:prstGeom prst="straightConnector1">
            <a:avLst/>
          </a:prstGeom>
          <a:noFill/>
          <a:ln cap="flat" cmpd="sng" w="76200">
            <a:solidFill>
              <a:srgbClr val="009900"/>
            </a:solidFill>
            <a:prstDash val="solid"/>
            <a:miter lim="800000"/>
            <a:headEnd len="med" w="med" type="none"/>
            <a:tailEnd len="med" w="med" type="none"/>
          </a:ln>
        </p:spPr>
      </p:cxnSp>
      <p:cxnSp>
        <p:nvCxnSpPr>
          <p:cNvPr id="634" name="Google Shape;634;p34"/>
          <p:cNvCxnSpPr/>
          <p:nvPr/>
        </p:nvCxnSpPr>
        <p:spPr>
          <a:xfrm>
            <a:off x="458787" y="3200400"/>
            <a:ext cx="8153400" cy="0"/>
          </a:xfrm>
          <a:prstGeom prst="straightConnector1">
            <a:avLst/>
          </a:prstGeom>
          <a:noFill/>
          <a:ln cap="flat" cmpd="sng" w="76200">
            <a:solidFill>
              <a:srgbClr val="009900"/>
            </a:solidFill>
            <a:prstDash val="solid"/>
            <a:miter lim="800000"/>
            <a:headEnd len="med" w="med" type="none"/>
            <a:tailEnd len="med" w="med" type="none"/>
          </a:ln>
        </p:spPr>
      </p:cxnSp>
      <p:sp>
        <p:nvSpPr>
          <p:cNvPr id="635" name="Google Shape;635;p34"/>
          <p:cNvSpPr txBox="1"/>
          <p:nvPr/>
        </p:nvSpPr>
        <p:spPr>
          <a:xfrm>
            <a:off x="495300" y="20732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Polynomials representing </a:t>
            </a:r>
            <a:r>
              <a:rPr b="1" i="1" lang="en-US" sz="3200" u="none">
                <a:solidFill>
                  <a:schemeClr val="dk1"/>
                </a:solidFill>
                <a:latin typeface="Arial"/>
                <a:ea typeface="Arial"/>
                <a:cs typeface="Arial"/>
                <a:sym typeface="Arial"/>
              </a:rPr>
              <a:t>n</a:t>
            </a:r>
            <a:r>
              <a:rPr b="1" i="0" lang="en-US" sz="3200" u="none">
                <a:solidFill>
                  <a:schemeClr val="dk1"/>
                </a:solidFill>
                <a:latin typeface="Arial"/>
                <a:ea typeface="Arial"/>
                <a:cs typeface="Arial"/>
                <a:sym typeface="Arial"/>
              </a:rPr>
              <a:t>-bit words use two fields: GF(2) and GF(2</a:t>
            </a:r>
            <a:r>
              <a:rPr b="1" baseline="30000" i="1" lang="en-US" sz="3200" u="none">
                <a:solidFill>
                  <a:schemeClr val="dk1"/>
                </a:solidFill>
                <a:latin typeface="Arial"/>
                <a:ea typeface="Arial"/>
                <a:cs typeface="Arial"/>
                <a:sym typeface="Arial"/>
              </a:rPr>
              <a:t>n</a:t>
            </a:r>
            <a:r>
              <a:rPr b="1" i="0" lang="en-US" sz="3200" u="none">
                <a:solidFill>
                  <a:schemeClr val="dk1"/>
                </a:solidFill>
                <a:latin typeface="Arial"/>
                <a:ea typeface="Arial"/>
                <a:cs typeface="Arial"/>
                <a:sym typeface="Arial"/>
              </a:rPr>
              <a:t>).</a:t>
            </a:r>
            <a:endParaRPr/>
          </a:p>
        </p:txBody>
      </p:sp>
      <p:grpSp>
        <p:nvGrpSpPr>
          <p:cNvPr id="636" name="Google Shape;636;p34"/>
          <p:cNvGrpSpPr/>
          <p:nvPr/>
        </p:nvGrpSpPr>
        <p:grpSpPr>
          <a:xfrm>
            <a:off x="457200" y="1295400"/>
            <a:ext cx="1143000" cy="566737"/>
            <a:chOff x="1200" y="1248"/>
            <a:chExt cx="720" cy="357"/>
          </a:xfrm>
        </p:grpSpPr>
        <p:pic>
          <p:nvPicPr>
            <p:cNvPr id="637" name="Google Shape;637;p3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638" name="Google Shape;638;p3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3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645" name="Google Shape;645;p3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46" name="Google Shape;646;p3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47" name="Google Shape;647;p3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48" name="Google Shape;648;p3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49" name="Google Shape;649;p3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50" name="Google Shape;650;p3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51" name="Google Shape;651;p3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52" name="Google Shape;652;p3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653" name="Google Shape;653;p35"/>
          <p:cNvSpPr txBox="1"/>
          <p:nvPr/>
        </p:nvSpPr>
        <p:spPr>
          <a:xfrm>
            <a:off x="152400" y="1066800"/>
            <a:ext cx="8839200" cy="137318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For the sets of polynomials in GF(2</a:t>
            </a:r>
            <a:r>
              <a:rPr b="1" baseline="30000" i="1" lang="en-US" sz="28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 a group of polynomials of degree </a:t>
            </a:r>
            <a:r>
              <a:rPr b="1" i="1" lang="en-US" sz="28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 is defined as the modulus. Such polynomials are referred to as </a:t>
            </a:r>
            <a:r>
              <a:rPr b="1" i="0" lang="en-US" sz="2800" u="none">
                <a:solidFill>
                  <a:schemeClr val="hlink"/>
                </a:solidFill>
                <a:latin typeface="Times New Roman"/>
                <a:ea typeface="Times New Roman"/>
                <a:cs typeface="Times New Roman"/>
                <a:sym typeface="Times New Roman"/>
              </a:rPr>
              <a:t>irreducible polynomials.</a:t>
            </a:r>
            <a:r>
              <a:rPr b="1" i="0" lang="en-US" sz="2800" u="none">
                <a:solidFill>
                  <a:schemeClr val="dk1"/>
                </a:solidFill>
                <a:latin typeface="Times New Roman"/>
                <a:ea typeface="Times New Roman"/>
                <a:cs typeface="Times New Roman"/>
                <a:sym typeface="Times New Roman"/>
              </a:rPr>
              <a:t> </a:t>
            </a:r>
            <a:endParaRPr/>
          </a:p>
        </p:txBody>
      </p:sp>
      <p:sp>
        <p:nvSpPr>
          <p:cNvPr id="654" name="Google Shape;654;p35"/>
          <p:cNvSpPr txBox="1"/>
          <p:nvPr/>
        </p:nvSpPr>
        <p:spPr>
          <a:xfrm>
            <a:off x="1147762" y="533400"/>
            <a:ext cx="13366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Modulus</a:t>
            </a:r>
            <a:endParaRPr/>
          </a:p>
        </p:txBody>
      </p:sp>
      <p:pic>
        <p:nvPicPr>
          <p:cNvPr id="655" name="Google Shape;655;p35"/>
          <p:cNvPicPr preferRelativeResize="0"/>
          <p:nvPr/>
        </p:nvPicPr>
        <p:blipFill rotWithShape="1">
          <a:blip r:embed="rId3">
            <a:alphaModFix/>
          </a:blip>
          <a:srcRect b="0" l="0" r="0" t="0"/>
          <a:stretch/>
        </p:blipFill>
        <p:spPr>
          <a:xfrm>
            <a:off x="298450" y="3582987"/>
            <a:ext cx="8464550" cy="2513012"/>
          </a:xfrm>
          <a:prstGeom prst="rect">
            <a:avLst/>
          </a:prstGeom>
          <a:noFill/>
          <a:ln>
            <a:noFill/>
          </a:ln>
        </p:spPr>
      </p:pic>
      <p:sp>
        <p:nvSpPr>
          <p:cNvPr id="656" name="Google Shape;656;p35"/>
          <p:cNvSpPr txBox="1"/>
          <p:nvPr/>
        </p:nvSpPr>
        <p:spPr>
          <a:xfrm>
            <a:off x="1965325" y="3048000"/>
            <a:ext cx="47402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Table 4.9  </a:t>
            </a:r>
            <a:r>
              <a:rPr b="1" i="1" lang="en-US" sz="2000" u="none">
                <a:solidFill>
                  <a:schemeClr val="dk1"/>
                </a:solidFill>
                <a:latin typeface="Times New Roman"/>
                <a:ea typeface="Times New Roman"/>
                <a:cs typeface="Times New Roman"/>
                <a:sym typeface="Times New Roman"/>
              </a:rPr>
              <a:t>List of irreducible polynomials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3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663" name="Google Shape;663;p3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64" name="Google Shape;664;p3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65" name="Google Shape;665;p3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66" name="Google Shape;666;p3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67" name="Google Shape;667;p3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68" name="Google Shape;668;p3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69" name="Google Shape;669;p3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70" name="Google Shape;670;p3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 </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671" name="Google Shape;671;p36"/>
          <p:cNvSpPr txBox="1"/>
          <p:nvPr/>
        </p:nvSpPr>
        <p:spPr>
          <a:xfrm>
            <a:off x="1147762" y="533400"/>
            <a:ext cx="13366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Addition</a:t>
            </a:r>
            <a:endParaRPr/>
          </a:p>
        </p:txBody>
      </p:sp>
      <p:cxnSp>
        <p:nvCxnSpPr>
          <p:cNvPr id="672" name="Google Shape;672;p36"/>
          <p:cNvCxnSpPr/>
          <p:nvPr/>
        </p:nvCxnSpPr>
        <p:spPr>
          <a:xfrm>
            <a:off x="457200" y="2057400"/>
            <a:ext cx="8153400" cy="0"/>
          </a:xfrm>
          <a:prstGeom prst="straightConnector1">
            <a:avLst/>
          </a:prstGeom>
          <a:noFill/>
          <a:ln cap="flat" cmpd="sng" w="76200">
            <a:solidFill>
              <a:srgbClr val="009900"/>
            </a:solidFill>
            <a:prstDash val="solid"/>
            <a:miter lim="800000"/>
            <a:headEnd len="med" w="med" type="none"/>
            <a:tailEnd len="med" w="med" type="none"/>
          </a:ln>
        </p:spPr>
      </p:cxnSp>
      <p:cxnSp>
        <p:nvCxnSpPr>
          <p:cNvPr id="673" name="Google Shape;673;p36"/>
          <p:cNvCxnSpPr/>
          <p:nvPr/>
        </p:nvCxnSpPr>
        <p:spPr>
          <a:xfrm>
            <a:off x="458787" y="3276600"/>
            <a:ext cx="8153400" cy="0"/>
          </a:xfrm>
          <a:prstGeom prst="straightConnector1">
            <a:avLst/>
          </a:prstGeom>
          <a:noFill/>
          <a:ln cap="flat" cmpd="sng" w="76200">
            <a:solidFill>
              <a:srgbClr val="009900"/>
            </a:solidFill>
            <a:prstDash val="solid"/>
            <a:miter lim="800000"/>
            <a:headEnd len="med" w="med" type="none"/>
            <a:tailEnd len="med" w="med" type="none"/>
          </a:ln>
        </p:spPr>
      </p:cxnSp>
      <p:sp>
        <p:nvSpPr>
          <p:cNvPr id="674" name="Google Shape;674;p36"/>
          <p:cNvSpPr txBox="1"/>
          <p:nvPr/>
        </p:nvSpPr>
        <p:spPr>
          <a:xfrm>
            <a:off x="495300" y="21494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Addition and subtraction operations on polynomials are the same operation.</a:t>
            </a:r>
            <a:endParaRPr/>
          </a:p>
        </p:txBody>
      </p:sp>
      <p:grpSp>
        <p:nvGrpSpPr>
          <p:cNvPr id="675" name="Google Shape;675;p36"/>
          <p:cNvGrpSpPr/>
          <p:nvPr/>
        </p:nvGrpSpPr>
        <p:grpSpPr>
          <a:xfrm>
            <a:off x="457200" y="1371600"/>
            <a:ext cx="1143000" cy="566737"/>
            <a:chOff x="1200" y="1248"/>
            <a:chExt cx="720" cy="357"/>
          </a:xfrm>
        </p:grpSpPr>
        <p:pic>
          <p:nvPicPr>
            <p:cNvPr id="676" name="Google Shape;676;p3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677" name="Google Shape;677;p3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3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684" name="Google Shape;684;p3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85" name="Google Shape;685;p3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86" name="Google Shape;686;p3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87" name="Google Shape;687;p3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88" name="Google Shape;688;p3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89" name="Google Shape;689;p3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90" name="Google Shape;690;p3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691" name="Google Shape;691;p3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692" name="Google Shape;692;p37"/>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4.17</a:t>
            </a:r>
            <a:endParaRPr/>
          </a:p>
        </p:txBody>
      </p:sp>
      <p:sp>
        <p:nvSpPr>
          <p:cNvPr id="693" name="Google Shape;693;p37"/>
          <p:cNvSpPr txBox="1"/>
          <p:nvPr/>
        </p:nvSpPr>
        <p:spPr>
          <a:xfrm>
            <a:off x="152400" y="1143000"/>
            <a:ext cx="8839200" cy="14636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Let us do (x</a:t>
            </a:r>
            <a:r>
              <a:rPr b="1" baseline="30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 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x) </a:t>
            </a:r>
            <a:r>
              <a:rPr b="1" i="0" lang="en-US" sz="2400" u="none">
                <a:solidFill>
                  <a:schemeClr val="dk1"/>
                </a:solidFill>
                <a:latin typeface="Noto Sans Symbols"/>
                <a:ea typeface="Noto Sans Symbols"/>
                <a:cs typeface="Noto Sans Symbols"/>
                <a:sym typeface="Noto Sans Symbols"/>
              </a:rPr>
              <a:t>⊕</a:t>
            </a:r>
            <a:r>
              <a:rPr b="1" i="0" lang="en-US" sz="2400" u="none">
                <a:solidFill>
                  <a:schemeClr val="dk1"/>
                </a:solidFill>
                <a:latin typeface="Times New Roman"/>
                <a:ea typeface="Times New Roman"/>
                <a:cs typeface="Times New Roman"/>
                <a:sym typeface="Times New Roman"/>
              </a:rPr>
              <a:t> (x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+ 1) in GF(2</a:t>
            </a:r>
            <a:r>
              <a:rPr b="1" baseline="30000" i="0" lang="en-US" sz="2400" u="none">
                <a:solidFill>
                  <a:schemeClr val="dk1"/>
                </a:solidFill>
                <a:latin typeface="Times New Roman"/>
                <a:ea typeface="Times New Roman"/>
                <a:cs typeface="Times New Roman"/>
                <a:sym typeface="Times New Roman"/>
              </a:rPr>
              <a:t>8</a:t>
            </a:r>
            <a:r>
              <a:rPr b="1" i="0" lang="en-US" sz="2400" u="none">
                <a:solidFill>
                  <a:schemeClr val="dk1"/>
                </a:solidFill>
                <a:latin typeface="Times New Roman"/>
                <a:ea typeface="Times New Roman"/>
                <a:cs typeface="Times New Roman"/>
                <a:sym typeface="Times New Roman"/>
              </a:rPr>
              <a:t>). We use the symbol </a:t>
            </a:r>
            <a:r>
              <a:rPr b="1" i="0" lang="en-US" sz="2400" u="none">
                <a:solidFill>
                  <a:schemeClr val="dk1"/>
                </a:solidFill>
                <a:latin typeface="Noto Sans Symbols"/>
                <a:ea typeface="Noto Sans Symbols"/>
                <a:cs typeface="Noto Sans Symbols"/>
                <a:sym typeface="Noto Sans Symbols"/>
              </a:rPr>
              <a:t>⊕</a:t>
            </a:r>
            <a:r>
              <a:rPr b="1" i="0" lang="en-US" sz="2400" u="none">
                <a:solidFill>
                  <a:schemeClr val="dk1"/>
                </a:solidFill>
                <a:latin typeface="Times New Roman"/>
                <a:ea typeface="Times New Roman"/>
                <a:cs typeface="Times New Roman"/>
                <a:sym typeface="Times New Roman"/>
              </a:rPr>
              <a:t> to show that we mean polynomial addition. The following shows the procedure:</a:t>
            </a:r>
            <a:endParaRPr/>
          </a:p>
        </p:txBody>
      </p:sp>
      <p:pic>
        <p:nvPicPr>
          <p:cNvPr id="694" name="Google Shape;694;p37"/>
          <p:cNvPicPr preferRelativeResize="0"/>
          <p:nvPr/>
        </p:nvPicPr>
        <p:blipFill rotWithShape="1">
          <a:blip r:embed="rId3">
            <a:alphaModFix/>
          </a:blip>
          <a:srcRect b="0" l="0" r="0" t="0"/>
          <a:stretch/>
        </p:blipFill>
        <p:spPr>
          <a:xfrm>
            <a:off x="762000" y="3781425"/>
            <a:ext cx="7596187" cy="14001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3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701" name="Google Shape;701;p3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02" name="Google Shape;702;p3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03" name="Google Shape;703;p3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04" name="Google Shape;704;p3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05" name="Google Shape;705;p3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06" name="Google Shape;706;p3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07" name="Google Shape;707;p3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08" name="Google Shape;708;p38"/>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709" name="Google Shape;709;p38"/>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4.18</a:t>
            </a:r>
            <a:endParaRPr/>
          </a:p>
        </p:txBody>
      </p:sp>
      <p:sp>
        <p:nvSpPr>
          <p:cNvPr id="710" name="Google Shape;710;p38"/>
          <p:cNvSpPr txBox="1"/>
          <p:nvPr/>
        </p:nvSpPr>
        <p:spPr>
          <a:xfrm>
            <a:off x="152400" y="1203325"/>
            <a:ext cx="8839200" cy="23780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There is also another short cut. Because the addition in GF(2) means the exclusive-or (XOR) operation. So we can exclusive-or the two words, bits by bits, to get the result. In the previous example,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is 00100110 and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+ 1 is 00001101. The result is 00101011 or in polynomial notation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+ 1.</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3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717" name="Google Shape;717;p3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18" name="Google Shape;718;p3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19" name="Google Shape;719;p3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20" name="Google Shape;720;p3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21" name="Google Shape;721;p3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22" name="Google Shape;722;p3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23" name="Google Shape;723;p3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24" name="Google Shape;724;p39"/>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725" name="Google Shape;725;p39"/>
          <p:cNvSpPr txBox="1"/>
          <p:nvPr/>
        </p:nvSpPr>
        <p:spPr>
          <a:xfrm>
            <a:off x="304800" y="1219200"/>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0" lang="en-US" sz="2800" u="none">
                <a:solidFill>
                  <a:schemeClr val="hlink"/>
                </a:solidFill>
                <a:latin typeface="Times New Roman"/>
                <a:ea typeface="Times New Roman"/>
                <a:cs typeface="Times New Roman"/>
                <a:sym typeface="Times New Roman"/>
              </a:rPr>
              <a:t>1.</a:t>
            </a:r>
            <a:r>
              <a:rPr b="1" i="0" lang="en-US" sz="2800" u="none">
                <a:solidFill>
                  <a:schemeClr val="dk1"/>
                </a:solidFill>
                <a:latin typeface="Times New Roman"/>
                <a:ea typeface="Times New Roman"/>
                <a:cs typeface="Times New Roman"/>
                <a:sym typeface="Times New Roman"/>
              </a:rPr>
              <a:t> The coefficient multiplication is done in GF(2). </a:t>
            </a:r>
            <a:endParaRPr/>
          </a:p>
        </p:txBody>
      </p:sp>
      <p:sp>
        <p:nvSpPr>
          <p:cNvPr id="726" name="Google Shape;726;p39"/>
          <p:cNvSpPr txBox="1"/>
          <p:nvPr/>
        </p:nvSpPr>
        <p:spPr>
          <a:xfrm>
            <a:off x="1147762" y="533400"/>
            <a:ext cx="21288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Multliplication</a:t>
            </a:r>
            <a:endParaRPr/>
          </a:p>
        </p:txBody>
      </p:sp>
      <p:sp>
        <p:nvSpPr>
          <p:cNvPr id="727" name="Google Shape;727;p39"/>
          <p:cNvSpPr txBox="1"/>
          <p:nvPr/>
        </p:nvSpPr>
        <p:spPr>
          <a:xfrm>
            <a:off x="304800" y="2895600"/>
            <a:ext cx="8839200" cy="137318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0" lang="en-US" sz="2800" u="none">
                <a:solidFill>
                  <a:schemeClr val="hlink"/>
                </a:solidFill>
                <a:latin typeface="Times New Roman"/>
                <a:ea typeface="Times New Roman"/>
                <a:cs typeface="Times New Roman"/>
                <a:sym typeface="Times New Roman"/>
              </a:rPr>
              <a:t>3.</a:t>
            </a:r>
            <a:r>
              <a:rPr b="1" i="0" lang="en-US" sz="2800" u="none">
                <a:solidFill>
                  <a:schemeClr val="dk1"/>
                </a:solidFill>
                <a:latin typeface="Times New Roman"/>
                <a:ea typeface="Times New Roman"/>
                <a:cs typeface="Times New Roman"/>
                <a:sym typeface="Times New Roman"/>
              </a:rPr>
              <a:t> The multiplication may create terms with degree more than </a:t>
            </a:r>
            <a:r>
              <a:rPr b="1" i="1" lang="en-US" sz="28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 − 1, which means the result needs to be reduced using a modulus polynomial.</a:t>
            </a:r>
            <a:endParaRPr/>
          </a:p>
        </p:txBody>
      </p:sp>
      <p:sp>
        <p:nvSpPr>
          <p:cNvPr id="728" name="Google Shape;728;p39"/>
          <p:cNvSpPr txBox="1"/>
          <p:nvPr/>
        </p:nvSpPr>
        <p:spPr>
          <a:xfrm>
            <a:off x="304800" y="1905000"/>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0" lang="en-US" sz="2800" u="none">
                <a:solidFill>
                  <a:schemeClr val="hlink"/>
                </a:solidFill>
                <a:latin typeface="Times New Roman"/>
                <a:ea typeface="Times New Roman"/>
                <a:cs typeface="Times New Roman"/>
                <a:sym typeface="Times New Roman"/>
              </a:rPr>
              <a:t>2.</a:t>
            </a:r>
            <a:r>
              <a:rPr b="1" i="0" lang="en-US" sz="2800" u="none">
                <a:solidFill>
                  <a:schemeClr val="dk1"/>
                </a:solidFill>
                <a:latin typeface="Times New Roman"/>
                <a:ea typeface="Times New Roman"/>
                <a:cs typeface="Times New Roman"/>
                <a:sym typeface="Times New Roman"/>
              </a:rPr>
              <a:t> The multiplying </a:t>
            </a:r>
            <a:r>
              <a:rPr b="1" i="1" lang="en-US" sz="2800" u="none">
                <a:solidFill>
                  <a:schemeClr val="dk1"/>
                </a:solidFill>
                <a:latin typeface="Times New Roman"/>
                <a:ea typeface="Times New Roman"/>
                <a:cs typeface="Times New Roman"/>
                <a:sym typeface="Times New Roman"/>
              </a:rPr>
              <a:t>x</a:t>
            </a:r>
            <a:r>
              <a:rPr b="1" baseline="30000" i="1" lang="en-US" sz="2800" u="none">
                <a:solidFill>
                  <a:schemeClr val="dk1"/>
                </a:solidFill>
                <a:latin typeface="Times New Roman"/>
                <a:ea typeface="Times New Roman"/>
                <a:cs typeface="Times New Roman"/>
                <a:sym typeface="Times New Roman"/>
              </a:rPr>
              <a:t>i</a:t>
            </a:r>
            <a:r>
              <a:rPr b="1" i="0" lang="en-US" sz="2800" u="none">
                <a:solidFill>
                  <a:schemeClr val="dk1"/>
                </a:solidFill>
                <a:latin typeface="Times New Roman"/>
                <a:ea typeface="Times New Roman"/>
                <a:cs typeface="Times New Roman"/>
                <a:sym typeface="Times New Roman"/>
              </a:rPr>
              <a:t> by </a:t>
            </a:r>
            <a:r>
              <a:rPr b="1" i="1" lang="en-US" sz="2800" u="none">
                <a:solidFill>
                  <a:schemeClr val="dk1"/>
                </a:solidFill>
                <a:latin typeface="Times New Roman"/>
                <a:ea typeface="Times New Roman"/>
                <a:cs typeface="Times New Roman"/>
                <a:sym typeface="Times New Roman"/>
              </a:rPr>
              <a:t>x</a:t>
            </a:r>
            <a:r>
              <a:rPr b="1" baseline="30000" i="1" lang="en-US" sz="2800" u="none">
                <a:solidFill>
                  <a:schemeClr val="dk1"/>
                </a:solidFill>
                <a:latin typeface="Times New Roman"/>
                <a:ea typeface="Times New Roman"/>
                <a:cs typeface="Times New Roman"/>
                <a:sym typeface="Times New Roman"/>
              </a:rPr>
              <a:t>j</a:t>
            </a:r>
            <a:r>
              <a:rPr b="1" i="0" lang="en-US" sz="2800" u="none">
                <a:solidFill>
                  <a:schemeClr val="dk1"/>
                </a:solidFill>
                <a:latin typeface="Times New Roman"/>
                <a:ea typeface="Times New Roman"/>
                <a:cs typeface="Times New Roman"/>
                <a:sym typeface="Times New Roman"/>
              </a:rPr>
              <a:t> results in </a:t>
            </a:r>
            <a:r>
              <a:rPr b="1" i="1" lang="en-US" sz="2800" u="none">
                <a:solidFill>
                  <a:schemeClr val="dk1"/>
                </a:solidFill>
                <a:latin typeface="Times New Roman"/>
                <a:ea typeface="Times New Roman"/>
                <a:cs typeface="Times New Roman"/>
                <a:sym typeface="Times New Roman"/>
              </a:rPr>
              <a:t>x</a:t>
            </a:r>
            <a:r>
              <a:rPr b="1" baseline="30000" i="1" lang="en-US" sz="2800" u="none">
                <a:solidFill>
                  <a:schemeClr val="dk1"/>
                </a:solidFill>
                <a:latin typeface="Times New Roman"/>
                <a:ea typeface="Times New Roman"/>
                <a:cs typeface="Times New Roman"/>
                <a:sym typeface="Times New Roman"/>
              </a:rPr>
              <a:t>i</a:t>
            </a:r>
            <a:r>
              <a:rPr b="1" baseline="30000" i="0" lang="en-US" sz="2800" u="none">
                <a:solidFill>
                  <a:schemeClr val="dk1"/>
                </a:solidFill>
                <a:latin typeface="Times New Roman"/>
                <a:ea typeface="Times New Roman"/>
                <a:cs typeface="Times New Roman"/>
                <a:sym typeface="Times New Roman"/>
              </a:rPr>
              <a:t>+</a:t>
            </a:r>
            <a:r>
              <a:rPr b="1" baseline="30000" i="1" lang="en-US" sz="2800" u="none">
                <a:solidFill>
                  <a:schemeClr val="dk1"/>
                </a:solidFill>
                <a:latin typeface="Times New Roman"/>
                <a:ea typeface="Times New Roman"/>
                <a:cs typeface="Times New Roman"/>
                <a:sym typeface="Times New Roman"/>
              </a:rPr>
              <a:t>j</a:t>
            </a:r>
            <a:r>
              <a:rPr b="1" i="0" lang="en-US" sz="280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4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735" name="Google Shape;735;p4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36" name="Google Shape;736;p4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37" name="Google Shape;737;p4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38" name="Google Shape;738;p4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39" name="Google Shape;739;p4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40" name="Google Shape;740;p4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41" name="Google Shape;741;p4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42" name="Google Shape;742;p40"/>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743" name="Google Shape;743;p40"/>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4.19</a:t>
            </a:r>
            <a:endParaRPr/>
          </a:p>
        </p:txBody>
      </p:sp>
      <p:sp>
        <p:nvSpPr>
          <p:cNvPr id="744" name="Google Shape;744;p40"/>
          <p:cNvSpPr txBox="1"/>
          <p:nvPr/>
        </p:nvSpPr>
        <p:spPr>
          <a:xfrm>
            <a:off x="152400" y="1219200"/>
            <a:ext cx="8839200" cy="14636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Find the result of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7</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in GF(2</a:t>
            </a:r>
            <a:r>
              <a:rPr b="1" baseline="30000" i="0" lang="en-US" sz="2400" u="none">
                <a:solidFill>
                  <a:schemeClr val="dk1"/>
                </a:solidFill>
                <a:latin typeface="Times New Roman"/>
                <a:ea typeface="Times New Roman"/>
                <a:cs typeface="Times New Roman"/>
                <a:sym typeface="Times New Roman"/>
              </a:rPr>
              <a:t>8</a:t>
            </a:r>
            <a:r>
              <a:rPr b="1" i="0" lang="en-US" sz="2400" u="none">
                <a:solidFill>
                  <a:schemeClr val="dk1"/>
                </a:solidFill>
                <a:latin typeface="Times New Roman"/>
                <a:ea typeface="Times New Roman"/>
                <a:cs typeface="Times New Roman"/>
                <a:sym typeface="Times New Roman"/>
              </a:rPr>
              <a:t>) with irreducible polynomial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8</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+ 1). Note that we use the symbol ⊗ to show the multiplication of two polynomials.</a:t>
            </a:r>
            <a:endParaRPr/>
          </a:p>
        </p:txBody>
      </p:sp>
      <p:sp>
        <p:nvSpPr>
          <p:cNvPr id="745" name="Google Shape;745;p40"/>
          <p:cNvSpPr txBox="1"/>
          <p:nvPr/>
        </p:nvSpPr>
        <p:spPr>
          <a:xfrm>
            <a:off x="304800" y="2819400"/>
            <a:ext cx="1268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Solution</a:t>
            </a:r>
            <a:endParaRPr/>
          </a:p>
        </p:txBody>
      </p:sp>
      <p:pic>
        <p:nvPicPr>
          <p:cNvPr id="746" name="Google Shape;746;p40"/>
          <p:cNvPicPr preferRelativeResize="0"/>
          <p:nvPr/>
        </p:nvPicPr>
        <p:blipFill rotWithShape="1">
          <a:blip r:embed="rId3">
            <a:alphaModFix/>
          </a:blip>
          <a:srcRect b="0" l="0" r="0" t="0"/>
          <a:stretch/>
        </p:blipFill>
        <p:spPr>
          <a:xfrm>
            <a:off x="274637" y="3429000"/>
            <a:ext cx="8564562" cy="1141412"/>
          </a:xfrm>
          <a:prstGeom prst="rect">
            <a:avLst/>
          </a:prstGeom>
          <a:noFill/>
          <a:ln>
            <a:noFill/>
          </a:ln>
        </p:spPr>
      </p:pic>
      <p:sp>
        <p:nvSpPr>
          <p:cNvPr id="747" name="Google Shape;747;p40"/>
          <p:cNvSpPr txBox="1"/>
          <p:nvPr/>
        </p:nvSpPr>
        <p:spPr>
          <a:xfrm>
            <a:off x="152400" y="4859337"/>
            <a:ext cx="8839200" cy="14636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To find the final result, divide the polynomial of degree 12 by the polynomial of degree 8 (the modulus) and keep only the remainder. Figure 4.10 shows the process of division.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4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754" name="Google Shape;754;p4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55" name="Google Shape;755;p4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56" name="Google Shape;756;p4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57" name="Google Shape;757;p4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58" name="Google Shape;758;p4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59" name="Google Shape;759;p4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60" name="Google Shape;760;p4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61" name="Google Shape;761;p41"/>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pic>
        <p:nvPicPr>
          <p:cNvPr id="762" name="Google Shape;762;p41"/>
          <p:cNvPicPr preferRelativeResize="0"/>
          <p:nvPr/>
        </p:nvPicPr>
        <p:blipFill rotWithShape="1">
          <a:blip r:embed="rId3">
            <a:alphaModFix/>
          </a:blip>
          <a:srcRect b="0" l="0" r="0" t="0"/>
          <a:stretch/>
        </p:blipFill>
        <p:spPr>
          <a:xfrm>
            <a:off x="1008062" y="1462087"/>
            <a:ext cx="7127875" cy="3932237"/>
          </a:xfrm>
          <a:prstGeom prst="rect">
            <a:avLst/>
          </a:prstGeom>
          <a:noFill/>
          <a:ln>
            <a:noFill/>
          </a:ln>
        </p:spPr>
      </p:pic>
      <p:sp>
        <p:nvSpPr>
          <p:cNvPr id="763" name="Google Shape;763;p41"/>
          <p:cNvSpPr txBox="1"/>
          <p:nvPr/>
        </p:nvSpPr>
        <p:spPr>
          <a:xfrm>
            <a:off x="1066800" y="609600"/>
            <a:ext cx="66452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4.10  </a:t>
            </a:r>
            <a:r>
              <a:rPr b="1" i="1" lang="en-US" sz="2000" u="none">
                <a:solidFill>
                  <a:schemeClr val="dk1"/>
                </a:solidFill>
                <a:latin typeface="Times New Roman"/>
                <a:ea typeface="Times New Roman"/>
                <a:cs typeface="Times New Roman"/>
                <a:sym typeface="Times New Roman"/>
              </a:rPr>
              <a:t>Polynomial division with coefficients in GF(2)</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4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770" name="Google Shape;770;p4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71" name="Google Shape;771;p4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72" name="Google Shape;772;p4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73" name="Google Shape;773;p4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74" name="Google Shape;774;p4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75" name="Google Shape;775;p4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76" name="Google Shape;776;p4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77" name="Google Shape;777;p42"/>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778" name="Google Shape;778;p42"/>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4.20</a:t>
            </a:r>
            <a:endParaRPr/>
          </a:p>
        </p:txBody>
      </p:sp>
      <p:sp>
        <p:nvSpPr>
          <p:cNvPr id="779" name="Google Shape;779;p42"/>
          <p:cNvSpPr txBox="1"/>
          <p:nvPr/>
        </p:nvSpPr>
        <p:spPr>
          <a:xfrm>
            <a:off x="152400" y="1066800"/>
            <a:ext cx="8839200" cy="5492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In GF (2</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find the inverse of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+ 1) modulo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+ 1).</a:t>
            </a:r>
            <a:endParaRPr/>
          </a:p>
        </p:txBody>
      </p:sp>
      <p:sp>
        <p:nvSpPr>
          <p:cNvPr id="780" name="Google Shape;780;p42"/>
          <p:cNvSpPr txBox="1"/>
          <p:nvPr/>
        </p:nvSpPr>
        <p:spPr>
          <a:xfrm>
            <a:off x="228600" y="2057400"/>
            <a:ext cx="1268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Solution</a:t>
            </a:r>
            <a:endParaRPr/>
          </a:p>
        </p:txBody>
      </p:sp>
      <p:pic>
        <p:nvPicPr>
          <p:cNvPr id="781" name="Google Shape;781;p42"/>
          <p:cNvPicPr preferRelativeResize="0"/>
          <p:nvPr/>
        </p:nvPicPr>
        <p:blipFill rotWithShape="1">
          <a:blip r:embed="rId3">
            <a:alphaModFix/>
          </a:blip>
          <a:srcRect b="0" l="0" r="0" t="0"/>
          <a:stretch/>
        </p:blipFill>
        <p:spPr>
          <a:xfrm>
            <a:off x="155575" y="3973512"/>
            <a:ext cx="8455025" cy="1893887"/>
          </a:xfrm>
          <a:prstGeom prst="rect">
            <a:avLst/>
          </a:prstGeom>
          <a:noFill/>
          <a:ln>
            <a:noFill/>
          </a:ln>
        </p:spPr>
      </p:pic>
      <p:sp>
        <p:nvSpPr>
          <p:cNvPr id="782" name="Google Shape;782;p42"/>
          <p:cNvSpPr txBox="1"/>
          <p:nvPr/>
        </p:nvSpPr>
        <p:spPr>
          <a:xfrm>
            <a:off x="1616075" y="3276600"/>
            <a:ext cx="55467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Table 4.5  </a:t>
            </a:r>
            <a:r>
              <a:rPr b="1" i="1" lang="en-US" sz="2000" u="none">
                <a:solidFill>
                  <a:schemeClr val="dk1"/>
                </a:solidFill>
                <a:latin typeface="Times New Roman"/>
                <a:ea typeface="Times New Roman"/>
                <a:cs typeface="Times New Roman"/>
                <a:sym typeface="Times New Roman"/>
              </a:rPr>
              <a:t>Euclidean algorithm for Exercise 4.20</a:t>
            </a:r>
            <a:endParaRPr/>
          </a:p>
        </p:txBody>
      </p:sp>
      <p:sp>
        <p:nvSpPr>
          <p:cNvPr id="783" name="Google Shape;783;p42"/>
          <p:cNvSpPr txBox="1"/>
          <p:nvPr/>
        </p:nvSpPr>
        <p:spPr>
          <a:xfrm>
            <a:off x="152400" y="2422525"/>
            <a:ext cx="8839200" cy="5492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answer is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+ 1) as shown in Table 4.5.</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4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790" name="Google Shape;790;p4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91" name="Google Shape;791;p4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92" name="Google Shape;792;p4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93" name="Google Shape;793;p4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94" name="Google Shape;794;p4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95" name="Google Shape;795;p4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96" name="Google Shape;796;p4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797" name="Google Shape;797;p4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798" name="Google Shape;798;p43"/>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4.21</a:t>
            </a:r>
            <a:endParaRPr/>
          </a:p>
        </p:txBody>
      </p:sp>
      <p:sp>
        <p:nvSpPr>
          <p:cNvPr id="799" name="Google Shape;799;p43"/>
          <p:cNvSpPr txBox="1"/>
          <p:nvPr/>
        </p:nvSpPr>
        <p:spPr>
          <a:xfrm>
            <a:off x="152400" y="1054100"/>
            <a:ext cx="8839200" cy="5492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In GF(2</a:t>
            </a:r>
            <a:r>
              <a:rPr b="1" baseline="30000" i="0" lang="en-US" sz="2400" u="none">
                <a:solidFill>
                  <a:schemeClr val="dk1"/>
                </a:solidFill>
                <a:latin typeface="Times New Roman"/>
                <a:ea typeface="Times New Roman"/>
                <a:cs typeface="Times New Roman"/>
                <a:sym typeface="Times New Roman"/>
              </a:rPr>
              <a:t>8</a:t>
            </a:r>
            <a:r>
              <a:rPr b="1" i="0" lang="en-US" sz="2400" u="none">
                <a:solidFill>
                  <a:schemeClr val="dk1"/>
                </a:solidFill>
                <a:latin typeface="Times New Roman"/>
                <a:ea typeface="Times New Roman"/>
                <a:cs typeface="Times New Roman"/>
                <a:sym typeface="Times New Roman"/>
              </a:rPr>
              <a:t>), find the inverse of (x</a:t>
            </a:r>
            <a:r>
              <a:rPr b="1" baseline="30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modulo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8 </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 </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 </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x </a:t>
            </a:r>
            <a:r>
              <a:rPr b="1" i="0" lang="en-US" sz="2400" u="none">
                <a:solidFill>
                  <a:schemeClr val="dk1"/>
                </a:solidFill>
                <a:latin typeface="Times New Roman"/>
                <a:ea typeface="Times New Roman"/>
                <a:cs typeface="Times New Roman"/>
                <a:sym typeface="Times New Roman"/>
              </a:rPr>
              <a:t>+ 1).</a:t>
            </a:r>
            <a:endParaRPr/>
          </a:p>
        </p:txBody>
      </p:sp>
      <p:sp>
        <p:nvSpPr>
          <p:cNvPr id="800" name="Google Shape;800;p43"/>
          <p:cNvSpPr txBox="1"/>
          <p:nvPr/>
        </p:nvSpPr>
        <p:spPr>
          <a:xfrm>
            <a:off x="228600" y="1752600"/>
            <a:ext cx="1268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Solution</a:t>
            </a:r>
            <a:endParaRPr/>
          </a:p>
        </p:txBody>
      </p:sp>
      <p:sp>
        <p:nvSpPr>
          <p:cNvPr id="801" name="Google Shape;801;p43"/>
          <p:cNvSpPr txBox="1"/>
          <p:nvPr/>
        </p:nvSpPr>
        <p:spPr>
          <a:xfrm>
            <a:off x="1387475" y="3657600"/>
            <a:ext cx="55467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Table 4.6  </a:t>
            </a:r>
            <a:r>
              <a:rPr b="1" i="1" lang="en-US" sz="2000" u="none">
                <a:solidFill>
                  <a:schemeClr val="dk1"/>
                </a:solidFill>
                <a:latin typeface="Times New Roman"/>
                <a:ea typeface="Times New Roman"/>
                <a:cs typeface="Times New Roman"/>
                <a:sym typeface="Times New Roman"/>
              </a:rPr>
              <a:t>Euclidean algorithm for Exercise 4.21</a:t>
            </a:r>
            <a:endParaRPr/>
          </a:p>
        </p:txBody>
      </p:sp>
      <p:pic>
        <p:nvPicPr>
          <p:cNvPr id="802" name="Google Shape;802;p43"/>
          <p:cNvPicPr preferRelativeResize="0"/>
          <p:nvPr/>
        </p:nvPicPr>
        <p:blipFill rotWithShape="1">
          <a:blip r:embed="rId3">
            <a:alphaModFix/>
          </a:blip>
          <a:srcRect b="0" l="0" r="0" t="0"/>
          <a:stretch/>
        </p:blipFill>
        <p:spPr>
          <a:xfrm>
            <a:off x="225425" y="4294187"/>
            <a:ext cx="8537575" cy="2030412"/>
          </a:xfrm>
          <a:prstGeom prst="rect">
            <a:avLst/>
          </a:prstGeom>
          <a:noFill/>
          <a:ln>
            <a:noFill/>
          </a:ln>
        </p:spPr>
      </p:pic>
      <p:sp>
        <p:nvSpPr>
          <p:cNvPr id="803" name="Google Shape;803;p43"/>
          <p:cNvSpPr txBox="1"/>
          <p:nvPr/>
        </p:nvSpPr>
        <p:spPr>
          <a:xfrm>
            <a:off x="152400" y="2262187"/>
            <a:ext cx="8839200" cy="5492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answer is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as shown in Table 4.6.</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4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810" name="Google Shape;810;p4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11" name="Google Shape;811;p4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12" name="Google Shape;812;p4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13" name="Google Shape;813;p4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14" name="Google Shape;814;p4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15" name="Google Shape;815;p4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16" name="Google Shape;816;p4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17" name="Google Shape;817;p4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818" name="Google Shape;818;p44"/>
          <p:cNvSpPr txBox="1"/>
          <p:nvPr/>
        </p:nvSpPr>
        <p:spPr>
          <a:xfrm>
            <a:off x="152400" y="1111250"/>
            <a:ext cx="88392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The computer implementation uses a better algorithm, repeatedly multiplying a reduced polynomial by </a:t>
            </a:r>
            <a:r>
              <a:rPr b="1" i="1" lang="en-US" sz="2800" u="none">
                <a:solidFill>
                  <a:schemeClr val="dk1"/>
                </a:solidFill>
                <a:latin typeface="Times New Roman"/>
                <a:ea typeface="Times New Roman"/>
                <a:cs typeface="Times New Roman"/>
                <a:sym typeface="Times New Roman"/>
              </a:rPr>
              <a:t>x</a:t>
            </a:r>
            <a:r>
              <a:rPr b="1" i="0" lang="en-US" sz="2800" u="none">
                <a:solidFill>
                  <a:schemeClr val="dk1"/>
                </a:solidFill>
                <a:latin typeface="Times New Roman"/>
                <a:ea typeface="Times New Roman"/>
                <a:cs typeface="Times New Roman"/>
                <a:sym typeface="Times New Roman"/>
              </a:rPr>
              <a:t>. </a:t>
            </a:r>
            <a:endParaRPr/>
          </a:p>
        </p:txBody>
      </p:sp>
      <p:sp>
        <p:nvSpPr>
          <p:cNvPr id="819" name="Google Shape;819;p44"/>
          <p:cNvSpPr txBox="1"/>
          <p:nvPr/>
        </p:nvSpPr>
        <p:spPr>
          <a:xfrm>
            <a:off x="1147762" y="533400"/>
            <a:ext cx="43656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Multliplication Using Computer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4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826" name="Google Shape;826;p4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27" name="Google Shape;827;p4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28" name="Google Shape;828;p4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29" name="Google Shape;829;p4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30" name="Google Shape;830;p4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31" name="Google Shape;831;p4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32" name="Google Shape;832;p4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33" name="Google Shape;833;p4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834" name="Google Shape;834;p45"/>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4.22</a:t>
            </a:r>
            <a:endParaRPr/>
          </a:p>
        </p:txBody>
      </p:sp>
      <p:sp>
        <p:nvSpPr>
          <p:cNvPr id="835" name="Google Shape;835;p45"/>
          <p:cNvSpPr txBox="1"/>
          <p:nvPr/>
        </p:nvSpPr>
        <p:spPr>
          <a:xfrm>
            <a:off x="152400" y="1127125"/>
            <a:ext cx="8839200" cy="14636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Find the result of multiplying P</a:t>
            </a:r>
            <a:r>
              <a:rPr b="1" baseline="-25000" i="0" lang="en-US" sz="2400" u="none">
                <a:solidFill>
                  <a:schemeClr val="dk1"/>
                </a:solidFill>
                <a:latin typeface="Times New Roman"/>
                <a:ea typeface="Times New Roman"/>
                <a:cs typeface="Times New Roman"/>
                <a:sym typeface="Times New Roman"/>
              </a:rPr>
              <a:t>1</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by P</a:t>
            </a:r>
            <a:r>
              <a:rPr b="1" baseline="-25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7</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in GF(2</a:t>
            </a:r>
            <a:r>
              <a:rPr b="1" baseline="30000" i="0" lang="en-US" sz="2400" u="none">
                <a:solidFill>
                  <a:schemeClr val="dk1"/>
                </a:solidFill>
                <a:latin typeface="Times New Roman"/>
                <a:ea typeface="Times New Roman"/>
                <a:cs typeface="Times New Roman"/>
                <a:sym typeface="Times New Roman"/>
              </a:rPr>
              <a:t>8</a:t>
            </a:r>
            <a:r>
              <a:rPr b="1" i="0" lang="en-US" sz="2400" u="none">
                <a:solidFill>
                  <a:schemeClr val="dk1"/>
                </a:solidFill>
                <a:latin typeface="Times New Roman"/>
                <a:ea typeface="Times New Roman"/>
                <a:cs typeface="Times New Roman"/>
                <a:sym typeface="Times New Roman"/>
              </a:rPr>
              <a:t>) with irreducible polynomial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8</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+ 1) using the algorithm described above.</a:t>
            </a:r>
            <a:endParaRPr/>
          </a:p>
        </p:txBody>
      </p:sp>
      <p:sp>
        <p:nvSpPr>
          <p:cNvPr id="836" name="Google Shape;836;p45"/>
          <p:cNvSpPr txBox="1"/>
          <p:nvPr/>
        </p:nvSpPr>
        <p:spPr>
          <a:xfrm>
            <a:off x="228600" y="2667000"/>
            <a:ext cx="1268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Solution</a:t>
            </a:r>
            <a:endParaRPr/>
          </a:p>
        </p:txBody>
      </p:sp>
      <p:sp>
        <p:nvSpPr>
          <p:cNvPr id="837" name="Google Shape;837;p45"/>
          <p:cNvSpPr txBox="1"/>
          <p:nvPr/>
        </p:nvSpPr>
        <p:spPr>
          <a:xfrm>
            <a:off x="152400" y="3048000"/>
            <a:ext cx="8839200" cy="19208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process is shown in Table 4.7. We first find the partial result of multiplying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0</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1</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and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5</a:t>
            </a:r>
            <a:r>
              <a:rPr b="1" i="0" lang="en-US" sz="2400" u="none">
                <a:solidFill>
                  <a:schemeClr val="dk1"/>
                </a:solidFill>
                <a:latin typeface="Times New Roman"/>
                <a:ea typeface="Times New Roman"/>
                <a:cs typeface="Times New Roman"/>
                <a:sym typeface="Times New Roman"/>
              </a:rPr>
              <a:t> by P</a:t>
            </a:r>
            <a:r>
              <a:rPr b="1" baseline="-25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Note that although only three terms are needed, the product of </a:t>
            </a:r>
            <a:r>
              <a:rPr b="1" i="1" lang="en-US" sz="2400" u="none">
                <a:solidFill>
                  <a:schemeClr val="dk1"/>
                </a:solidFill>
                <a:latin typeface="Times New Roman"/>
                <a:ea typeface="Times New Roman"/>
                <a:cs typeface="Times New Roman"/>
                <a:sym typeface="Times New Roman"/>
              </a:rPr>
              <a:t>x</a:t>
            </a:r>
            <a:r>
              <a:rPr b="1" baseline="30000" i="1" lang="en-US" sz="2400" u="none">
                <a:solidFill>
                  <a:schemeClr val="dk1"/>
                </a:solidFill>
                <a:latin typeface="Times New Roman"/>
                <a:ea typeface="Times New Roman"/>
                <a:cs typeface="Times New Roman"/>
                <a:sym typeface="Times New Roman"/>
              </a:rPr>
              <a:t>m</a:t>
            </a:r>
            <a:r>
              <a:rPr b="1" i="0" lang="en-US" sz="2400" u="none">
                <a:solidFill>
                  <a:schemeClr val="dk1"/>
                </a:solidFill>
                <a:latin typeface="Times New Roman"/>
                <a:ea typeface="Times New Roman"/>
                <a:cs typeface="Times New Roman"/>
                <a:sym typeface="Times New Roman"/>
              </a:rPr>
              <a:t> ⊗ P</a:t>
            </a:r>
            <a:r>
              <a:rPr b="1" baseline="-25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for </a:t>
            </a:r>
            <a:r>
              <a:rPr b="1" i="1" lang="en-US" sz="2400" u="none">
                <a:solidFill>
                  <a:schemeClr val="dk1"/>
                </a:solidFill>
                <a:latin typeface="Times New Roman"/>
                <a:ea typeface="Times New Roman"/>
                <a:cs typeface="Times New Roman"/>
                <a:sym typeface="Times New Roman"/>
              </a:rPr>
              <a:t>m</a:t>
            </a:r>
            <a:r>
              <a:rPr b="1" i="0" lang="en-US" sz="2400" u="none">
                <a:solidFill>
                  <a:schemeClr val="dk1"/>
                </a:solidFill>
                <a:latin typeface="Times New Roman"/>
                <a:ea typeface="Times New Roman"/>
                <a:cs typeface="Times New Roman"/>
                <a:sym typeface="Times New Roman"/>
              </a:rPr>
              <a:t> from 0 to 5 because each calculation depends on the previous result.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4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844" name="Google Shape;844;p4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45" name="Google Shape;845;p4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46" name="Google Shape;846;p4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47" name="Google Shape;847;p4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48" name="Google Shape;848;p4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49" name="Google Shape;849;p4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50" name="Google Shape;850;p4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51" name="Google Shape;851;p4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852" name="Google Shape;852;p46"/>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4.22</a:t>
            </a:r>
            <a:endParaRPr/>
          </a:p>
        </p:txBody>
      </p:sp>
      <p:sp>
        <p:nvSpPr>
          <p:cNvPr id="853" name="Google Shape;853;p46"/>
          <p:cNvSpPr txBox="1"/>
          <p:nvPr/>
        </p:nvSpPr>
        <p:spPr>
          <a:xfrm>
            <a:off x="1387475" y="1676400"/>
            <a:ext cx="55308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Table 4.7  </a:t>
            </a:r>
            <a:r>
              <a:rPr b="1" i="1" lang="en-US" sz="2000" u="none">
                <a:solidFill>
                  <a:schemeClr val="dk1"/>
                </a:solidFill>
                <a:latin typeface="Times New Roman"/>
                <a:ea typeface="Times New Roman"/>
                <a:cs typeface="Times New Roman"/>
                <a:sym typeface="Times New Roman"/>
              </a:rPr>
              <a:t>An efficient algorithm (Example 4.22)</a:t>
            </a:r>
            <a:endParaRPr/>
          </a:p>
        </p:txBody>
      </p:sp>
      <p:sp>
        <p:nvSpPr>
          <p:cNvPr id="854" name="Google Shape;854;p46"/>
          <p:cNvSpPr txBox="1"/>
          <p:nvPr/>
        </p:nvSpPr>
        <p:spPr>
          <a:xfrm>
            <a:off x="3124200" y="533400"/>
            <a:ext cx="172561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Continued</a:t>
            </a:r>
            <a:endParaRPr/>
          </a:p>
        </p:txBody>
      </p:sp>
      <p:pic>
        <p:nvPicPr>
          <p:cNvPr id="855" name="Google Shape;855;p46"/>
          <p:cNvPicPr preferRelativeResize="0"/>
          <p:nvPr/>
        </p:nvPicPr>
        <p:blipFill rotWithShape="1">
          <a:blip r:embed="rId3">
            <a:alphaModFix/>
          </a:blip>
          <a:srcRect b="0" l="0" r="0" t="0"/>
          <a:stretch/>
        </p:blipFill>
        <p:spPr>
          <a:xfrm>
            <a:off x="192087" y="2252662"/>
            <a:ext cx="8647112" cy="338613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4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862" name="Google Shape;862;p4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63" name="Google Shape;863;p4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64" name="Google Shape;864;p4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65" name="Google Shape;865;p4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66" name="Google Shape;866;p4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67" name="Google Shape;867;p4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68" name="Google Shape;868;p4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69" name="Google Shape;869;p4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870" name="Google Shape;870;p47"/>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4.23</a:t>
            </a:r>
            <a:endParaRPr/>
          </a:p>
        </p:txBody>
      </p:sp>
      <p:sp>
        <p:nvSpPr>
          <p:cNvPr id="871" name="Google Shape;871;p47"/>
          <p:cNvSpPr txBox="1"/>
          <p:nvPr/>
        </p:nvSpPr>
        <p:spPr>
          <a:xfrm>
            <a:off x="152400" y="990600"/>
            <a:ext cx="8839200" cy="5492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Repeat Example 4.22 using bit patterns of size 8.</a:t>
            </a:r>
            <a:endParaRPr/>
          </a:p>
        </p:txBody>
      </p:sp>
      <p:sp>
        <p:nvSpPr>
          <p:cNvPr id="872" name="Google Shape;872;p47"/>
          <p:cNvSpPr txBox="1"/>
          <p:nvPr/>
        </p:nvSpPr>
        <p:spPr>
          <a:xfrm>
            <a:off x="152400" y="1524000"/>
            <a:ext cx="1268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Solution</a:t>
            </a:r>
            <a:endParaRPr/>
          </a:p>
        </p:txBody>
      </p:sp>
      <p:sp>
        <p:nvSpPr>
          <p:cNvPr id="873" name="Google Shape;873;p47"/>
          <p:cNvSpPr txBox="1"/>
          <p:nvPr/>
        </p:nvSpPr>
        <p:spPr>
          <a:xfrm>
            <a:off x="152400" y="1981200"/>
            <a:ext cx="8839200" cy="10064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We have P1 = 00100110, P2 = 10011110, modulus = 100011010 (nine bits). We show the exclusive or operation by </a:t>
            </a:r>
            <a:r>
              <a:rPr b="1" i="0" lang="en-US" sz="2400" u="none">
                <a:solidFill>
                  <a:schemeClr val="dk1"/>
                </a:solidFill>
                <a:latin typeface="Noto Sans Symbols"/>
                <a:ea typeface="Noto Sans Symbols"/>
                <a:cs typeface="Noto Sans Symbols"/>
                <a:sym typeface="Noto Sans Symbols"/>
              </a:rPr>
              <a:t>⊕</a:t>
            </a:r>
            <a:r>
              <a:rPr b="1" i="0" lang="en-US" sz="2400" u="none">
                <a:solidFill>
                  <a:schemeClr val="dk1"/>
                </a:solidFill>
                <a:latin typeface="Times New Roman"/>
                <a:ea typeface="Times New Roman"/>
                <a:cs typeface="Times New Roman"/>
                <a:sym typeface="Times New Roman"/>
              </a:rPr>
              <a:t>. </a:t>
            </a:r>
            <a:endParaRPr/>
          </a:p>
        </p:txBody>
      </p:sp>
      <p:pic>
        <p:nvPicPr>
          <p:cNvPr id="874" name="Google Shape;874;p47"/>
          <p:cNvPicPr preferRelativeResize="0"/>
          <p:nvPr/>
        </p:nvPicPr>
        <p:blipFill rotWithShape="1">
          <a:blip r:embed="rId3">
            <a:alphaModFix/>
          </a:blip>
          <a:srcRect b="0" l="0" r="0" t="0"/>
          <a:stretch/>
        </p:blipFill>
        <p:spPr>
          <a:xfrm>
            <a:off x="328612" y="3673475"/>
            <a:ext cx="8510587" cy="2955925"/>
          </a:xfrm>
          <a:prstGeom prst="rect">
            <a:avLst/>
          </a:prstGeom>
          <a:noFill/>
          <a:ln>
            <a:noFill/>
          </a:ln>
        </p:spPr>
      </p:pic>
      <p:sp>
        <p:nvSpPr>
          <p:cNvPr id="875" name="Google Shape;875;p47"/>
          <p:cNvSpPr txBox="1"/>
          <p:nvPr/>
        </p:nvSpPr>
        <p:spPr>
          <a:xfrm>
            <a:off x="685800" y="3124200"/>
            <a:ext cx="76406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Table 4.8  </a:t>
            </a:r>
            <a:r>
              <a:rPr b="1" i="1" lang="en-US" sz="2000" u="none">
                <a:solidFill>
                  <a:schemeClr val="dk1"/>
                </a:solidFill>
                <a:latin typeface="Times New Roman"/>
                <a:ea typeface="Times New Roman"/>
                <a:cs typeface="Times New Roman"/>
                <a:sym typeface="Times New Roman"/>
              </a:rPr>
              <a:t>An efficient algorithm for multiplication using n-bit words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4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882" name="Google Shape;882;p4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83" name="Google Shape;883;p4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84" name="Google Shape;884;p4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85" name="Google Shape;885;p4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86" name="Google Shape;886;p4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87" name="Google Shape;887;p4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88" name="Google Shape;888;p4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89" name="Google Shape;889;p48"/>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890" name="Google Shape;890;p48"/>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4.24</a:t>
            </a:r>
            <a:endParaRPr/>
          </a:p>
        </p:txBody>
      </p:sp>
      <p:sp>
        <p:nvSpPr>
          <p:cNvPr id="891" name="Google Shape;891;p48"/>
          <p:cNvSpPr txBox="1"/>
          <p:nvPr/>
        </p:nvSpPr>
        <p:spPr>
          <a:xfrm>
            <a:off x="152400" y="1279525"/>
            <a:ext cx="8839200" cy="28352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GF(2</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field has 8 elements. We use the irreducible polynomial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+ 1) and show the addition and multiplication tables for this field. We show both 3-bit words and the polynomials. Note that there are two irreducible polynomials for degree 3. The other one,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+ 1), yields a totally different table for multiplication.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4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898" name="Google Shape;898;p4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899" name="Google Shape;899;p4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00" name="Google Shape;900;p4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01" name="Google Shape;901;p4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02" name="Google Shape;902;p4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03" name="Google Shape;903;p4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04" name="Google Shape;904;p4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05" name="Google Shape;905;p49"/>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906" name="Google Shape;906;p49"/>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4.24</a:t>
            </a:r>
            <a:endParaRPr/>
          </a:p>
        </p:txBody>
      </p:sp>
      <p:sp>
        <p:nvSpPr>
          <p:cNvPr id="907" name="Google Shape;907;p49"/>
          <p:cNvSpPr txBox="1"/>
          <p:nvPr/>
        </p:nvSpPr>
        <p:spPr>
          <a:xfrm>
            <a:off x="2178050" y="1143000"/>
            <a:ext cx="4222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Table 4.9  </a:t>
            </a:r>
            <a:r>
              <a:rPr b="1" i="1" lang="en-US" sz="2000" u="none">
                <a:solidFill>
                  <a:schemeClr val="dk1"/>
                </a:solidFill>
                <a:latin typeface="Times New Roman"/>
                <a:ea typeface="Times New Roman"/>
                <a:cs typeface="Times New Roman"/>
                <a:sym typeface="Times New Roman"/>
              </a:rPr>
              <a:t>Addition table for GF(23)</a:t>
            </a:r>
            <a:endParaRPr/>
          </a:p>
        </p:txBody>
      </p:sp>
      <p:sp>
        <p:nvSpPr>
          <p:cNvPr id="908" name="Google Shape;908;p49"/>
          <p:cNvSpPr txBox="1"/>
          <p:nvPr/>
        </p:nvSpPr>
        <p:spPr>
          <a:xfrm>
            <a:off x="3124200" y="533400"/>
            <a:ext cx="172561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Continued</a:t>
            </a:r>
            <a:endParaRPr/>
          </a:p>
        </p:txBody>
      </p:sp>
      <p:pic>
        <p:nvPicPr>
          <p:cNvPr id="909" name="Google Shape;909;p49"/>
          <p:cNvPicPr preferRelativeResize="0"/>
          <p:nvPr/>
        </p:nvPicPr>
        <p:blipFill rotWithShape="1">
          <a:blip r:embed="rId3">
            <a:alphaModFix/>
          </a:blip>
          <a:srcRect b="0" l="0" r="0" t="0"/>
          <a:stretch/>
        </p:blipFill>
        <p:spPr>
          <a:xfrm>
            <a:off x="441325" y="1636712"/>
            <a:ext cx="8474075" cy="484028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5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916" name="Google Shape;916;p5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17" name="Google Shape;917;p5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18" name="Google Shape;918;p5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19" name="Google Shape;919;p5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20" name="Google Shape;920;p5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21" name="Google Shape;921;p5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22" name="Google Shape;922;p5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23" name="Google Shape;923;p50"/>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924" name="Google Shape;924;p50"/>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4.24</a:t>
            </a:r>
            <a:endParaRPr/>
          </a:p>
        </p:txBody>
      </p:sp>
      <p:sp>
        <p:nvSpPr>
          <p:cNvPr id="925" name="Google Shape;925;p50"/>
          <p:cNvSpPr txBox="1"/>
          <p:nvPr/>
        </p:nvSpPr>
        <p:spPr>
          <a:xfrm>
            <a:off x="2178050" y="1143000"/>
            <a:ext cx="49196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Table 4.10  </a:t>
            </a:r>
            <a:r>
              <a:rPr b="1" i="1" lang="en-US" sz="2000" u="none">
                <a:solidFill>
                  <a:schemeClr val="dk1"/>
                </a:solidFill>
                <a:latin typeface="Times New Roman"/>
                <a:ea typeface="Times New Roman"/>
                <a:cs typeface="Times New Roman"/>
                <a:sym typeface="Times New Roman"/>
              </a:rPr>
              <a:t>Multiplication table for GF(2</a:t>
            </a:r>
            <a:r>
              <a:rPr b="1" baseline="30000" i="1" lang="en-US" sz="2000" u="none">
                <a:solidFill>
                  <a:schemeClr val="dk1"/>
                </a:solidFill>
                <a:latin typeface="Times New Roman"/>
                <a:ea typeface="Times New Roman"/>
                <a:cs typeface="Times New Roman"/>
                <a:sym typeface="Times New Roman"/>
              </a:rPr>
              <a:t>3</a:t>
            </a:r>
            <a:r>
              <a:rPr b="1" i="1" lang="en-US" sz="2000" u="none">
                <a:solidFill>
                  <a:schemeClr val="dk1"/>
                </a:solidFill>
                <a:latin typeface="Times New Roman"/>
                <a:ea typeface="Times New Roman"/>
                <a:cs typeface="Times New Roman"/>
                <a:sym typeface="Times New Roman"/>
              </a:rPr>
              <a:t>)</a:t>
            </a:r>
            <a:endParaRPr/>
          </a:p>
        </p:txBody>
      </p:sp>
      <p:sp>
        <p:nvSpPr>
          <p:cNvPr id="926" name="Google Shape;926;p50"/>
          <p:cNvSpPr txBox="1"/>
          <p:nvPr/>
        </p:nvSpPr>
        <p:spPr>
          <a:xfrm>
            <a:off x="3124200" y="533400"/>
            <a:ext cx="172561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Continued</a:t>
            </a:r>
            <a:endParaRPr/>
          </a:p>
        </p:txBody>
      </p:sp>
      <p:pic>
        <p:nvPicPr>
          <p:cNvPr id="927" name="Google Shape;927;p50"/>
          <p:cNvPicPr preferRelativeResize="0"/>
          <p:nvPr/>
        </p:nvPicPr>
        <p:blipFill rotWithShape="1">
          <a:blip r:embed="rId3">
            <a:alphaModFix/>
          </a:blip>
          <a:srcRect b="0" l="0" r="0" t="0"/>
          <a:stretch/>
        </p:blipFill>
        <p:spPr>
          <a:xfrm>
            <a:off x="673100" y="1600200"/>
            <a:ext cx="7934325" cy="496411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5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934" name="Google Shape;934;p5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35" name="Google Shape;935;p5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36" name="Google Shape;936;p5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37" name="Google Shape;937;p5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38" name="Google Shape;938;p5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39" name="Google Shape;939;p5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40" name="Google Shape;940;p5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41" name="Google Shape;941;p51"/>
          <p:cNvSpPr txBox="1"/>
          <p:nvPr/>
        </p:nvSpPr>
        <p:spPr>
          <a:xfrm>
            <a:off x="1143000" y="0"/>
            <a:ext cx="46228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4.2.2     Using a Generator</a:t>
            </a:r>
            <a:endParaRPr/>
          </a:p>
        </p:txBody>
      </p:sp>
      <p:sp>
        <p:nvSpPr>
          <p:cNvPr id="942" name="Google Shape;942;p51"/>
          <p:cNvSpPr txBox="1"/>
          <p:nvPr/>
        </p:nvSpPr>
        <p:spPr>
          <a:xfrm>
            <a:off x="152400" y="1066800"/>
            <a:ext cx="88392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Sometimes it is easier to define the elements of the GF(2</a:t>
            </a:r>
            <a:r>
              <a:rPr b="1" baseline="30000" i="1" lang="en-US" sz="28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 field using a generator. </a:t>
            </a:r>
            <a:endParaRPr/>
          </a:p>
        </p:txBody>
      </p:sp>
      <p:pic>
        <p:nvPicPr>
          <p:cNvPr id="943" name="Google Shape;943;p51"/>
          <p:cNvPicPr preferRelativeResize="0"/>
          <p:nvPr/>
        </p:nvPicPr>
        <p:blipFill rotWithShape="1">
          <a:blip r:embed="rId3">
            <a:alphaModFix/>
          </a:blip>
          <a:srcRect b="0" l="0" r="0" t="0"/>
          <a:stretch/>
        </p:blipFill>
        <p:spPr>
          <a:xfrm>
            <a:off x="576262" y="2819400"/>
            <a:ext cx="8262937" cy="971550"/>
          </a:xfrm>
          <a:prstGeom prst="rect">
            <a:avLst/>
          </a:prstGeom>
          <a:noFill/>
          <a:ln cap="flat" cmpd="sng" w="57150">
            <a:solidFill>
              <a:schemeClr val="folHlink"/>
            </a:solidFill>
            <a:prstDash val="solid"/>
            <a:miter lim="800000"/>
            <a:headEnd len="sm" w="sm" type="none"/>
            <a:tailEnd len="sm" w="sm" type="none"/>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5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950" name="Google Shape;950;p5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51" name="Google Shape;951;p5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52" name="Google Shape;952;p5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53" name="Google Shape;953;p5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54" name="Google Shape;954;p5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55" name="Google Shape;955;p5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56" name="Google Shape;956;p5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57" name="Google Shape;957;p52"/>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958" name="Google Shape;958;p52"/>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4.25</a:t>
            </a:r>
            <a:endParaRPr/>
          </a:p>
        </p:txBody>
      </p:sp>
      <p:sp>
        <p:nvSpPr>
          <p:cNvPr id="959" name="Google Shape;959;p52"/>
          <p:cNvSpPr txBox="1"/>
          <p:nvPr/>
        </p:nvSpPr>
        <p:spPr>
          <a:xfrm>
            <a:off x="152400" y="1143000"/>
            <a:ext cx="8839200" cy="10064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Generate the elements of the field GF(2</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using the irreducible polynomial ƒ(</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x</a:t>
            </a:r>
            <a:r>
              <a:rPr b="1" i="0" lang="en-US" sz="2400" u="none">
                <a:solidFill>
                  <a:schemeClr val="dk1"/>
                </a:solidFill>
                <a:latin typeface="Times New Roman"/>
                <a:ea typeface="Times New Roman"/>
                <a:cs typeface="Times New Roman"/>
                <a:sym typeface="Times New Roman"/>
              </a:rPr>
              <a:t> + 1. </a:t>
            </a:r>
            <a:endParaRPr/>
          </a:p>
        </p:txBody>
      </p:sp>
      <p:sp>
        <p:nvSpPr>
          <p:cNvPr id="960" name="Google Shape;960;p52"/>
          <p:cNvSpPr txBox="1"/>
          <p:nvPr/>
        </p:nvSpPr>
        <p:spPr>
          <a:xfrm>
            <a:off x="152400" y="2895600"/>
            <a:ext cx="8839200" cy="23780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elements 0, </a:t>
            </a:r>
            <a:r>
              <a:rPr b="1" i="1" lang="en-US" sz="2400" u="none">
                <a:solidFill>
                  <a:schemeClr val="dk1"/>
                </a:solidFill>
                <a:latin typeface="Times New Roman"/>
                <a:ea typeface="Times New Roman"/>
                <a:cs typeface="Times New Roman"/>
                <a:sym typeface="Times New Roman"/>
              </a:rPr>
              <a:t>g</a:t>
            </a:r>
            <a:r>
              <a:rPr b="1" baseline="30000" i="0" lang="en-US" sz="2400" u="none">
                <a:solidFill>
                  <a:schemeClr val="dk1"/>
                </a:solidFill>
                <a:latin typeface="Times New Roman"/>
                <a:ea typeface="Times New Roman"/>
                <a:cs typeface="Times New Roman"/>
                <a:sym typeface="Times New Roman"/>
              </a:rPr>
              <a:t>0</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g</a:t>
            </a:r>
            <a:r>
              <a:rPr b="1" baseline="30000" i="0" lang="en-US" sz="2400" u="none">
                <a:solidFill>
                  <a:schemeClr val="dk1"/>
                </a:solidFill>
                <a:latin typeface="Times New Roman"/>
                <a:ea typeface="Times New Roman"/>
                <a:cs typeface="Times New Roman"/>
                <a:sym typeface="Times New Roman"/>
              </a:rPr>
              <a:t>1</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g</a:t>
            </a:r>
            <a:r>
              <a:rPr b="1" i="0" lang="en-US" sz="2400" u="none">
                <a:solidFill>
                  <a:schemeClr val="dk1"/>
                </a:solidFill>
                <a:latin typeface="Times New Roman"/>
                <a:ea typeface="Times New Roman"/>
                <a:cs typeface="Times New Roman"/>
                <a:sym typeface="Times New Roman"/>
              </a:rPr>
              <a:t>2, and </a:t>
            </a:r>
            <a:r>
              <a:rPr b="1" i="1" lang="en-US" sz="2400" u="none">
                <a:solidFill>
                  <a:schemeClr val="dk1"/>
                </a:solidFill>
                <a:latin typeface="Times New Roman"/>
                <a:ea typeface="Times New Roman"/>
                <a:cs typeface="Times New Roman"/>
                <a:sym typeface="Times New Roman"/>
              </a:rPr>
              <a:t>g</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can be easily generated, because they are the 4-bit representations of 0, 1,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and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 Elements </a:t>
            </a:r>
            <a:r>
              <a:rPr b="1" i="1" lang="en-US" sz="2400" u="none">
                <a:solidFill>
                  <a:schemeClr val="dk1"/>
                </a:solidFill>
                <a:latin typeface="Times New Roman"/>
                <a:ea typeface="Times New Roman"/>
                <a:cs typeface="Times New Roman"/>
                <a:sym typeface="Times New Roman"/>
              </a:rPr>
              <a:t>g</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through </a:t>
            </a:r>
            <a:r>
              <a:rPr b="1" i="1" lang="en-US" sz="2400" u="none">
                <a:solidFill>
                  <a:schemeClr val="dk1"/>
                </a:solidFill>
                <a:latin typeface="Times New Roman"/>
                <a:ea typeface="Times New Roman"/>
                <a:cs typeface="Times New Roman"/>
                <a:sym typeface="Times New Roman"/>
              </a:rPr>
              <a:t>g</a:t>
            </a:r>
            <a:r>
              <a:rPr b="1" baseline="30000" i="0" lang="en-US" sz="2400" u="none">
                <a:solidFill>
                  <a:schemeClr val="dk1"/>
                </a:solidFill>
                <a:latin typeface="Times New Roman"/>
                <a:ea typeface="Times New Roman"/>
                <a:cs typeface="Times New Roman"/>
                <a:sym typeface="Times New Roman"/>
              </a:rPr>
              <a:t>14</a:t>
            </a:r>
            <a:r>
              <a:rPr b="1" i="0" lang="en-US" sz="2400" u="none">
                <a:solidFill>
                  <a:schemeClr val="dk1"/>
                </a:solidFill>
                <a:latin typeface="Times New Roman"/>
                <a:ea typeface="Times New Roman"/>
                <a:cs typeface="Times New Roman"/>
                <a:sym typeface="Times New Roman"/>
              </a:rPr>
              <a:t>, which represent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though </a:t>
            </a:r>
            <a:r>
              <a:rPr b="1" i="1" lang="en-US" sz="2400" u="none">
                <a:solidFill>
                  <a:schemeClr val="dk1"/>
                </a:solidFill>
                <a:latin typeface="Times New Roman"/>
                <a:ea typeface="Times New Roman"/>
                <a:cs typeface="Times New Roman"/>
                <a:sym typeface="Times New Roman"/>
              </a:rPr>
              <a:t>x</a:t>
            </a:r>
            <a:r>
              <a:rPr b="1" baseline="30000" i="0" lang="en-US" sz="2400" u="none">
                <a:solidFill>
                  <a:schemeClr val="dk1"/>
                </a:solidFill>
                <a:latin typeface="Times New Roman"/>
                <a:ea typeface="Times New Roman"/>
                <a:cs typeface="Times New Roman"/>
                <a:sym typeface="Times New Roman"/>
              </a:rPr>
              <a:t>14</a:t>
            </a:r>
            <a:r>
              <a:rPr b="1" i="0" lang="en-US" sz="2400" u="none">
                <a:solidFill>
                  <a:schemeClr val="dk1"/>
                </a:solidFill>
                <a:latin typeface="Times New Roman"/>
                <a:ea typeface="Times New Roman"/>
                <a:cs typeface="Times New Roman"/>
                <a:sym typeface="Times New Roman"/>
              </a:rPr>
              <a:t> need to be divided by the irreducible polynomial. To avoid the polynomial division, the relation ƒ(</a:t>
            </a:r>
            <a:r>
              <a:rPr b="1" i="1" lang="en-US" sz="2400" u="none">
                <a:solidFill>
                  <a:schemeClr val="dk1"/>
                </a:solidFill>
                <a:latin typeface="Times New Roman"/>
                <a:ea typeface="Times New Roman"/>
                <a:cs typeface="Times New Roman"/>
                <a:sym typeface="Times New Roman"/>
              </a:rPr>
              <a:t>g</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g</a:t>
            </a:r>
            <a:r>
              <a:rPr b="1" baseline="30000" i="0" lang="en-US" sz="2400" u="none">
                <a:solidFill>
                  <a:schemeClr val="dk1"/>
                </a:solidFill>
                <a:latin typeface="Times New Roman"/>
                <a:ea typeface="Times New Roman"/>
                <a:cs typeface="Times New Roman"/>
                <a:sym typeface="Times New Roman"/>
              </a:rPr>
              <a:t>4</a:t>
            </a:r>
            <a:r>
              <a:rPr b="1" i="0" lang="en-US" sz="2400" u="none">
                <a:solidFill>
                  <a:schemeClr val="dk1"/>
                </a:solidFill>
                <a:latin typeface="Times New Roman"/>
                <a:ea typeface="Times New Roman"/>
                <a:cs typeface="Times New Roman"/>
                <a:sym typeface="Times New Roman"/>
              </a:rPr>
              <a:t> + </a:t>
            </a:r>
            <a:r>
              <a:rPr b="1" i="1" lang="en-US" sz="2400" u="none">
                <a:solidFill>
                  <a:schemeClr val="dk1"/>
                </a:solidFill>
                <a:latin typeface="Times New Roman"/>
                <a:ea typeface="Times New Roman"/>
                <a:cs typeface="Times New Roman"/>
                <a:sym typeface="Times New Roman"/>
              </a:rPr>
              <a:t>g</a:t>
            </a:r>
            <a:r>
              <a:rPr b="1" i="0" lang="en-US" sz="2400" u="none">
                <a:solidFill>
                  <a:schemeClr val="dk1"/>
                </a:solidFill>
                <a:latin typeface="Times New Roman"/>
                <a:ea typeface="Times New Roman"/>
                <a:cs typeface="Times New Roman"/>
                <a:sym typeface="Times New Roman"/>
              </a:rPr>
              <a:t> + 1 = 0 can be used (See next slide). </a:t>
            </a:r>
            <a:endParaRPr/>
          </a:p>
        </p:txBody>
      </p:sp>
      <p:sp>
        <p:nvSpPr>
          <p:cNvPr id="961" name="Google Shape;961;p52"/>
          <p:cNvSpPr txBox="1"/>
          <p:nvPr/>
        </p:nvSpPr>
        <p:spPr>
          <a:xfrm>
            <a:off x="304800" y="2514600"/>
            <a:ext cx="1268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Solution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5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968" name="Google Shape;968;p5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69" name="Google Shape;969;p5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70" name="Google Shape;970;p5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71" name="Google Shape;971;p5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72" name="Google Shape;972;p5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73" name="Google Shape;973;p5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74" name="Google Shape;974;p5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75" name="Google Shape;975;p5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976" name="Google Shape;976;p53"/>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4.25</a:t>
            </a:r>
            <a:endParaRPr/>
          </a:p>
        </p:txBody>
      </p:sp>
      <p:sp>
        <p:nvSpPr>
          <p:cNvPr id="977" name="Google Shape;977;p53"/>
          <p:cNvSpPr txBox="1"/>
          <p:nvPr/>
        </p:nvSpPr>
        <p:spPr>
          <a:xfrm>
            <a:off x="3124200" y="533400"/>
            <a:ext cx="172561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Continued</a:t>
            </a:r>
            <a:endParaRPr/>
          </a:p>
        </p:txBody>
      </p:sp>
      <p:pic>
        <p:nvPicPr>
          <p:cNvPr id="978" name="Google Shape;978;p53"/>
          <p:cNvPicPr preferRelativeResize="0"/>
          <p:nvPr/>
        </p:nvPicPr>
        <p:blipFill rotWithShape="1">
          <a:blip r:embed="rId3">
            <a:alphaModFix/>
          </a:blip>
          <a:srcRect b="0" l="0" r="0" t="0"/>
          <a:stretch/>
        </p:blipFill>
        <p:spPr>
          <a:xfrm>
            <a:off x="152400" y="1447800"/>
            <a:ext cx="8839200" cy="463708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5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985" name="Google Shape;985;p5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86" name="Google Shape;986;p5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87" name="Google Shape;987;p5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88" name="Google Shape;988;p5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89" name="Google Shape;989;p5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90" name="Google Shape;990;p5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91" name="Google Shape;991;p5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992" name="Google Shape;992;p5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993" name="Google Shape;993;p54"/>
          <p:cNvSpPr txBox="1"/>
          <p:nvPr/>
        </p:nvSpPr>
        <p:spPr>
          <a:xfrm>
            <a:off x="1179512" y="593725"/>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4.26</a:t>
            </a:r>
            <a:endParaRPr/>
          </a:p>
        </p:txBody>
      </p:sp>
      <p:sp>
        <p:nvSpPr>
          <p:cNvPr id="994" name="Google Shape;994;p54"/>
          <p:cNvSpPr txBox="1"/>
          <p:nvPr/>
        </p:nvSpPr>
        <p:spPr>
          <a:xfrm>
            <a:off x="152400" y="1295400"/>
            <a:ext cx="8839200" cy="10064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following show the results of addition and subtraction operations:</a:t>
            </a:r>
            <a:endParaRPr/>
          </a:p>
        </p:txBody>
      </p:sp>
      <p:pic>
        <p:nvPicPr>
          <p:cNvPr id="995" name="Google Shape;995;p54"/>
          <p:cNvPicPr preferRelativeResize="0"/>
          <p:nvPr/>
        </p:nvPicPr>
        <p:blipFill rotWithShape="1">
          <a:blip r:embed="rId3">
            <a:alphaModFix/>
          </a:blip>
          <a:srcRect b="0" l="0" r="0" t="0"/>
          <a:stretch/>
        </p:blipFill>
        <p:spPr>
          <a:xfrm>
            <a:off x="271462" y="2438400"/>
            <a:ext cx="8491537" cy="74136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5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1002" name="Google Shape;1002;p5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03" name="Google Shape;1003;p5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04" name="Google Shape;1004;p5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05" name="Google Shape;1005;p5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06" name="Google Shape;1006;p5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07" name="Google Shape;1007;p5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08" name="Google Shape;1008;p5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09" name="Google Shape;1009;p5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4.2.1</a:t>
            </a:r>
            <a:r>
              <a:rPr b="1" i="1" lang="en-US" sz="3200" u="none">
                <a:solidFill>
                  <a:schemeClr val="hlink"/>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Continued</a:t>
            </a:r>
            <a:endParaRPr/>
          </a:p>
        </p:txBody>
      </p:sp>
      <p:sp>
        <p:nvSpPr>
          <p:cNvPr id="1010" name="Google Shape;1010;p55"/>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Example 4.27</a:t>
            </a:r>
            <a:endParaRPr/>
          </a:p>
        </p:txBody>
      </p:sp>
      <p:sp>
        <p:nvSpPr>
          <p:cNvPr id="1011" name="Google Shape;1011;p55"/>
          <p:cNvSpPr txBox="1"/>
          <p:nvPr/>
        </p:nvSpPr>
        <p:spPr>
          <a:xfrm>
            <a:off x="152400" y="1143000"/>
            <a:ext cx="8839200" cy="1006475"/>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The following show the result of multiplication and division operations:. </a:t>
            </a:r>
            <a:endParaRPr/>
          </a:p>
        </p:txBody>
      </p:sp>
      <p:pic>
        <p:nvPicPr>
          <p:cNvPr id="1012" name="Google Shape;1012;p55"/>
          <p:cNvPicPr preferRelativeResize="0"/>
          <p:nvPr/>
        </p:nvPicPr>
        <p:blipFill rotWithShape="1">
          <a:blip r:embed="rId3">
            <a:alphaModFix/>
          </a:blip>
          <a:srcRect b="0" l="0" r="0" t="0"/>
          <a:stretch/>
        </p:blipFill>
        <p:spPr>
          <a:xfrm>
            <a:off x="0" y="2362200"/>
            <a:ext cx="8839200" cy="10509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5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1200"/>
              <a:buFont typeface="Arial"/>
              <a:buNone/>
            </a:pPr>
            <a:r>
              <a:rPr b="1" i="0" lang="en-US" sz="1200" u="none">
                <a:solidFill>
                  <a:schemeClr val="lt2"/>
                </a:solidFill>
                <a:latin typeface="Arial"/>
                <a:ea typeface="Arial"/>
                <a:cs typeface="Arial"/>
                <a:sym typeface="Arial"/>
              </a:rPr>
              <a:t>4.</a:t>
            </a:r>
            <a:fld id="{00000000-1234-1234-1234-123412341234}" type="slidenum">
              <a:rPr b="1" i="0" lang="en-US" sz="1200" u="none">
                <a:solidFill>
                  <a:schemeClr val="lt2"/>
                </a:solidFill>
                <a:latin typeface="Arial"/>
                <a:ea typeface="Arial"/>
                <a:cs typeface="Arial"/>
                <a:sym typeface="Arial"/>
              </a:rPr>
              <a:t>‹#›</a:t>
            </a:fld>
            <a:endParaRPr/>
          </a:p>
        </p:txBody>
      </p:sp>
      <p:sp>
        <p:nvSpPr>
          <p:cNvPr id="1019" name="Google Shape;1019;p5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20" name="Google Shape;1020;p5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21" name="Google Shape;1021;p5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22" name="Google Shape;1022;p5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23" name="Google Shape;1023;p5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24" name="Google Shape;1024;p5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25" name="Google Shape;1025;p5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0" sz="2400" u="none">
              <a:solidFill>
                <a:schemeClr val="dk1"/>
              </a:solidFill>
              <a:latin typeface="Times New Roman"/>
              <a:ea typeface="Times New Roman"/>
              <a:cs typeface="Times New Roman"/>
              <a:sym typeface="Times New Roman"/>
            </a:endParaRPr>
          </a:p>
        </p:txBody>
      </p:sp>
      <p:sp>
        <p:nvSpPr>
          <p:cNvPr id="1026" name="Google Shape;1026;p56"/>
          <p:cNvSpPr txBox="1"/>
          <p:nvPr/>
        </p:nvSpPr>
        <p:spPr>
          <a:xfrm>
            <a:off x="1143000" y="0"/>
            <a:ext cx="313055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4.2.3     Summary</a:t>
            </a:r>
            <a:endParaRPr/>
          </a:p>
        </p:txBody>
      </p:sp>
      <p:sp>
        <p:nvSpPr>
          <p:cNvPr id="1027" name="Google Shape;1027;p56"/>
          <p:cNvSpPr txBox="1"/>
          <p:nvPr/>
        </p:nvSpPr>
        <p:spPr>
          <a:xfrm>
            <a:off x="152400" y="1295400"/>
            <a:ext cx="8839200" cy="18002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The finite field GF(2</a:t>
            </a:r>
            <a:r>
              <a:rPr b="1" baseline="30000" i="1" lang="en-US" sz="36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 can be used to define four operations of addition, subtraction, multiplication and division over </a:t>
            </a:r>
            <a:r>
              <a:rPr b="1" i="1" lang="en-US" sz="2800" u="none">
                <a:solidFill>
                  <a:schemeClr val="dk1"/>
                </a:solidFill>
                <a:latin typeface="Times New Roman"/>
                <a:ea typeface="Times New Roman"/>
                <a:cs typeface="Times New Roman"/>
                <a:sym typeface="Times New Roman"/>
              </a:rPr>
              <a:t>n</a:t>
            </a:r>
            <a:r>
              <a:rPr b="1" i="0" lang="en-US" sz="2800" u="none">
                <a:solidFill>
                  <a:schemeClr val="dk1"/>
                </a:solidFill>
                <a:latin typeface="Times New Roman"/>
                <a:ea typeface="Times New Roman"/>
                <a:cs typeface="Times New Roman"/>
                <a:sym typeface="Times New Roman"/>
              </a:rPr>
              <a:t>-bit words. The only restriction is that division by zero is not defined.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